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9"/>
    <p:sldId id="261" r:id="rId11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7" Type="http://schemas.openxmlformats.org/officeDocument/2006/relationships/slide" Target="slides/slide2.xml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11" Type="http://schemas.openxmlformats.org/officeDocument/2006/relationships/slide" Target="slides/slide6.xml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9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1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Gouvernance des données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le cadre Spotify, éprouvé sur un pilote réel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4"/>
          <p:cNvSpPr txBox="1"/>
          <p:nvPr>
            <p:ph type="title"/>
          </p:nvPr>
        </p:nvSpPr>
        <p:spPr>
          <a:xfrm>
            <a:off x="390600" y="1138675"/>
            <a:ext cx="2727600" cy="345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Cas d'étude :</a:t>
            </a:r>
            <a:endParaRPr b="1"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463375" y="1880400"/>
            <a:ext cx="2238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>Spotify</a:t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sz="2500">
                <a:solidFill>
                  <a:schemeClr val="dk2"/>
                </a:solidFill>
              </a:rPr>
              <a:t/>
            </a:r>
            <a:endParaRPr sz="2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52025" y="826200"/>
            <a:ext cx="44334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2400">
                <a:solidFill>
                  <a:srgbClr val="015955"/>
                </a:solidFill>
              </a:rPr>
              <a:t>Sommaire</a:t>
            </a:r>
            <a:endParaRPr b="1" sz="2400">
              <a:solidFill>
                <a:srgbClr val="01595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problème de Spotify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Le pilote : ReviewPulse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Politique de gouvernance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Rôles et responsabilités</a:t>
            </a:r>
            <a:br>
              <a:rPr lang="fr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Plan de mise en œuvre</a:t>
            </a:r>
            <a:r>
              <a:rPr lang="fr" sz="1800">
                <a:solidFill>
                  <a:schemeClr val="dk2"/>
                </a:solidFill>
              </a:rPr>
              <a:t xml:space="preserve"> et qualité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AutoNum type="arabicPeriod"/>
            </a:pPr>
            <a:r>
              <a:rPr lang="fr" sz="1800">
                <a:solidFill>
                  <a:schemeClr val="dk2"/>
                </a:solidFill>
              </a:rPr>
              <a:t>Conformité, vie privée, et ce que nous ne démontrons pas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sition_Cost_comparison_infographic_showing_customer_acquisition_vs_retention_costs_lazyimg0_src (1).jpeg"/>
          <p:cNvPicPr preferRelativeResize="0"/>
          <p:nvPr/>
        </p:nvPicPr>
        <p:blipFill rotWithShape="1">
          <a:blip r:embed="rId3">
            <a:alphaModFix/>
          </a:blip>
          <a:srcRect b="0" l="4837" r="3378" t="0"/>
          <a:stretch/>
        </p:blipFill>
        <p:spPr>
          <a:xfrm>
            <a:off x="3312828" y="961572"/>
            <a:ext cx="5611849" cy="40761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6"/>
          <p:cNvSpPr txBox="1"/>
          <p:nvPr>
            <p:ph idx="4294967295" type="ctrTitle"/>
          </p:nvPr>
        </p:nvSpPr>
        <p:spPr>
          <a:xfrm>
            <a:off x="1025204" y="403300"/>
            <a:ext cx="387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73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500"/>
              <a:buFont typeface="Inter SemiBold"/>
              <a:buAutoNum type="arabicPeriod"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problème de Spotify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1507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/>
        </p:nvSpPr>
        <p:spPr>
          <a:xfrm>
            <a:off x="362850" y="1054525"/>
            <a:ext cx="2822700" cy="3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fr" sz="1200">
                <a:solidFill>
                  <a:schemeClr val="dk2"/>
                </a:solidFill>
              </a:rPr>
            </a:br>
            <a:r>
              <a:rPr b="1" lang="fr" sz="1200">
                <a:solidFill>
                  <a:schemeClr val="dk2"/>
                </a:solidFill>
              </a:rPr>
              <a:t>Ce que le cas énonce</a:t>
            </a:r>
            <a:br>
              <a:rPr b="1" lang="fr" sz="1200">
                <a:solidFill>
                  <a:schemeClr val="dk2"/>
                </a:solidFill>
              </a:rPr>
            </a:br>
            <a:r>
              <a:rPr lang="fr" sz="1200">
                <a:solidFill>
                  <a:schemeClr val="dk2"/>
                </a:solidFill>
              </a:rPr>
              <a:t>Plus de 450 millions d'utilisateurs, 180 pays. Silos entre marketing, produit, curation et ingénierie ; conformité RGPD, CCPA et PDPA ; qualité des données dont dépend le moteur de recommandation ; vie privée.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</a:rPr>
              <a:t>Ce que le cas demande</a:t>
            </a:r>
            <a:endParaRPr b="1" sz="12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chemeClr val="dk2"/>
                </a:solidFill>
              </a:rPr>
              <a:t>Six livrables : politique, rôles, plan de mise en œuvre, initiative qualité, conformité et vie privée, présentation au comité de direction.</a:t>
            </a:r>
            <a:endParaRPr sz="12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376077" y="4712400"/>
            <a:ext cx="5548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fr" sz="800">
                <a:solidFill>
                  <a:srgbClr val="27251E"/>
                </a:solidFill>
              </a:rPr>
              <a:t>Le cas exige explicitement une phase pilote sur un périmètre restreint avant toute généralisation.</a:t>
            </a:r>
            <a:br>
              <a:rPr i="1" lang="fr" sz="800">
                <a:solidFill>
                  <a:srgbClr val="27251E"/>
                </a:solidFill>
              </a:rPr>
            </a:br>
            <a:r>
              <a:rPr i="1" lang="fr" sz="800">
                <a:solidFill>
                  <a:srgbClr val="27251E"/>
                </a:solidFill>
              </a:rPr>
              <a:t>Source : business_case.pdf, 8 pages, lu le 19/09/2026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01" name="Shape 101"/><p:cNvGrpSpPr/><p:nvPr/></p:nvGrpSpPr><p:grpSpPr><a:xfrm><a:off x="0" y="0"/><a:ext cx="0" cy="0"/><a:chOff x="0" y="0"/><a:chExt cx="0" cy="0"/></a:xfrm></p:grpSpPr><p:sp><p:nvSpPr><p:cNvPr id="102" name="Google Shape;102;p18"/><p:cNvSpPr txBox="1"/><p:nvPr><p:ph idx="4294967295" type="ctrTitle"/></p:nvPr></p:nvSpPr><p:spPr><a:xfrm><a:off x="1073814" y="409334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None/></a:pPr><a:r><a:rPr lang="fr" sz="2500"><a:solidFill><a:srgbClr val="0E3449"/></a:solidFill><a:latin typeface="Inter SemiBold"/><a:ea typeface="Inter SemiBold"/><a:cs typeface="Inter SemiBold"/><a:sym typeface="Inter SemiBold"/></a:rPr><a:t>Le pilote : ReviewPulse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03" name="Google Shape;103;p18"/><p:cNvSpPr/><p:nvPr/></p:nvSpPr><p:spPr><a:xfrm><a:off x="43775" y="4892100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04" name="Google Shape;104;p18"/><p:cNvPicPr preferRelativeResize="0"/><p:nvPr/></p:nvPicPr><p:blipFill rotWithShape="1"><a:blip r:embed="rId3"><a:alphaModFix/></a:blip><a:srcRect b="0" l="0" r="0" t="0"/><a:stretch/></p:blipFill><p:spPr><a:xfrm><a:off x="496925" y="482927"/><a:ext cx="576900" cy="385904"/></a:xfrm><a:prstGeom prst="rect"><a:avLst/></a:prstGeom><a:noFill/><a:ln><a:noFill/></a:ln></p:spPr></p:pic><p:sp><p:nvSpPr><p:cNvPr id="105" name="Google Shape;105;p18"/><p:cNvSpPr txBox="1"/><p:nvPr/></p:nvSpPr><p:spPr><a:xfrm><a:off x="3518399" y="329500"/><a:ext cx="5163600" cy="7389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 périmètre restreint, mais réel</a:t></a:r><a:br><a:rPr lang="fr" sz="1800"><a:solidFill><a:schemeClr val="dk2"/></a:solidFill></a:rPr></a:br><a:r><a:rPr lang="fr" sz="1800"><a:solidFill><a:schemeClr val="dk2"/></a:solidFill></a:rPr><a:t>Analyse de sentiment d'avis Steam — 9 271 lignes brutes, 3 jeux, 2 langues</a:t></a:r><a:endParaRPr sz="1800"><a:solidFill><a:schemeClr val="dk2"/></a:solidFill></a:endParaRPr></a:p></p:txBody></p:sp><p:sp><p:nvSpPr><p:cNvPr id="106" name="Google Shape;106;p18"/><p:cNvSpPr/><p:nvPr/></p:nvSpPr><p:spPr><a:xfrm><a:off x="402939" y="1156461"/><a:ext cx="3615000" cy="193800"/></a:xfrm><a:prstGeom prst="rect"><a:avLst/></a:prstGeom><a:noFill/><a:ln><a:noFill/></a:ln></p:spPr><p:txBody><a:bodyPr anchorCtr="0" anchor="t" bIns="0" lIns="0" spcFirstLastPara="1" rIns="0" wrap="square" tIns="0"><a:noAutofit/></a:bodyPr><a:lstStyle/><a:p><a:pPr indent="0" lvl="0" marL="0" marR="0" rtl="0" algn="l"><a:lnSpc><a:spcPct val="125000"/></a:lnSpc><a:spcBef><a:spcPts val="0"/></a:spcBef><a:spcAft><a:spcPts val="0"/></a:spcAft><a:buClr><a:srgbClr val="0C0D0F"/></a:buClr><a:buSzPts val="1217"/><a:buFont typeface="Inter"/><a:buNone/></a:pPr><a:r><a:rPr lang="fr" sz="1217"><a:solidFill><a:srgbClr val="0C0D0F"/></a:solidFill><a:latin typeface="Inter"/><a:ea typeface="Inter"/><a:cs typeface="Inter"/><a:sym typeface="Inter"/></a:rPr><a:t>Cinq propriétés que la gouvernance exige, et qui sont ici mesurables</a:t></a:r><a:endParaRPr b="0" i="0" sz="1217" u="none" cap="none" strike="noStrike"/></a:p></p:txBody></p:sp><p:sp><p:nvSpPr><p:cNvPr id="107" name="Google Shape;107;p18"/><p:cNvSpPr/><p:nvPr/></p:nvSpPr><p:spPr><a:xfrm><a:off x="402961" y="1448759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 1. </a:t></a:r><a:r><a:rPr b="1" lang="fr" sz="1054"><a:solidFill><a:srgbClr val="55575A"/></a:solidFill><a:latin typeface="Manrope"/><a:ea typeface="Manrope"/><a:cs typeface="Manrope"/><a:sym typeface="Manrope"/></a:rPr><a:t>Zone brute immuable</a:t></a:r><a:endParaRPr b="1" sz="1054"><a:solidFill><a:srgbClr val="55575A"/></a:solidFill><a:latin typeface="Manrope"/><a:ea typeface="Manrope"/><a:cs typeface="Manrope"/><a:sym typeface="Manrope"/></a:endParaRPr></a:p></p:txBody></p:sp><p:sp><p:nvSpPr><p:cNvPr id="108" name="Google Shape;108;p18"/><p:cNvSpPr/><p:nvPr/></p:nvSpPr><p:spPr><a:xfrm><a:off x="2194798" y="1438311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 xml:space="preserve">2. Ingestion idempotente </a:t></a:r><a:br><a:rPr b="1" lang="fr" sz="1000"><a:solidFill><a:srgbClr val="55575A"/></a:solidFill><a:latin typeface="Manrope"/><a:ea typeface="Manrope"/><a:cs typeface="Manrope"/><a:sym typeface="Manrope"/></a:rPr></a:br><a:r><a:rPr b="1" lang="fr" sz="1000"><a:solidFill><a:srgbClr val="55575A"/></a:solidFill><a:latin typeface="Manrope"/><a:ea typeface="Manrope"/><a:cs typeface="Manrope"/><a:sym typeface="Manrope"/></a:rPr><a:t>par manifeste d'identifiants</a:t></a:r><a:endParaRPr b="1" sz="1000"><a:solidFill><a:srgbClr val="55575A"/></a:solidFill><a:latin typeface="Manrope"/><a:ea typeface="Manrope"/><a:cs typeface="Manrope"/><a:sym typeface="Manrope"/></a:endParaRPr></a:p></p:txBody></p:sp><p:sp><p:nvSpPr><p:cNvPr id="109" name="Google Shape;109;p18"/><p:cNvSpPr/><p:nvPr/></p:nvSpPr><p:spPr><a:xfrm><a:off x="3764412" y="1449638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3. Pseudonymisation HMAC salée</a:t></a:r><a:endParaRPr b="1" sz="1200"><a:solidFill><a:srgbClr val="55575A"/></a:solidFill><a:latin typeface="Manrope"/><a:ea typeface="Manrope"/><a:cs typeface="Manrope"/><a:sym typeface="Manrope"/></a:endParaRPr></a:p></p:txBody></p:sp><p:sp><p:nvSpPr><p:cNvPr id="110" name="Google Shape;110;p18"/><p:cNvSpPr/><p:nvPr/></p:nvSpPr><p:spPr><a:xfrm><a:off x="5351099" y="144965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4. Contrôles bloquants</a:t></a:r><a:endParaRPr b="1" sz="1200"><a:solidFill><a:srgbClr val="55575A"/></a:solidFill><a:latin typeface="Manrope"/><a:ea typeface="Manrope"/><a:cs typeface="Manrope"/><a:sym typeface="Manrope"/></a:endParaRPr></a:p></p:txBody></p:sp><p:sp><p:nvSpPr><p:cNvPr id="111" name="Google Shape;111;p18"/><p:cNvSpPr/><p:nvPr/></p:nvSpPr><p:spPr><a:xfrm><a:off x="6937799" y="1460100"/><a:ext cx="1498200" cy="711900"/></a:xfrm><a:prstGeom prst="roundRect"><a:avLst><a:gd fmla="val 11687" name="adj"/></a:avLst></a:prstGeom><a:solidFill><a:srgbClr val="FFFFFF"/></a:solidFill><a:ln cap="flat" cmpd="sng" w="8125"><a:solidFill><a:srgbClr val="FF7047"/></a:solidFill><a:prstDash val="solid"/><a:round/><a:headEnd len="sm" w="sm" type="none"/><a:tailEnd len="sm" w="sm" type="none"/>5. Traçabilité du commit au modèle</a:t></a:r><a:endParaRPr b="1" sz="1200"><a:solidFill><a:srgbClr val="55575A"/></a:solidFill><a:latin typeface="Manrope"/><a:ea typeface="Manrope"/><a:cs typeface="Manrope"/><a:sym typeface="Manrope"/></a:endParaRPr></a:p></p:txBody></p:sp><p:sp><p:nvSpPr><p:cNvPr id="112" name="Google Shape;112;p18"/><p:cNvSpPr txBox="1"/><p:nvPr/></p:nvSpPr><p:spPr><a:xfrm><a:off x="402950" y="2701550"/><a:ext cx="8033100" cy="16392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lnSpc><a:spcPct val="115000"/></a:lnSpc><a:spcBef><a:spcPts val="0"/></a:spcBef><a:spcAft><a:spcPts val="0"/></a:spcAft><a:buNone/></a:pPr><a:r><a:rPr b="1" lang="fr"><a:solidFill><a:srgbClr val="015955"/></a:solidFill><a:highlight><a:schemeClr val="lt1"/></a:highlight></a:rPr><a:t>Pourquoi un pilote :</a:t></a:r><a:r><a:rPr lang="fr"><a:solidFill><a:srgbClr val="27251E"/></a:solidFill><a:highlight><a:schemeClr val="lt1"/></a:highlight></a:rPr><a:t> </a:t></a:r><a:endParaRPr><a:solidFill><a:srgbClr val="27251E"/></a:solidFill><a:highlight><a:schemeClr val="lt1"/></a:highlight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le cas</a:t></a:r><a:r><a:rPr lang="fr"><a:solidFill><a:schemeClr val="dk2"/></a:solidFill></a:rPr><a:t xml:space="preserve"> </a:t></a:r><a:r><a:rPr b="1" lang="fr"><a:solidFill><a:schemeClr val="dk2"/></a:solidFill></a:rPr><a:t>l'exige avant la généralisation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Un cadre qui n'a jamais tourné n'est pas un cadre</a:t></a:r><a:r><a:rPr lang="fr"><a:solidFill><a:schemeClr val="dk2"/></a:solidFill></a:rPr><a:t xml:space="preserve"> — </a:t></a:r><a:r><a:rPr b="1" lang="fr"><a:solidFill><a:schemeClr val="dk2"/></a:solidFill></a:rPr><a:t xml:space="preserve">il se démontre au lieu de se décrire 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a:highlight><a:schemeClr val="lt1"/></a:highlight></a:rPr><a:t>Ce qui manque</a:t></a:r><a:r><a:rPr lang="fr"><a:solidFill><a:schemeClr val="dk2"/></a:solidFill></a:rPr><a:t xml:space="preserve"> y est nommé </a:t></a:r><a:r><a:rPr b="1" lang="fr"><a:solidFill><a:schemeClr val="dk2"/></a:solidFill></a:rPr><a:t>comme manquant</a:t></a:r><a:endParaRPr b="1"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Dossier complet : docs/17_gouvernance.md </a:t></a:r><a:r><a:rPr b="1" lang="fr"><a:solidFill><a:schemeClr val="dk2"/></a:solidFill></a:rPr><a:t></a:t></a:r><a:endParaRPr><a:solidFill><a:schemeClr val="dk2"/></a:solidFill></a:endParaRPr></a:p><a:p><a:pPr indent="-317500" lvl="0" marL="457200" rtl="0" algn="l"><a:lnSpc><a:spcPct val="115000"/></a:lnSpc><a:spcBef><a:spcPts val="0"/></a:spcBef><a:spcAft><a:spcPts val="0"/></a:spcAft><a:buClr><a:schemeClr val="dk2"/></a:buClr><a:buSzPts val="1400"/><a:buChar char="●"/></a:pPr><a:r><a:rPr lang="fr"><a:solidFill><a:schemeClr val="dk2"/></a:solidFill></a:rPr><a:t xml:space="preserve">Exigences relevées : docs/00_sources/ </a:t></a:r><a:r><a:rPr b="1" lang="fr"><a:solidFill><a:schemeClr val="dk2"/></a:solidFill></a:rPr><a:t></a:t></a:r><a:r><a:rPr lang="fr"><a:solidFill><a:schemeClr val="dk2"/></a:solidFill></a:rPr><a:t></a:t></a:r><a:endParaRPr sz="1800"><a:solidFill><a:schemeClr val="dk2"/></a:solidFill></a:endParaRPr></a:p></p:txBody></p:sp></p:spTree></p:cSld><p:clrMapOvr><a:masterClrMapping/></p:clrMapOvr>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Politique de gouvernance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91" name="Google Shape;191;p2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562125" y="868738"/>
            <a:ext cx="6933300" cy="28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 xml:space="preserve">Six </a:t>
            </a:r>
            <a:r>
              <a:rPr lang="fr" sz="1800">
                <a:solidFill>
                  <a:schemeClr val="dk2"/>
                </a:solidFill>
                <a:highlight>
                  <a:srgbClr val="FFFFFF"/>
                </a:highlight>
              </a:rPr>
              <a:t>domaines couverts</a:t>
            </a:r>
            <a:endParaRPr sz="18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Qualité : contrôles bloquants, Great Expectations, 30 tests dbt déclarés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Sécurité : zone brute immuable, secret obligatoire sans valeur par défaut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 xml:space="preserve">Conformité : intérêt légitime, RGPD 6.1.f </a:t>
            </a: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· AI Act : risque minimal</a:t>
            </a: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Vie privée : identifiants directs supprimés dès la zone propre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200">
                <a:solidFill>
                  <a:schemeClr val="dk2"/>
                </a:solidFill>
                <a:highlight>
                  <a:srgbClr val="FFFFFF"/>
                </a:highlight>
              </a:rPr>
              <a:t>Ce que la politique ne couvre pas encore</a:t>
            </a:r>
            <a:endParaRPr b="1"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catalogue de données, aucun contrôle d'accès par rôle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 journal des accès, aucune procédure de révision formelle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●"/>
            </a:pPr>
            <a:r>
              <a:rPr lang="fr" sz="1200">
                <a:solidFill>
                  <a:schemeClr val="dk2"/>
                </a:solidFill>
                <a:highlight>
                  <a:srgbClr val="FFFFFF"/>
                </a:highlight>
              </a:rPr>
              <a:t>Aucune mesure d'accessibilité — ADR 0004, 0005, 0020 pour ce qui est tenu</a:t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7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  <p:pic>
        <p:nvPicPr>
          <p:cNvPr id="194" name="Google Shape;19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2675" y="3541363"/>
            <a:ext cx="5791200" cy="12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Rôles et responsabilités 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Ce que le cas prescrit : </a:t>
            </a:r>
            <a:r>
              <a:rPr b="1" lang="fr" sz="2400">
                <a:solidFill>
                  <a:schemeClr val="dk2"/>
                </a:solidFill>
              </a:rPr>
              <a:t>Data Stewards par jeu de données, un DPO, une ligne de remontée, un comité de gouvernance.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Sur le pilote : </a:t>
            </a:r>
            <a:r>
              <a:rPr b="1" lang="fr" sz="2400">
                <a:solidFill>
                  <a:schemeClr val="dk2"/>
                </a:solidFill>
              </a:rPr>
              <a:t>aucun rôle formel</a:t>
            </a:r>
            <a:r>
              <a:rPr lang="fr" sz="2400">
                <a:solidFill>
                  <a:schemeClr val="dk2"/>
                </a:solidFill>
              </a:rPr>
              <a:t xml:space="preserve"> n'est nommé. Le projet est porté par une seule personne.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Cinq responsabilités sont pourtant déjà exercées, et traçables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pseudonymisation </a:t>
            </a:r>
            <a:r>
              <a:rPr b="1" lang="fr" sz="2400">
                <a:solidFill>
                  <a:schemeClr val="dk2"/>
                </a:solidFill>
              </a:rPr>
              <a:t>· qualité · traçabilité · réversibilité · décision technique</a:t>
            </a:r>
            <a:r>
              <a:rPr lang="fr" sz="2400">
                <a:solidFill>
                  <a:schemeClr val="dk2"/>
                </a:solidFill>
              </a:rPr>
              <a:t xml:space="preserve">Chacune a son artefact : 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>ADR, suite d'attentes, étiquette de commit, matrice de réversibilité</a:t>
            </a:r>
            <a:r>
              <a:rPr b="1" lang="fr" sz="2400">
                <a:solidFill>
                  <a:schemeClr val="dk2"/>
                </a:solidFill>
              </a:rPr>
              <a:t xml:space="preserve">Le dire ainsi </a:t>
            </a:r>
            <a:r>
              <a:rPr lang="fr" sz="2400">
                <a:solidFill>
                  <a:schemeClr val="dk2"/>
                </a:solidFill>
              </a:rPr>
              <a:t>est plus utile qu'un RACI inventé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Manque : </a:t>
            </a:r>
            <a:r>
              <a:rPr b="1" lang="fr" sz="2400">
                <a:solidFill>
                  <a:schemeClr val="dk2"/>
                </a:solidFill>
              </a:rPr>
              <a:t>RACI formel, Data Owners désignés, comité constitué</a:t>
            </a:r>
            <a:r>
              <a:rPr lang="fr" sz="2400">
                <a:solidFill>
                  <a:schemeClr val="dk2"/>
                </a:solidFill>
              </a:rPr>
              <a:t>, lignes de remontée écrites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cas demande un comité ; un projet d'une personne ne peut pas en constituer un. Nous le disons.</a:t>
            </a:r>
            <a:r>
              <a:rPr b="1" lang="fr" sz="2400">
                <a:solidFill>
                  <a:schemeClr val="dk2"/>
                </a:solidFill>
              </a:rPr>
              <a:t/>
            </a:r>
            <a:r>
              <a:rPr lang="fr" sz="2400">
                <a:solidFill>
                  <a:schemeClr val="dk2"/>
                </a:solidFill>
              </a:rPr>
              <a:t/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Un rôle non tenu, écrit comme tenu, est le premier défaut qu'un audit trouve.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R</a:t>
            </a:r>
            <a:r>
              <a:rPr lang="fr" sz="1800">
                <a:solidFill>
                  <a:schemeClr val="dk2"/>
                </a:solidFill>
              </a:rPr>
              <a:t xml:space="preserve">ôles et </a:t>
            </a:r>
            <a:r>
              <a:rPr lang="fr" sz="1800">
                <a:solidFill>
                  <a:schemeClr val="dk2"/>
                </a:solidFill>
              </a:rPr>
              <a:t>redevabilité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idx="4294967295" type="ctrTitle"/>
          </p:nvPr>
        </p:nvSpPr>
        <p:spPr>
          <a:xfrm>
            <a:off x="1192678" y="403300"/>
            <a:ext cx="67833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Plan de mise en œuvre et </a:t>
            </a: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qualité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0" name="Google Shape;21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8"/>
          <p:cNvSpPr txBox="1"/>
          <p:nvPr/>
        </p:nvSpPr>
        <p:spPr>
          <a:xfrm>
            <a:off x="463375" y="1173075"/>
            <a:ext cx="7369200" cy="34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L</a:t>
            </a: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e plan suit les phases du cas :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pilote d'abord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périmètre restreint, réel, mesuré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puis généralisation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mêmes contrôles, autres jeux de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indicateurs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taux de succès des contrôles, couverture des tests, part des runs tracés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conduite du changement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à construire, rien dans le pilote n'y répond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</a:pPr>
            <a:r>
              <a:rPr lang="fr" sz="1450">
                <a:solidFill>
                  <a:schemeClr val="dk2"/>
                </a:solidFill>
                <a:highlight>
                  <a:srgbClr val="EBEEF2"/>
                </a:highlight>
              </a:rPr>
              <a:t>audits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 xml:space="preserve"> : </a:t>
            </a: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à construire, aucun calendrier n'existe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600">
                <a:solidFill>
                  <a:schemeClr val="dk2"/>
                </a:solidFill>
                <a:highlight>
                  <a:srgbClr val="FFFFFF"/>
                </a:highlight>
              </a:rPr>
              <a:t>Initiative qualité, sur le pilote</a:t>
            </a:r>
            <a:endParaRPr b="1"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Porte bloquante avant la zone propre, et depuis le 19/09 sur silver et gold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28 attentes, éprouvées par un témoin qui casse volontairement les données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●"/>
            </a:pPr>
            <a:r>
              <a:rPr lang="fr" sz="1600">
                <a:solidFill>
                  <a:schemeClr val="dk2"/>
                </a:solidFill>
                <a:highlight>
                  <a:srgbClr val="FFFFFF"/>
                </a:highlight>
              </a:rPr>
              <a:t>Dérive mesurée à chaque passage, alerte écrite hors du journal</a:t>
            </a:r>
            <a:endParaRPr sz="16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Conformité, vie privée, et les manques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tenu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Pseudonymisation HMAC-SHA256 salée ; sel obligatoire, sans valeur par défaut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steamid, personaname, profile_url et avatar supprimés dès la zone propre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Tableau de bord sans aucune information d'auteur, textes tronqués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Base légale écrite : intérêt légitime, RGPD 6.1.f. AI Act : risque minimal. ADR 0004.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ce dossier ne démontre pas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registre des traitements, aucun calendrier d'audits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procédure d'incident écrite, aucun journal des accès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 mécanisme de consentement — les données viennent d'une API publique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Aucune analyse de valeur métier chiffrée pour le comité de direction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Pourquoi le dire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Un dossier qui tait ses manques ne survit pas aux questions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