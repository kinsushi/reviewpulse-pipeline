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.xml"/>
  <Override ContentType="application/vnd.openxmlformats-officedocument.presentationml.slide+xml" PartName="/ppt/slides/slide15.xml"/>
  <Override ContentType="application/vnd.openxmlformats-officedocument.presentationml.slide+xml" PartName="/ppt/slides/slide17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9" r:id="rId9"/>
    <p:sldId id="261" r:id="rId11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Inter SemiBold"/>
      <p:regular r:id="rId25"/>
      <p:bold r:id="rId26"/>
      <p:italic r:id="rId27"/>
      <p:boldItalic r:id="rId28"/>
    </p:embeddedFont>
    <p:embeddedFont>
      <p:font typeface="Inter"/>
      <p:regular r:id="rId29"/>
      <p:bold r:id="rId30"/>
      <p:italic r:id="rId31"/>
      <p:boldItalic r:id="rId32"/>
    </p:embeddedFont>
    <p:embeddedFont>
      <p:font typeface="Manrope"/>
      <p:regular r:id="rId33"/>
      <p:bold r:id="rId34"/>
    </p:embeddedFont>
    <p:embeddedFont>
      <p:font typeface="Roboto Mon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33F6B79-F5F2-4B6F-ACAE-D93EBFE36144}">
  <a:tblStyle styleId="{133F6B79-F5F2-4B6F-ACAE-D93EBFE3614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SemiBold-bold.fntdata"/><Relationship Id="rId25" Type="http://schemas.openxmlformats.org/officeDocument/2006/relationships/font" Target="fonts/InterSemiBold-regular.fntdata"/><Relationship Id="rId28" Type="http://schemas.openxmlformats.org/officeDocument/2006/relationships/font" Target="fonts/InterSemiBold-boldItalic.fntdata"/><Relationship Id="rId27" Type="http://schemas.openxmlformats.org/officeDocument/2006/relationships/font" Target="fonts/InterSemiBol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regular.fntdata"/><Relationship Id="rId7" Type="http://schemas.openxmlformats.org/officeDocument/2006/relationships/slide" Target="slides/slide2.xml"/><Relationship Id="rId31" Type="http://schemas.openxmlformats.org/officeDocument/2006/relationships/font" Target="fonts/Inter-italic.fntdata"/><Relationship Id="rId30" Type="http://schemas.openxmlformats.org/officeDocument/2006/relationships/font" Target="fonts/Inter-bold.fntdata"/><Relationship Id="rId11" Type="http://schemas.openxmlformats.org/officeDocument/2006/relationships/slide" Target="slides/slide6.xml"/><Relationship Id="rId33" Type="http://schemas.openxmlformats.org/officeDocument/2006/relationships/font" Target="fonts/Manrope-regular.fntdata"/><Relationship Id="rId32" Type="http://schemas.openxmlformats.org/officeDocument/2006/relationships/font" Target="fonts/Inter-boldItalic.fntdata"/><Relationship Id="rId35" Type="http://schemas.openxmlformats.org/officeDocument/2006/relationships/font" Target="fonts/RobotoMono-regular.fntdata"/><Relationship Id="rId34" Type="http://schemas.openxmlformats.org/officeDocument/2006/relationships/font" Target="fonts/Manrope-bold.fntdata"/><Relationship Id="rId37" Type="http://schemas.openxmlformats.org/officeDocument/2006/relationships/font" Target="fonts/RobotoMono-italic.fntdata"/><Relationship Id="rId36" Type="http://schemas.openxmlformats.org/officeDocument/2006/relationships/font" Target="fonts/RobotoMono-bold.fntdata"/><Relationship Id="rId38" Type="http://schemas.openxmlformats.org/officeDocument/2006/relationships/font" Target="fonts/RobotoMono-boldItalic.fntdata"/><Relationship Id="rId19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a5178bf3d4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ga5178bf3d4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c7fec24e0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g1c7fec24e0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8a2e0143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g3d8a2e0143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27251E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8a2e0143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8a2e0143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8a2e01436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3d8a2e01436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rgbClr val="27251E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8a2e0143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3d8a2e0143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a5178bf3d4_2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a5178bf3d4_2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8d940bdca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d8d940bdca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8e05a9849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d8e05a9849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8d940bdca_2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d8d940bdca_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8d940bdca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d8d940bdca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8e05a9849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d8e05a9849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8e05a9849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d8e05a9849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8e05a9849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d8e05a9849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→ On prend les données nettoyées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→ On entraîne 3 modèles sans chercher les meilleurs paramètres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→ On prédit avec le seuil standard 0.5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→ On mesure les résultats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c7feb7f43d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1c7feb7f43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d8e05a9849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3d8e05a984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d8e05a9849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g3d8e05a984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a5178bf3d4_2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a5178bf3d4_2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d8a2e0143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d8a2e0143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FDAD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718100" y="866768"/>
            <a:ext cx="64782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fr" sz="210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Titre professionnel Architecte en Intelligence Artificielle — bloc 1</a:t>
            </a:r>
            <a:endParaRPr sz="210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4500" y="795925"/>
            <a:ext cx="721025" cy="75937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>
            <p:ph type="ctrTitle"/>
          </p:nvPr>
        </p:nvSpPr>
        <p:spPr>
          <a:xfrm>
            <a:off x="586150" y="1974329"/>
            <a:ext cx="4096800" cy="245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fr" sz="370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Gouvernance des données</a:t>
            </a:r>
            <a:r>
              <a:rPr lang="fr" sz="32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 xml:space="preserve"> : le cadre Spotify, éprouvé sur un pilote réel</a:t>
            </a:r>
            <a:endParaRPr sz="320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57" name="Google Shape;57;p13" title="Capture d’écran 2026-04-23 à 15.59.59.png"/>
          <p:cNvPicPr preferRelativeResize="0"/>
          <p:nvPr/>
        </p:nvPicPr>
        <p:blipFill rotWithShape="1">
          <a:blip r:embed="rId4">
            <a:alphaModFix/>
          </a:blip>
          <a:srcRect b="0" l="6428" r="0" t="8156"/>
          <a:stretch/>
        </p:blipFill>
        <p:spPr>
          <a:xfrm>
            <a:off x="4939763" y="1811825"/>
            <a:ext cx="3992275" cy="288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5500" y="-17775"/>
            <a:ext cx="3335400" cy="51612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4"/>
          <p:cNvSpPr txBox="1"/>
          <p:nvPr>
            <p:ph type="title"/>
          </p:nvPr>
        </p:nvSpPr>
        <p:spPr>
          <a:xfrm>
            <a:off x="390600" y="1138675"/>
            <a:ext cx="2727600" cy="34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fr" sz="240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  <a:t>Cas d'étude :</a:t>
            </a:r>
            <a:endParaRPr b="1" sz="2400">
              <a:solidFill>
                <a:srgbClr val="0159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463375" y="1880400"/>
            <a:ext cx="22386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>
                <a:solidFill>
                  <a:schemeClr val="dk2"/>
                </a:solidFill>
              </a:rPr>
              <a:t>Spotify</a:t>
            </a:r>
            <a:endParaRPr sz="2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>
                <a:solidFill>
                  <a:schemeClr val="dk2"/>
                </a:solidFill>
              </a:rPr>
              <a:t/>
            </a:r>
            <a:endParaRPr sz="2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>
                <a:solidFill>
                  <a:schemeClr val="dk2"/>
                </a:solidFill>
              </a:rPr>
              <a:t/>
            </a:r>
            <a:endParaRPr sz="2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2500">
                <a:solidFill>
                  <a:schemeClr val="dk2"/>
                </a:solidFill>
              </a:rPr>
              <a:t/>
            </a:r>
            <a:endParaRPr sz="2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3952025" y="826200"/>
            <a:ext cx="4433400" cy="44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400">
                <a:solidFill>
                  <a:srgbClr val="015955"/>
                </a:solidFill>
              </a:rPr>
              <a:t>Sommaire</a:t>
            </a:r>
            <a:endParaRPr b="1" sz="2400">
              <a:solidFill>
                <a:srgbClr val="01595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fr" sz="1800">
                <a:solidFill>
                  <a:schemeClr val="dk2"/>
                </a:solidFill>
              </a:rPr>
              <a:t>Le problème de Spotify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fr" sz="1800">
                <a:solidFill>
                  <a:schemeClr val="dk2"/>
                </a:solidFill>
              </a:rPr>
              <a:t>Le pilote : ReviewPulse</a:t>
            </a:r>
            <a:br>
              <a:rPr lang="fr" sz="1800">
                <a:solidFill>
                  <a:schemeClr val="dk2"/>
                </a:solidFill>
              </a:rPr>
            </a:b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fr" sz="1800">
                <a:solidFill>
                  <a:schemeClr val="dk2"/>
                </a:solidFill>
              </a:rPr>
              <a:t>Politique de gouvernance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fr" sz="1800">
                <a:solidFill>
                  <a:schemeClr val="dk2"/>
                </a:solidFill>
              </a:rPr>
              <a:t>Rôles et responsabilités</a:t>
            </a:r>
            <a:br>
              <a:rPr lang="fr" sz="1800">
                <a:solidFill>
                  <a:schemeClr val="dk2"/>
                </a:solidFill>
              </a:rPr>
            </a:b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fr" sz="1800">
                <a:solidFill>
                  <a:schemeClr val="dk2"/>
                </a:solidFill>
              </a:rPr>
              <a:t>Plan de mise en œuvre</a:t>
            </a:r>
            <a:r>
              <a:rPr lang="fr" sz="1800">
                <a:solidFill>
                  <a:schemeClr val="dk2"/>
                </a:solidFill>
              </a:rPr>
              <a:t xml:space="preserve"> et qualité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fr" sz="1800">
                <a:solidFill>
                  <a:schemeClr val="dk2"/>
                </a:solidFill>
              </a:rPr>
              <a:t>Conformité, vie privée, et ce que nous ne démontrons pas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6" title="sition_Cost_comparison_infographic_showing_customer_acquisition_vs_retention_costs_lazyimg0_src (1).jpeg"/>
          <p:cNvPicPr preferRelativeResize="0"/>
          <p:nvPr/>
        </p:nvPicPr>
        <p:blipFill rotWithShape="1">
          <a:blip r:embed="rId3">
            <a:alphaModFix/>
          </a:blip>
          <a:srcRect b="0" l="4837" r="3378" t="0"/>
          <a:stretch/>
        </p:blipFill>
        <p:spPr>
          <a:xfrm>
            <a:off x="3312828" y="961572"/>
            <a:ext cx="5611849" cy="4076101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>
            <p:ph idx="4294967295" type="ctrTitle"/>
          </p:nvPr>
        </p:nvSpPr>
        <p:spPr>
          <a:xfrm>
            <a:off x="1025204" y="403300"/>
            <a:ext cx="38733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449"/>
              </a:buClr>
              <a:buSzPts val="2500"/>
              <a:buFont typeface="Inter SemiBold"/>
              <a:buAutoNum type="arabicPeriod"/>
            </a:pPr>
            <a:r>
              <a:rPr lang="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Le problème de Spotify</a:t>
            </a:r>
            <a:endParaRPr i="0" sz="2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84" name="Google Shape;8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1507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 txBox="1"/>
          <p:nvPr/>
        </p:nvSpPr>
        <p:spPr>
          <a:xfrm>
            <a:off x="362850" y="1054525"/>
            <a:ext cx="2822700" cy="32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fr" sz="1200">
                <a:solidFill>
                  <a:schemeClr val="dk2"/>
                </a:solidFill>
              </a:rPr>
            </a:br>
            <a:r>
              <a:rPr b="1" lang="fr" sz="1200">
                <a:solidFill>
                  <a:schemeClr val="dk2"/>
                </a:solidFill>
              </a:rPr>
              <a:t>Ce que le cas énonce</a:t>
            </a:r>
            <a:br>
              <a:rPr b="1" lang="fr" sz="1200">
                <a:solidFill>
                  <a:schemeClr val="dk2"/>
                </a:solidFill>
              </a:rPr>
            </a:br>
            <a:r>
              <a:rPr lang="fr" sz="1200">
                <a:solidFill>
                  <a:schemeClr val="dk2"/>
                </a:solidFill>
              </a:rPr>
              <a:t>Plus de 450 millions d'utilisateurs, 180 pays. Silos entre marketing, produit, curation et ingénierie ; conformité RGPD, CCPA et PDPA ; qualité des données dont dépend le moteur de recommandation ; vie privée.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chemeClr val="dk2"/>
                </a:solidFill>
              </a:rPr>
              <a:t>Ce que le cas demande</a:t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2"/>
                </a:solidFill>
              </a:rPr>
              <a:t>Six livrables : politique, rôles, plan de mise en œuvre, initiative qualité, conformité et vie privée, présentation au comité de direction.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3376077" y="4712400"/>
            <a:ext cx="5548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800">
                <a:solidFill>
                  <a:srgbClr val="27251E"/>
                </a:solidFill>
              </a:rPr>
              <a:t>Le cas exige explicitement une phase pilote sur un périmètre restreint avant toute généralisation.</a:t>
            </a:r>
            <a:br>
              <a:rPr i="1" lang="fr" sz="800">
                <a:solidFill>
                  <a:srgbClr val="27251E"/>
                </a:solidFill>
              </a:rPr>
            </a:br>
            <a:r>
              <a:rPr i="1" lang="fr" sz="800">
                <a:solidFill>
                  <a:srgbClr val="27251E"/>
                </a:solidFill>
              </a:rPr>
              <a:t>Source : business_case.pdf, 8 pages, lu le 19/09/2026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 standalone="yes"?>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<p:cSld><p:spTree><p:nvGrpSpPr><p:cNvPr id="101" name="Shape 101"/><p:cNvGrpSpPr/><p:nvPr/></p:nvGrpSpPr><p:grpSpPr><a:xfrm><a:off x="0" y="0"/><a:ext cx="0" cy="0"/><a:chOff x="0" y="0"/><a:chExt cx="0" cy="0"/></a:xfrm></p:grpSpPr><p:sp><p:nvSpPr><p:cNvPr id="102" name="Google Shape;102;p18"/><p:cNvSpPr txBox="1"/><p:nvPr><p:ph idx="4294967295" type="ctrTitle"/></p:nvPr></p:nvSpPr><p:spPr><a:xfrm><a:off x="1073814" y="409334"/><a:ext cx="5315100" cy="533100"/></a:xfrm><a:prstGeom prst="rect"><a:avLst/></a:prstGeom><a:noFill/><a:ln><a:noFill/></a:ln></p:spPr><p:txBody><a:bodyPr anchorCtr="0" anchor="t" bIns="91425" lIns="91425" spcFirstLastPara="1" rIns="91425" wrap="square" tIns="91425"><a:noAutofit/></a:bodyPr><a:lstStyle/><a:p><a:pPr indent="0" lvl="0" marL="0" marR="0" rtl="0" algn="l"><a:lnSpc><a:spcPct val="100000"/></a:lnSpc><a:spcBef><a:spcPts val="0"/></a:spcBef><a:spcAft><a:spcPts val="0"/></a:spcAft><a:buNone/></a:pPr><a:r><a:rPr lang="fr" sz="2500"><a:solidFill><a:srgbClr val="0E3449"/></a:solidFill><a:latin typeface="Inter SemiBold"/><a:ea typeface="Inter SemiBold"/><a:cs typeface="Inter SemiBold"/><a:sym typeface="Inter SemiBold"/></a:rPr><a:t>Le pilote : ReviewPulse</a:t></a:r><a:endParaRPr i="0" sz="2500" u="none" cap="none" strike="noStrike"><a:solidFill><a:srgbClr val="0E3449"/></a:solidFill><a:latin typeface="Inter SemiBold"/><a:ea typeface="Inter SemiBold"/><a:cs typeface="Inter SemiBold"/><a:sym typeface="Inter SemiBold"/></a:endParaRPr></a:p></p:txBody></p:sp><p:sp><p:nvSpPr><p:cNvPr id="103" name="Google Shape;103;p18"/><p:cNvSpPr/><p:nvPr/></p:nvSpPr><p:spPr><a:xfrm><a:off x="43775" y="4892100"/><a:ext cx="9144000" cy="251400"/></a:xfrm><a:prstGeom prst="rect"><a:avLst/></a:prstGeom><a:solidFill><a:srgbClr val="C3FFFC"/></a:solidFill><a:ln><a:noFill/></a:ln></p:spPr><p:txBody><a:bodyPr anchorCtr="0" anchor="ctr" bIns="91425" lIns="91425" spcFirstLastPara="1" rIns="91425" wrap="square" tIns="91425"><a:noAutofit/></a:bodyPr><a:lstStyle/><a:p><a:pPr indent="0" lvl="0" marL="0" marR="0" rtl="0" algn="l"><a:lnSpc><a:spcPct val="100000"/></a:lnSpc><a:spcBef><a:spcPts val="0"/></a:spcBef><a:spcAft><a:spcPts val="0"/></a:spcAft><a:buClr><a:srgbClr val="000000"/></a:buClr><a:buSzPts val="1400"/><a:buFont typeface="Arial"/><a:buNone/></a:pPr><a:r><a:t></a:t></a:r><a:endParaRPr b="0" i="0" sz="1400" u="none" cap="none" strike="noStrike"><a:solidFill><a:srgbClr val="000000"/></a:solidFill><a:latin typeface="Arial"/><a:ea typeface="Arial"/><a:cs typeface="Arial"/><a:sym typeface="Arial"/></a:endParaRPr></a:p></p:txBody></p:sp><p:pic><p:nvPicPr><p:cNvPr id="104" name="Google Shape;104;p18"/><p:cNvPicPr preferRelativeResize="0"/><p:nvPr/></p:nvPicPr><p:blipFill rotWithShape="1"><a:blip r:embed="rId3"><a:alphaModFix/></a:blip><a:srcRect b="0" l="0" r="0" t="0"/><a:stretch/></p:blipFill><p:spPr><a:xfrm><a:off x="496925" y="482927"/><a:ext cx="576900" cy="385904"/></a:xfrm><a:prstGeom prst="rect"><a:avLst/></a:prstGeom><a:noFill/><a:ln><a:noFill/></a:ln></p:spPr></p:pic><p:sp><p:nvSpPr><p:cNvPr id="105" name="Google Shape;105;p18"/><p:cNvSpPr txBox="1"/><p:nvPr/></p:nvSpPr><p:spPr><a:xfrm><a:off x="3518399" y="329500"/><a:ext cx="5163600" cy="738900"/></a:xfrm><a:prstGeom prst="rect"><a:avLst/></a:prstGeom><a:noFill/><a:ln><a:noFill/></a:ln></p:spPr><p:txBody><a:bodyPr anchorCtr="0" anchor="t" bIns="91425" lIns="91425" spcFirstLastPara="1" rIns="91425" wrap="square" tIns="91425"><a:spAutoFit/></a:bodyPr><a:lstStyle/><a:p><a:pPr indent="0" lvl="0" marL="0" rtl="0" algn="l"><a:spcBef><a:spcPts val="0"/></a:spcBef><a:spcAft><a:spcPts val="0"/></a:spcAft><a:buNone/></a:pPr><a:r><a:rPr lang="fr" sz="1800"><a:solidFill><a:schemeClr val="dk2"/></a:solidFill></a:rPr><a:t>Un périmètre restreint, mais réel</a:t></a:r><a:br><a:rPr lang="fr" sz="1800"><a:solidFill><a:schemeClr val="dk2"/></a:solidFill></a:rPr></a:br><a:r><a:rPr lang="fr" sz="1800"><a:solidFill><a:schemeClr val="dk2"/></a:solidFill></a:rPr><a:t>Analyse de sentiment d'avis Steam — 9 271 lignes brutes, 3 jeux, 2 langues</a:t></a:r><a:endParaRPr sz="1800"><a:solidFill><a:schemeClr val="dk2"/></a:solidFill></a:endParaRPr></a:p></p:txBody></p:sp><p:sp><p:nvSpPr><p:cNvPr id="106" name="Google Shape;106;p18"/><p:cNvSpPr/><p:nvPr/></p:nvSpPr><p:spPr><a:xfrm><a:off x="402939" y="1156461"/><a:ext cx="3615000" cy="193800"/></a:xfrm><a:prstGeom prst="rect"><a:avLst/></a:prstGeom><a:noFill/><a:ln><a:noFill/></a:ln></p:spPr><p:txBody><a:bodyPr anchorCtr="0" anchor="t" bIns="0" lIns="0" spcFirstLastPara="1" rIns="0" wrap="square" tIns="0"><a:noAutofit/></a:bodyPr><a:lstStyle/><a:p><a:pPr indent="0" lvl="0" marL="0" marR="0" rtl="0" algn="l"><a:lnSpc><a:spcPct val="125000"/></a:lnSpc><a:spcBef><a:spcPts val="0"/></a:spcBef><a:spcAft><a:spcPts val="0"/></a:spcAft><a:buClr><a:srgbClr val="0C0D0F"/></a:buClr><a:buSzPts val="1217"/><a:buFont typeface="Inter"/><a:buNone/></a:pPr><a:r><a:rPr lang="fr" sz="1217"><a:solidFill><a:srgbClr val="0C0D0F"/></a:solidFill><a:latin typeface="Inter"/><a:ea typeface="Inter"/><a:cs typeface="Inter"/><a:sym typeface="Inter"/></a:rPr><a:t>Cinq propriétés que la gouvernance exige, et qui sont ici mesurables</a:t></a:r><a:endParaRPr b="0" i="0" sz="1217" u="none" cap="none" strike="noStrike"/></a:p></p:txBody></p:sp><p:sp><p:nvSpPr><p:cNvPr id="107" name="Google Shape;107;p18"/><p:cNvSpPr/><p:nvPr/></p:nvSpPr><p:spPr><a:xfrm><a:off x="402961" y="1448759"/><a:ext cx="1498200" cy="711900"/></a:xfrm><a:prstGeom prst="roundRect"><a:avLst><a:gd fmla="val 11687" name="adj"/></a:avLst></a:prstGeom><a:solidFill><a:srgbClr val="FFFFFF"/></a:solidFill><a:ln cap="flat" cmpd="sng" w="8125"><a:solidFill><a:srgbClr val="FF7047"/></a:solidFill><a:prstDash val="solid"/><a:round/><a:headEnd len="sm" w="sm" type="none"/><a:tailEnd len="sm" w="sm" type="none"/ xml:space="preserve"> 1. </a:t></a:r><a:r><a:rPr b="1" lang="fr" sz="1054"><a:solidFill><a:srgbClr val="55575A"/></a:solidFill><a:latin typeface="Manrope"/><a:ea typeface="Manrope"/><a:cs typeface="Manrope"/><a:sym typeface="Manrope"/></a:rPr><a:t>Zone brute immuable</a:t></a:r><a:endParaRPr b="1" sz="1054"><a:solidFill><a:srgbClr val="55575A"/></a:solidFill><a:latin typeface="Manrope"/><a:ea typeface="Manrope"/><a:cs typeface="Manrope"/><a:sym typeface="Manrope"/></a:endParaRPr></a:p></p:txBody></p:sp><p:sp><p:nvSpPr><p:cNvPr id="108" name="Google Shape;108;p18"/><p:cNvSpPr/><p:nvPr/></p:nvSpPr><p:spPr><a:xfrm><a:off x="2194798" y="1438311"/><a:ext cx="1498200" cy="711900"/></a:xfrm><a:prstGeom prst="roundRect"><a:avLst><a:gd fmla="val 11687" name="adj"/></a:avLst></a:prstGeom><a:solidFill><a:srgbClr val="FFFFFF"/></a:solidFill><a:ln cap="flat" cmpd="sng" w="8125"><a:solidFill><a:srgbClr val="FF7047"/></a:solidFill><a:prstDash val="solid"/><a:round/><a:headEnd len="sm" w="sm" type="none"/><a:tailEnd len="sm" w="sm" type="none"/ xml:space="preserve">2. Ingestion idempotente </a:t></a:r><a:br><a:rPr b="1" lang="fr" sz="1000"><a:solidFill><a:srgbClr val="55575A"/></a:solidFill><a:latin typeface="Manrope"/><a:ea typeface="Manrope"/><a:cs typeface="Manrope"/><a:sym typeface="Manrope"/></a:rPr></a:br><a:r><a:rPr b="1" lang="fr" sz="1000"><a:solidFill><a:srgbClr val="55575A"/></a:solidFill><a:latin typeface="Manrope"/><a:ea typeface="Manrope"/><a:cs typeface="Manrope"/><a:sym typeface="Manrope"/></a:rPr><a:t>par manifeste d'identifiants</a:t></a:r><a:endParaRPr b="1" sz="1000"><a:solidFill><a:srgbClr val="55575A"/></a:solidFill><a:latin typeface="Manrope"/><a:ea typeface="Manrope"/><a:cs typeface="Manrope"/><a:sym typeface="Manrope"/></a:endParaRPr></a:p></p:txBody></p:sp><p:sp><p:nvSpPr><p:cNvPr id="109" name="Google Shape;109;p18"/><p:cNvSpPr/><p:nvPr/></p:nvSpPr><p:spPr><a:xfrm><a:off x="3764412" y="1449638"/><a:ext cx="1498200" cy="711900"/></a:xfrm><a:prstGeom prst="roundRect"><a:avLst><a:gd fmla="val 11687" name="adj"/></a:avLst></a:prstGeom><a:solidFill><a:srgbClr val="FFFFFF"/></a:solidFill><a:ln cap="flat" cmpd="sng" w="8125"><a:solidFill><a:srgbClr val="FF7047"/></a:solidFill><a:prstDash val="solid"/><a:round/><a:headEnd len="sm" w="sm" type="none"/><a:tailEnd len="sm" w="sm" type="none"/>3. Pseudonymisation HMAC salée</a:t></a:r><a:endParaRPr b="1" sz="1200"><a:solidFill><a:srgbClr val="55575A"/></a:solidFill><a:latin typeface="Manrope"/><a:ea typeface="Manrope"/><a:cs typeface="Manrope"/><a:sym typeface="Manrope"/></a:endParaRPr></a:p></p:txBody></p:sp><p:sp><p:nvSpPr><p:cNvPr id="110" name="Google Shape;110;p18"/><p:cNvSpPr/><p:nvPr/></p:nvSpPr><p:spPr><a:xfrm><a:off x="5351099" y="1449650"/><a:ext cx="1498200" cy="711900"/></a:xfrm><a:prstGeom prst="roundRect"><a:avLst><a:gd fmla="val 11687" name="adj"/></a:avLst></a:prstGeom><a:solidFill><a:srgbClr val="FFFFFF"/></a:solidFill><a:ln cap="flat" cmpd="sng" w="8125"><a:solidFill><a:srgbClr val="FF7047"/></a:solidFill><a:prstDash val="solid"/><a:round/><a:headEnd len="sm" w="sm" type="none"/><a:tailEnd len="sm" w="sm" type="none"/>4. Contrôles bloquants</a:t></a:r><a:endParaRPr b="1" sz="1200"><a:solidFill><a:srgbClr val="55575A"/></a:solidFill><a:latin typeface="Manrope"/><a:ea typeface="Manrope"/><a:cs typeface="Manrope"/><a:sym typeface="Manrope"/></a:endParaRPr></a:p></p:txBody></p:sp><p:sp><p:nvSpPr><p:cNvPr id="111" name="Google Shape;111;p18"/><p:cNvSpPr/><p:nvPr/></p:nvSpPr><p:spPr><a:xfrm><a:off x="6937799" y="1460100"/><a:ext cx="1498200" cy="711900"/></a:xfrm><a:prstGeom prst="roundRect"><a:avLst><a:gd fmla="val 11687" name="adj"/></a:avLst></a:prstGeom><a:solidFill><a:srgbClr val="FFFFFF"/></a:solidFill><a:ln cap="flat" cmpd="sng" w="8125"><a:solidFill><a:srgbClr val="FF7047"/></a:solidFill><a:prstDash val="solid"/><a:round/><a:headEnd len="sm" w="sm" type="none"/><a:tailEnd len="sm" w="sm" type="none"/>5. Traçabilité du commit au modèle</a:t></a:r><a:endParaRPr b="1" sz="1200"><a:solidFill><a:srgbClr val="55575A"/></a:solidFill><a:latin typeface="Manrope"/><a:ea typeface="Manrope"/><a:cs typeface="Manrope"/><a:sym typeface="Manrope"/></a:endParaRPr></a:p></p:txBody></p:sp><p:sp><p:nvSpPr><p:cNvPr id="112" name="Google Shape;112;p18"/><p:cNvSpPr txBox="1"/><p:nvPr/></p:nvSpPr><p:spPr><a:xfrm><a:off x="402950" y="2701550"/><a:ext cx="8033100" cy="1639200"/></a:xfrm><a:prstGeom prst="rect"><a:avLst/></a:prstGeom><a:noFill/><a:ln><a:noFill/></a:ln></p:spPr><p:txBody><a:bodyPr anchorCtr="0" anchor="t" bIns="91425" lIns="91425" spcFirstLastPara="1" rIns="91425" wrap="square" tIns="91425"><a:spAutoFit/></a:bodyPr><a:lstStyle/><a:p><a:pPr indent="0" lvl="0" marL="0" rtl="0" algn="l"><a:lnSpc><a:spcPct val="115000"/></a:lnSpc><a:spcBef><a:spcPts val="0"/></a:spcBef><a:spcAft><a:spcPts val="0"/></a:spcAft><a:buNone/></a:pPr><a:r><a:rPr b="1" lang="fr"><a:solidFill><a:srgbClr val="015955"/></a:solidFill><a:highlight><a:schemeClr val="lt1"/></a:highlight></a:rPr><a:t>Pourquoi un pilote :</a:t></a:r><a:r><a:rPr lang="fr"><a:solidFill><a:srgbClr val="27251E"/></a:solidFill><a:highlight><a:schemeClr val="lt1"/></a:highlight></a:rPr><a:t> </a:t></a:r><a:endParaRPr><a:solidFill><a:srgbClr val="27251E"/></a:solidFill><a:highlight><a:schemeClr val="lt1"/></a:highlight></a:endParaRPr></a:p><a:p><a:pPr indent="-317500" lvl="0" marL="457200" rtl="0" algn="l"><a:lnSpc><a:spcPct val="115000"/></a:lnSpc><a:spcBef><a:spcPts val="0"/></a:spcBef><a:spcAft><a:spcPts val="0"/></a:spcAft><a:buClr><a:schemeClr val="dk2"/></a:buClr><a:buSzPts val="1400"/><a:buChar char="●"/></a:pPr><a:r><a:rPr lang="fr"><a:solidFill><a:schemeClr val="dk2"/></a:solidFill><a:highlight><a:schemeClr val="lt1"/></a:highlight></a:rPr><a:t>le cas</a:t></a:r><a:r><a:rPr lang="fr"><a:solidFill><a:schemeClr val="dk2"/></a:solidFill></a:rPr><a:t xml:space="preserve"> </a:t></a:r><a:r><a:rPr b="1" lang="fr"><a:solidFill><a:schemeClr val="dk2"/></a:solidFill></a:rPr><a:t>l'exige avant la généralisation</a:t></a:r><a:endParaRPr b="1"><a:solidFill><a:schemeClr val="dk2"/></a:solidFill></a:endParaRPr></a:p><a:p><a:pPr indent="-317500" lvl="0" marL="457200" rtl="0" algn="l"><a:lnSpc><a:spcPct val="115000"/></a:lnSpc><a:spcBef><a:spcPts val="0"/></a:spcBef><a:spcAft><a:spcPts val="0"/></a:spcAft><a:buClr><a:schemeClr val="dk2"/></a:buClr><a:buSzPts val="1400"/><a:buChar char="●"/></a:pPr><a:r><a:rPr lang="fr"><a:solidFill><a:schemeClr val="dk2"/></a:solidFill><a:highlight><a:schemeClr val="lt1"/></a:highlight></a:rPr><a:t>Un cadre qui n'a jamais tourné n'est pas un cadre</a:t></a:r><a:r><a:rPr lang="fr"><a:solidFill><a:schemeClr val="dk2"/></a:solidFill></a:rPr><a:t xml:space="preserve"> — </a:t></a:r><a:r><a:rPr b="1" lang="fr"><a:solidFill><a:schemeClr val="dk2"/></a:solidFill></a:rPr><a:t xml:space="preserve">il se démontre au lieu de se décrire </a:t></a:r><a:endParaRPr b="1"><a:solidFill><a:schemeClr val="dk2"/></a:solidFill></a:endParaRPr></a:p><a:p><a:pPr indent="-317500" lvl="0" marL="457200" rtl="0" algn="l"><a:lnSpc><a:spcPct val="115000"/></a:lnSpc><a:spcBef><a:spcPts val="0"/></a:spcBef><a:spcAft><a:spcPts val="0"/></a:spcAft><a:buClr><a:schemeClr val="dk2"/></a:buClr><a:buSzPts val="1400"/><a:buChar char="●"/></a:pPr><a:r><a:rPr lang="fr"><a:solidFill><a:schemeClr val="dk2"/></a:solidFill><a:highlight><a:schemeClr val="lt1"/></a:highlight></a:rPr><a:t>Ce qui manque</a:t></a:r><a:r><a:rPr lang="fr"><a:solidFill><a:schemeClr val="dk2"/></a:solidFill></a:rPr><a:t xml:space="preserve"> y est nommé </a:t></a:r><a:r><a:rPr b="1" lang="fr"><a:solidFill><a:schemeClr val="dk2"/></a:solidFill></a:rPr><a:t>comme manquant</a:t></a:r><a:endParaRPr b="1"><a:solidFill><a:schemeClr val="dk2"/></a:solidFill></a:endParaRPr></a:p><a:p><a:pPr indent="-317500" lvl="0" marL="457200" rtl="0" algn="l"><a:lnSpc><a:spcPct val="115000"/></a:lnSpc><a:spcBef><a:spcPts val="0"/></a:spcBef><a:spcAft><a:spcPts val="0"/></a:spcAft><a:buClr><a:schemeClr val="dk2"/></a:buClr><a:buSzPts val="1400"/><a:buChar char="●"/></a:pPr><a:r><a:rPr lang="fr"><a:solidFill><a:schemeClr val="dk2"/></a:solidFill></a:rPr><a:t xml:space="preserve">Dossier complet : docs/17_gouvernance.md </a:t></a:r><a:r><a:rPr b="1" lang="fr"><a:solidFill><a:schemeClr val="dk2"/></a:solidFill></a:rPr><a:t></a:t></a:r><a:endParaRPr><a:solidFill><a:schemeClr val="dk2"/></a:solidFill></a:endParaRPr></a:p><a:p><a:pPr indent="-317500" lvl="0" marL="457200" rtl="0" algn="l"><a:lnSpc><a:spcPct val="115000"/></a:lnSpc><a:spcBef><a:spcPts val="0"/></a:spcBef><a:spcAft><a:spcPts val="0"/></a:spcAft><a:buClr><a:schemeClr val="dk2"/></a:buClr><a:buSzPts val="1400"/><a:buChar char="●"/></a:pPr><a:r><a:rPr lang="fr"><a:solidFill><a:schemeClr val="dk2"/></a:solidFill></a:rPr><a:t xml:space="preserve">Exigences relevées : docs/00_sources/ </a:t></a:r><a:r><a:rPr b="1" lang="fr"><a:solidFill><a:schemeClr val="dk2"/></a:solidFill></a:rPr><a:t></a:t></a:r><a:r><a:rPr lang="fr"><a:solidFill><a:schemeClr val="dk2"/></a:solidFill></a:rPr><a:t></a:t></a:r><a:endParaRPr sz="1800"><a:solidFill><a:schemeClr val="dk2"/></a:solidFill></a:endParaRPr></a:p></p:txBody></p:sp></p:spTree></p:cSld><p:clrMapOvr><a:masterClrMapping/></p:clrMapOvr>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6"/>
          <p:cNvSpPr txBox="1"/>
          <p:nvPr>
            <p:ph idx="4294967295" type="ctrTitle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Politique de gouvernance</a:t>
            </a:r>
            <a:endParaRPr i="0" sz="2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91" name="Google Shape;191;p26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 txBox="1"/>
          <p:nvPr/>
        </p:nvSpPr>
        <p:spPr>
          <a:xfrm>
            <a:off x="562125" y="868738"/>
            <a:ext cx="6933300" cy="28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highlight>
                  <a:srgbClr val="FFFFFF"/>
                </a:highlight>
              </a:rPr>
              <a:t xml:space="preserve">Six </a:t>
            </a:r>
            <a:r>
              <a:rPr lang="fr" sz="1800">
                <a:solidFill>
                  <a:schemeClr val="dk2"/>
                </a:solidFill>
                <a:highlight>
                  <a:srgbClr val="FFFFFF"/>
                </a:highlight>
              </a:rPr>
              <a:t>domaines couverts</a:t>
            </a:r>
            <a:endParaRPr sz="18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lang="fr" sz="1200">
                <a:solidFill>
                  <a:schemeClr val="dk2"/>
                </a:solidFill>
                <a:highlight>
                  <a:srgbClr val="FFFFFF"/>
                </a:highlight>
              </a:rPr>
              <a:t>Qualité : contrôles bloquants, Great Expectations, 43 tests dbt</a:t>
            </a:r>
            <a:endParaRPr sz="12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lang="fr" sz="1200">
                <a:solidFill>
                  <a:schemeClr val="dk2"/>
                </a:solidFill>
                <a:highlight>
                  <a:srgbClr val="FFFFFF"/>
                </a:highlight>
              </a:rPr>
              <a:t>Sécurité : zone brute immuable, secret obligatoire sans valeur par défaut</a:t>
            </a:r>
            <a:endParaRPr sz="12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b="1" lang="fr" sz="1200">
                <a:solidFill>
                  <a:schemeClr val="dk2"/>
                </a:solidFill>
                <a:highlight>
                  <a:srgbClr val="FFFFFF"/>
                </a:highlight>
              </a:rPr>
              <a:t xml:space="preserve">Conformité : intérêt légitime, RGPD 6.1.f </a:t>
            </a:r>
            <a:r>
              <a:rPr lang="fr" sz="1200">
                <a:solidFill>
                  <a:schemeClr val="dk2"/>
                </a:solidFill>
                <a:highlight>
                  <a:srgbClr val="FFFFFF"/>
                </a:highlight>
              </a:rPr>
              <a:t>· AI Act : risque minimal</a:t>
            </a:r>
            <a:r>
              <a:rPr b="1" lang="fr" sz="1200">
                <a:solidFill>
                  <a:schemeClr val="dk2"/>
                </a:solidFill>
                <a:highlight>
                  <a:srgbClr val="FFFFFF"/>
                </a:highlight>
              </a:rPr>
              <a:t>Vie privée : identifiants directs supprimés dès la zone propre</a:t>
            </a:r>
            <a:endParaRPr b="1" sz="12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200">
                <a:solidFill>
                  <a:schemeClr val="dk2"/>
                </a:solidFill>
                <a:highlight>
                  <a:srgbClr val="FFFFFF"/>
                </a:highlight>
              </a:rPr>
              <a:t>Ce que la politique ne couvre pas encore</a:t>
            </a:r>
            <a:endParaRPr b="1" sz="12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lang="fr" sz="1200">
                <a:solidFill>
                  <a:schemeClr val="dk2"/>
                </a:solidFill>
                <a:highlight>
                  <a:srgbClr val="FFFFFF"/>
                </a:highlight>
              </a:rPr>
              <a:t>Aucun catalogue de données, aucun contrôle d'accès par rôle</a:t>
            </a:r>
            <a:endParaRPr sz="12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lang="fr" sz="1200">
                <a:solidFill>
                  <a:schemeClr val="dk2"/>
                </a:solidFill>
                <a:highlight>
                  <a:srgbClr val="FFFFFF"/>
                </a:highlight>
              </a:rPr>
              <a:t>Aucun journal des accès, aucune procédure de révision formelle</a:t>
            </a:r>
            <a:endParaRPr sz="12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</a:pPr>
            <a:r>
              <a:rPr lang="fr" sz="1200">
                <a:solidFill>
                  <a:schemeClr val="dk2"/>
                </a:solidFill>
                <a:highlight>
                  <a:srgbClr val="FFFFFF"/>
                </a:highlight>
              </a:rPr>
              <a:t>Aucune mesure d'accessibilité — ADR 0004, 0005, 0020 pour ce qui est tenu</a:t>
            </a:r>
            <a:endParaRPr sz="12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7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highlight>
                <a:srgbClr val="FFFFFF"/>
              </a:highlight>
            </a:endParaRPr>
          </a:p>
        </p:txBody>
      </p:sp>
      <p:pic>
        <p:nvPicPr>
          <p:cNvPr id="194" name="Google Shape;19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2675" y="3541363"/>
            <a:ext cx="5791200" cy="122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7"/>
          <p:cNvSpPr txBox="1"/>
          <p:nvPr>
            <p:ph idx="4294967295" type="ctrTitle"/>
          </p:nvPr>
        </p:nvSpPr>
        <p:spPr>
          <a:xfrm>
            <a:off x="1192687" y="403300"/>
            <a:ext cx="73170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 xml:space="preserve">Rôles et responsabilités </a:t>
            </a:r>
            <a:endParaRPr i="0" sz="2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200" name="Google Shape;20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7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7"/>
          <p:cNvSpPr txBox="1"/>
          <p:nvPr/>
        </p:nvSpPr>
        <p:spPr>
          <a:xfrm>
            <a:off x="463375" y="1398100"/>
            <a:ext cx="8046300" cy="3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fr" sz="2400">
                <a:solidFill>
                  <a:schemeClr val="dk2"/>
                </a:solidFill>
              </a:rPr>
              <a:t xml:space="preserve">Ce que le cas prescrit : </a:t>
            </a:r>
            <a:r>
              <a:rPr b="1" lang="fr" sz="2400">
                <a:solidFill>
                  <a:schemeClr val="dk2"/>
                </a:solidFill>
              </a:rPr>
              <a:t>Data Stewards par jeu de données, un DPO, une ligne de remontée, un comité de gouvernance.</a:t>
            </a:r>
            <a:r>
              <a:rPr lang="fr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fr" sz="2400">
                <a:solidFill>
                  <a:schemeClr val="dk2"/>
                </a:solidFill>
              </a:rPr>
              <a:t xml:space="preserve">Sur le pilote : </a:t>
            </a:r>
            <a:r>
              <a:rPr b="1" lang="fr" sz="2400">
                <a:solidFill>
                  <a:schemeClr val="dk2"/>
                </a:solidFill>
              </a:rPr>
              <a:t>aucun rôle formel</a:t>
            </a:r>
            <a:r>
              <a:rPr lang="fr" sz="2400">
                <a:solidFill>
                  <a:schemeClr val="dk2"/>
                </a:solidFill>
              </a:rPr>
              <a:t xml:space="preserve"> n'est nommé. Le projet est porté par une seule personne.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fr" sz="2400">
                <a:solidFill>
                  <a:schemeClr val="dk2"/>
                </a:solidFill>
              </a:rPr>
              <a:t>Cinq responsabilités sont pourtant déjà exercées, et traçables :</a:t>
            </a:r>
            <a:endParaRPr sz="2400">
              <a:solidFill>
                <a:schemeClr val="dk2"/>
              </a:solidFill>
            </a:endParaRPr>
          </a:p>
          <a:p>
            <a:pPr indent="-33528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●"/>
            </a:pPr>
            <a:r>
              <a:rPr lang="fr" sz="2400">
                <a:solidFill>
                  <a:schemeClr val="dk2"/>
                </a:solidFill>
              </a:rPr>
              <a:t xml:space="preserve">pseudonymisation </a:t>
            </a:r>
            <a:r>
              <a:rPr b="1" lang="fr" sz="2400">
                <a:solidFill>
                  <a:schemeClr val="dk2"/>
                </a:solidFill>
              </a:rPr>
              <a:t>· qualité · traçabilité · réversibilité · décision technique</a:t>
            </a:r>
            <a:r>
              <a:rPr lang="fr" sz="2400">
                <a:solidFill>
                  <a:schemeClr val="dk2"/>
                </a:solidFill>
              </a:rPr>
              <a:t xml:space="preserve">Chacune a son artefact : </a:t>
            </a:r>
            <a:endParaRPr sz="2400">
              <a:solidFill>
                <a:schemeClr val="dk2"/>
              </a:solidFill>
            </a:endParaRPr>
          </a:p>
          <a:p>
            <a:pPr indent="-33528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●"/>
            </a:pPr>
            <a:r>
              <a:rPr lang="fr" sz="2400">
                <a:solidFill>
                  <a:schemeClr val="dk2"/>
                </a:solidFill>
              </a:rPr>
              <a:t>ADR, suite d'attentes, étiquette de commit, matrice de réversibilité</a:t>
            </a:r>
            <a:r>
              <a:rPr b="1" lang="fr" sz="2400">
                <a:solidFill>
                  <a:schemeClr val="dk2"/>
                </a:solidFill>
              </a:rPr>
              <a:t xml:space="preserve">Le dire ainsi </a:t>
            </a:r>
            <a:r>
              <a:rPr lang="fr" sz="2400">
                <a:solidFill>
                  <a:schemeClr val="dk2"/>
                </a:solidFill>
              </a:rPr>
              <a:t>est plus utile qu'un RACI inventé</a:t>
            </a:r>
            <a:endParaRPr sz="2400">
              <a:solidFill>
                <a:schemeClr val="dk2"/>
              </a:solidFill>
            </a:endParaRPr>
          </a:p>
          <a:p>
            <a:pPr indent="-33528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●"/>
            </a:pPr>
            <a:r>
              <a:rPr lang="fr" sz="2400">
                <a:solidFill>
                  <a:schemeClr val="dk2"/>
                </a:solidFill>
              </a:rPr>
              <a:t xml:space="preserve">Manque : </a:t>
            </a:r>
            <a:r>
              <a:rPr b="1" lang="fr" sz="2400">
                <a:solidFill>
                  <a:schemeClr val="dk2"/>
                </a:solidFill>
              </a:rPr>
              <a:t>RACI formel, Data Owners désignés, comité constitué</a:t>
            </a:r>
            <a:r>
              <a:rPr lang="fr" sz="2400">
                <a:solidFill>
                  <a:schemeClr val="dk2"/>
                </a:solidFill>
              </a:rPr>
              <a:t>, lignes de remontée écrites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fr" sz="2400">
                <a:solidFill>
                  <a:schemeClr val="dk2"/>
                </a:solidFill>
              </a:rPr>
              <a:t>Le cas demande un comité ; un projet d'une personne ne peut pas en constituer un. Nous le disons.</a:t>
            </a:r>
            <a:r>
              <a:rPr b="1" lang="fr" sz="2400">
                <a:solidFill>
                  <a:schemeClr val="dk2"/>
                </a:solidFill>
              </a:rPr>
              <a:t/>
            </a:r>
            <a:r>
              <a:rPr lang="fr" sz="2400">
                <a:solidFill>
                  <a:schemeClr val="dk2"/>
                </a:solidFill>
              </a:rPr>
              <a:t/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fr" sz="2400">
                <a:solidFill>
                  <a:schemeClr val="dk2"/>
                </a:solidFill>
              </a:rPr>
              <a:t>Un rôle non tenu, écrit comme tenu, est le premier défaut qu'un audit trouve.</a:t>
            </a:r>
            <a:endParaRPr b="1" sz="2400">
              <a:solidFill>
                <a:schemeClr val="dk2"/>
              </a:solidFill>
            </a:endParaRPr>
          </a:p>
        </p:txBody>
      </p:sp>
      <p:sp>
        <p:nvSpPr>
          <p:cNvPr id="203" name="Google Shape;203;p27"/>
          <p:cNvSpPr txBox="1"/>
          <p:nvPr/>
        </p:nvSpPr>
        <p:spPr>
          <a:xfrm>
            <a:off x="463375" y="936400"/>
            <a:ext cx="329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R</a:t>
            </a:r>
            <a:r>
              <a:rPr lang="fr" sz="1800">
                <a:solidFill>
                  <a:schemeClr val="dk2"/>
                </a:solidFill>
              </a:rPr>
              <a:t xml:space="preserve">ôles et </a:t>
            </a:r>
            <a:r>
              <a:rPr lang="fr" sz="1800">
                <a:solidFill>
                  <a:schemeClr val="dk2"/>
                </a:solidFill>
              </a:rPr>
              <a:t>redevabilité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8"/>
          <p:cNvSpPr txBox="1"/>
          <p:nvPr>
            <p:ph idx="4294967295" type="ctrTitle"/>
          </p:nvPr>
        </p:nvSpPr>
        <p:spPr>
          <a:xfrm>
            <a:off x="1192678" y="403300"/>
            <a:ext cx="67833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 xml:space="preserve">Plan de mise en œuvre et </a:t>
            </a:r>
            <a:r>
              <a:rPr lang="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qualité</a:t>
            </a:r>
            <a:endParaRPr i="0" sz="2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209" name="Google Shape;209;p28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0" name="Google Shape;21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8"/>
          <p:cNvSpPr txBox="1"/>
          <p:nvPr/>
        </p:nvSpPr>
        <p:spPr>
          <a:xfrm>
            <a:off x="463375" y="1173075"/>
            <a:ext cx="7369200" cy="34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chemeClr val="dk2"/>
                </a:solidFill>
                <a:highlight>
                  <a:srgbClr val="FFFFFF"/>
                </a:highlight>
              </a:rPr>
              <a:t>L</a:t>
            </a:r>
            <a:r>
              <a:rPr b="1" lang="fr" sz="1600">
                <a:solidFill>
                  <a:schemeClr val="dk2"/>
                </a:solidFill>
                <a:highlight>
                  <a:srgbClr val="FFFFFF"/>
                </a:highlight>
              </a:rPr>
              <a:t>e plan suit les phases du cas :</a:t>
            </a:r>
            <a:endParaRPr b="1" sz="16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●"/>
            </a:pPr>
            <a:r>
              <a:rPr lang="fr" sz="1450">
                <a:solidFill>
                  <a:schemeClr val="dk2"/>
                </a:solidFill>
                <a:highlight>
                  <a:srgbClr val="EBEEF2"/>
                </a:highlight>
              </a:rPr>
              <a:t>pilote d'abord</a:t>
            </a:r>
            <a:r>
              <a:rPr lang="fr" sz="1600">
                <a:solidFill>
                  <a:schemeClr val="dk2"/>
                </a:solidFill>
                <a:highlight>
                  <a:srgbClr val="FFFFFF"/>
                </a:highlight>
              </a:rPr>
              <a:t xml:space="preserve"> : périmètre restreint, réel, mesuré</a:t>
            </a:r>
            <a:endParaRPr sz="16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●"/>
            </a:pPr>
            <a:r>
              <a:rPr lang="fr" sz="1450">
                <a:solidFill>
                  <a:schemeClr val="dk2"/>
                </a:solidFill>
                <a:highlight>
                  <a:srgbClr val="EBEEF2"/>
                </a:highlight>
              </a:rPr>
              <a:t>puis généralisation</a:t>
            </a:r>
            <a:r>
              <a:rPr lang="fr" sz="1600">
                <a:solidFill>
                  <a:schemeClr val="dk2"/>
                </a:solidFill>
                <a:highlight>
                  <a:srgbClr val="FFFFFF"/>
                </a:highlight>
              </a:rPr>
              <a:t xml:space="preserve"> : mêmes contrôles, autres jeux de données</a:t>
            </a:r>
            <a:endParaRPr sz="16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●"/>
            </a:pPr>
            <a:r>
              <a:rPr lang="fr" sz="1450">
                <a:solidFill>
                  <a:schemeClr val="dk2"/>
                </a:solidFill>
                <a:highlight>
                  <a:srgbClr val="EBEEF2"/>
                </a:highlight>
              </a:rPr>
              <a:t>indicateurs</a:t>
            </a:r>
            <a:r>
              <a:rPr lang="fr" sz="1600">
                <a:solidFill>
                  <a:schemeClr val="dk2"/>
                </a:solidFill>
                <a:highlight>
                  <a:srgbClr val="FFFFFF"/>
                </a:highlight>
              </a:rPr>
              <a:t xml:space="preserve"> : taux de succès des contrôles, couverture des tests, part des runs tracés</a:t>
            </a:r>
            <a:endParaRPr sz="16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●"/>
            </a:pPr>
            <a:r>
              <a:rPr lang="fr" sz="1450">
                <a:solidFill>
                  <a:schemeClr val="dk2"/>
                </a:solidFill>
                <a:highlight>
                  <a:srgbClr val="EBEEF2"/>
                </a:highlight>
              </a:rPr>
              <a:t>conduite du changement</a:t>
            </a:r>
            <a:r>
              <a:rPr lang="fr" sz="1600">
                <a:solidFill>
                  <a:schemeClr val="dk2"/>
                </a:solidFill>
                <a:highlight>
                  <a:srgbClr val="FFFFFF"/>
                </a:highlight>
              </a:rPr>
              <a:t xml:space="preserve"> : à construire, rien dans le pilote n'y répond</a:t>
            </a:r>
            <a:endParaRPr sz="16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●"/>
            </a:pPr>
            <a:r>
              <a:rPr lang="fr" sz="1450">
                <a:solidFill>
                  <a:schemeClr val="dk2"/>
                </a:solidFill>
                <a:highlight>
                  <a:srgbClr val="EBEEF2"/>
                </a:highlight>
              </a:rPr>
              <a:t>audits</a:t>
            </a:r>
            <a:r>
              <a:rPr lang="fr" sz="1600">
                <a:solidFill>
                  <a:schemeClr val="dk2"/>
                </a:solidFill>
                <a:highlight>
                  <a:srgbClr val="FFFFFF"/>
                </a:highlight>
              </a:rPr>
              <a:t xml:space="preserve"> : </a:t>
            </a:r>
            <a:r>
              <a:rPr lang="fr" sz="1600">
                <a:solidFill>
                  <a:schemeClr val="dk2"/>
                </a:solidFill>
                <a:highlight>
                  <a:srgbClr val="FFFFFF"/>
                </a:highlight>
              </a:rPr>
              <a:t>à construire, aucun calendrier n'existe</a:t>
            </a:r>
            <a:endParaRPr sz="16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600">
                <a:solidFill>
                  <a:schemeClr val="dk2"/>
                </a:solidFill>
                <a:highlight>
                  <a:srgbClr val="FFFFFF"/>
                </a:highlight>
              </a:rPr>
              <a:t>Initiative qualité, sur le pilote</a:t>
            </a:r>
            <a:endParaRPr b="1" sz="16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●"/>
            </a:pPr>
            <a:r>
              <a:rPr lang="fr" sz="1600">
                <a:solidFill>
                  <a:schemeClr val="dk2"/>
                </a:solidFill>
                <a:highlight>
                  <a:srgbClr val="FFFFFF"/>
                </a:highlight>
              </a:rPr>
              <a:t>Porte bloquante avant la zone propre, et depuis le 19/09 sur silver et gold</a:t>
            </a:r>
            <a:endParaRPr sz="16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●"/>
            </a:pPr>
            <a:r>
              <a:rPr lang="fr" sz="1600">
                <a:solidFill>
                  <a:schemeClr val="dk2"/>
                </a:solidFill>
                <a:highlight>
                  <a:srgbClr val="FFFFFF"/>
                </a:highlight>
              </a:rPr>
              <a:t>28 attentes, éprouvées par un témoin qui casse volontairement les données</a:t>
            </a:r>
            <a:endParaRPr sz="16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●"/>
            </a:pPr>
            <a:r>
              <a:rPr lang="fr" sz="1600">
                <a:solidFill>
                  <a:schemeClr val="dk2"/>
                </a:solidFill>
                <a:highlight>
                  <a:srgbClr val="FFFFFF"/>
                </a:highlight>
              </a:rPr>
              <a:t>Dérive mesurée à chaque passage, alerte écrite hors du journal</a:t>
            </a:r>
            <a:endParaRPr sz="1600">
              <a:solidFill>
                <a:schemeClr val="dk2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9"/>
          <p:cNvSpPr txBox="1"/>
          <p:nvPr>
            <p:ph idx="4294967295" type="ctrTitle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Conformité, vie privée, et les manques</a:t>
            </a:r>
            <a:endParaRPr i="0" sz="2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217" name="Google Shape;217;p29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9"/>
          <p:cNvSpPr txBox="1"/>
          <p:nvPr/>
        </p:nvSpPr>
        <p:spPr>
          <a:xfrm>
            <a:off x="514300" y="1142625"/>
            <a:ext cx="7835700" cy="3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chemeClr val="dk2"/>
                </a:solidFill>
                <a:highlight>
                  <a:srgbClr val="FFFFFF"/>
                </a:highlight>
              </a:rPr>
              <a:t>Ce qui est tenu</a:t>
            </a:r>
            <a:endParaRPr b="1" sz="13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●"/>
            </a:pPr>
            <a:r>
              <a:rPr lang="fr" sz="1300">
                <a:solidFill>
                  <a:schemeClr val="dk2"/>
                </a:solidFill>
                <a:highlight>
                  <a:srgbClr val="FFFFFF"/>
                </a:highlight>
              </a:rPr>
              <a:t>Pseudonymisation HMAC-SHA256 salée ; sel obligatoire, sans valeur par défaut</a:t>
            </a:r>
            <a:endParaRPr sz="13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●"/>
            </a:pPr>
            <a:r>
              <a:rPr lang="fr" sz="1300">
                <a:solidFill>
                  <a:schemeClr val="dk2"/>
                </a:solidFill>
                <a:highlight>
                  <a:srgbClr val="FFFFFF"/>
                </a:highlight>
              </a:rPr>
              <a:t>steamid, personaname, profile_url et avatar supprimés dès la zone propre</a:t>
            </a:r>
            <a:endParaRPr sz="13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●"/>
            </a:pPr>
            <a:r>
              <a:rPr lang="fr" sz="1300">
                <a:solidFill>
                  <a:schemeClr val="dk2"/>
                </a:solidFill>
                <a:highlight>
                  <a:srgbClr val="FFFFFF"/>
                </a:highlight>
              </a:rPr>
              <a:t>Tableau de bord sans aucune information d'auteur, textes tronqués</a:t>
            </a:r>
            <a:endParaRPr sz="13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●"/>
            </a:pPr>
            <a:r>
              <a:rPr lang="fr" sz="1300">
                <a:solidFill>
                  <a:schemeClr val="dk2"/>
                </a:solidFill>
                <a:highlight>
                  <a:srgbClr val="FFFFFF"/>
                </a:highlight>
              </a:rPr>
              <a:t>Base légale écrite : intérêt légitime, RGPD 6.1.f. AI Act : risque minimal. ADR 0004.</a:t>
            </a:r>
            <a:endParaRPr sz="13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chemeClr val="dk2"/>
                </a:solidFill>
                <a:highlight>
                  <a:srgbClr val="FFFFFF"/>
                </a:highlight>
              </a:rPr>
              <a:t>Ce que ce dossier ne démontre pas</a:t>
            </a:r>
            <a:endParaRPr b="1" sz="13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●"/>
            </a:pPr>
            <a:r>
              <a:rPr lang="fr" sz="1300">
                <a:solidFill>
                  <a:schemeClr val="dk2"/>
                </a:solidFill>
                <a:highlight>
                  <a:srgbClr val="FFFFFF"/>
                </a:highlight>
              </a:rPr>
              <a:t>Aucun registre des traitements, aucun calendrier d'audits</a:t>
            </a:r>
            <a:endParaRPr sz="13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●"/>
            </a:pPr>
            <a:r>
              <a:rPr lang="fr" sz="1300">
                <a:solidFill>
                  <a:schemeClr val="dk2"/>
                </a:solidFill>
                <a:highlight>
                  <a:srgbClr val="FFFFFF"/>
                </a:highlight>
              </a:rPr>
              <a:t>Aucune procédure d'incident écrite, aucun journal des accès</a:t>
            </a:r>
            <a:endParaRPr sz="13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●"/>
            </a:pPr>
            <a:r>
              <a:rPr lang="fr" sz="1300">
                <a:solidFill>
                  <a:schemeClr val="dk2"/>
                </a:solidFill>
                <a:highlight>
                  <a:srgbClr val="FFFFFF"/>
                </a:highlight>
              </a:rPr>
              <a:t>Aucun mécanisme de consentement — les données viennent d'une API publique</a:t>
            </a:r>
            <a:endParaRPr sz="13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●"/>
            </a:pPr>
            <a:r>
              <a:rPr lang="fr" sz="1300">
                <a:solidFill>
                  <a:schemeClr val="dk2"/>
                </a:solidFill>
                <a:highlight>
                  <a:srgbClr val="FFFFFF"/>
                </a:highlight>
              </a:rPr>
              <a:t>Aucune analyse de valeur métier chiffrée pour le comité de direction</a:t>
            </a:r>
            <a:endParaRPr sz="13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fr" sz="1300">
                <a:solidFill>
                  <a:schemeClr val="dk2"/>
                </a:solidFill>
                <a:highlight>
                  <a:srgbClr val="FFFFFF"/>
                </a:highlight>
              </a:rPr>
              <a:t>Pourquoi le dire</a:t>
            </a:r>
            <a:endParaRPr b="1" sz="1300">
              <a:solidFill>
                <a:schemeClr val="dk2"/>
              </a:solidFill>
              <a:highlight>
                <a:srgbClr val="FFFFFF"/>
              </a:highlight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●"/>
            </a:pPr>
            <a:r>
              <a:rPr lang="fr" sz="1300">
                <a:solidFill>
                  <a:schemeClr val="dk2"/>
                </a:solidFill>
                <a:highlight>
                  <a:srgbClr val="FFFFFF"/>
                </a:highlight>
              </a:rPr>
              <a:t>Un dossier qui tait ses manques ne survit pas aux questions</a:t>
            </a:r>
            <a:endParaRPr sz="1300">
              <a:solidFill>
                <a:schemeClr val="dk2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DBD0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0"/>
          <p:cNvSpPr txBox="1"/>
          <p:nvPr>
            <p:ph idx="4294967295" type="ctrTitle"/>
          </p:nvPr>
        </p:nvSpPr>
        <p:spPr>
          <a:xfrm>
            <a:off x="1089725" y="1970775"/>
            <a:ext cx="62691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52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Questions ?</a:t>
            </a:r>
            <a:endParaRPr i="0" sz="52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225" name="Google Shape;22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18625" y="3006625"/>
            <a:ext cx="4599299" cy="213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2375" y="915775"/>
            <a:ext cx="797425" cy="83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