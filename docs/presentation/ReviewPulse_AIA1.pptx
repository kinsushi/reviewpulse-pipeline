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9"/>
    <p:sldId id="261" r:id="rId11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1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Gouvernance des données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 cadre Spotify, éprouvé sur un pilote réel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Cas d'étude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Spotify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problème de Spotify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pilote : ReviewPulse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Politique de gouvernance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Rôles et responsabilités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Plan de mise en œuvre</a:t>
            </a:r>
            <a:r>
              <a:rPr lang="fr" sz="1800">
                <a:solidFill>
                  <a:schemeClr val="dk2"/>
                </a:solidFill>
              </a:rPr>
              <a:t xml:space="preserve"> et qualité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Conformité, vie privée, et ce que nous ne démontrons pas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sition_Cost_comparison_infographic_showing_customer_acquisition_vs_retention_costs_lazyimg0_src (1).jpeg"/>
          <p:cNvPicPr preferRelativeResize="0"/>
          <p:nvPr/>
        </p:nvPicPr>
        <p:blipFill rotWithShape="1">
          <a:blip r:embed="rId3">
            <a:alphaModFix/>
          </a:blip>
          <a:srcRect b="0" l="4837" r="3378" t="0"/>
          <a:stretch/>
        </p:blipFill>
        <p:spPr>
          <a:xfrm>
            <a:off x="3312828" y="961572"/>
            <a:ext cx="5611849" cy="40761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>
            <p:ph idx="4294967295" type="ctrTitle"/>
          </p:nvPr>
        </p:nvSpPr>
        <p:spPr>
          <a:xfrm>
            <a:off x="1025204" y="403300"/>
            <a:ext cx="387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500"/>
              <a:buFont typeface="Inter SemiBold"/>
              <a:buAutoNum type="arabicPeriod"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problème de Spotify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1507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62850" y="1054525"/>
            <a:ext cx="2822700" cy="3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fr" sz="1200">
                <a:solidFill>
                  <a:schemeClr val="dk2"/>
                </a:solidFill>
              </a:rPr>
            </a:br>
            <a:r>
              <a:rPr b="1" lang="fr" sz="1200">
                <a:solidFill>
                  <a:schemeClr val="dk2"/>
                </a:solidFill>
              </a:rPr>
              <a:t>Ce que le cas énonce</a:t>
            </a:r>
            <a:br>
              <a:rPr b="1" lang="fr" sz="1200">
                <a:solidFill>
                  <a:schemeClr val="dk2"/>
                </a:solidFill>
              </a:rPr>
            </a:br>
            <a:r>
              <a:rPr lang="fr" sz="1200">
                <a:solidFill>
                  <a:schemeClr val="dk2"/>
                </a:solidFill>
              </a:rPr>
              <a:t>Plus de 450 millions d'utilisateurs, 180 pays. Silos entre marketing, produit, curation et ingénierie ; conformité RGPD, CCPA et PDPA ; qualité des données dont dépend le moteur de recommandation ; vie privée.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</a:rPr>
              <a:t>Ce que le cas demande</a:t>
            </a:r>
            <a:endParaRPr b="1"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dk2"/>
                </a:solidFill>
              </a:rPr>
              <a:t>Six livrables : politique, rôles, plan de mise en œuvre, initiative qualité, conformité et vie privée, présentation au comité de direction.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376077" y="4712400"/>
            <a:ext cx="5548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sz="800">
                <a:solidFill>
                  <a:srgbClr val="27251E"/>
                </a:solidFill>
              </a:rPr>
              <a:t>Le cas exige explicitement une phase pilote sur un périmètre restreint avant toute généralisation.</a:t>
            </a:r>
            <a:br>
              <a:rPr i="1" lang="fr" sz="800">
                <a:solidFill>
                  <a:srgbClr val="27251E"/>
                </a:solidFill>
              </a:rPr>
            </a:br>
            <a:r>
              <a:rPr i="1" lang="fr" sz="800">
                <a:solidFill>
                  <a:srgbClr val="27251E"/>
                </a:solidFill>
              </a:rPr>
              <a:t>Source : business_case.pdf, 8 pages, lu le 19/09/2026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Le pilote : ReviewPulse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 périmètre restreint, mais réel</a:t></a:r><a:br><a:rPr lang="fr" sz="1800"><a:solidFill><a:schemeClr val="dk2"/></a:solidFill></a:rPr></a:br><a:r><a:rPr lang="fr" sz="1800"><a:solidFill><a:schemeClr val="dk2"/></a:solidFill></a:rPr><a:t>Analyse de sentiment d'avis Steam — 9 271 lignes brutes, 3 jeux, 2 langues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Cinq propriétés que la gouvernance exige, et qui sont ici mesurables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immuable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Ingestion idempotente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par manifeste d'identifiants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 salée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Traçabilité du commit au modèle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Pourquoi un pilote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le cas</a:t></a:r><a:r><a:rPr lang="fr"><a:solidFill><a:schemeClr val="dk2"/></a:solidFill></a:rPr><a:t xml:space="preserve"> </a:t></a:r><a:r><a:rPr b="1" lang="fr"><a:solidFill><a:schemeClr val="dk2"/></a:solidFill></a:rPr><a:t>l'exige avant la généralisation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Un cadre qui n'a jamais tourné n'est pas un cadre</a:t></a:r><a:r><a:rPr lang="fr"><a:solidFill><a:schemeClr val="dk2"/></a:solidFill></a:rPr><a:t xml:space="preserve"> — </a:t></a:r><a:r><a:rPr b="1" lang="fr"><a:solidFill><a:schemeClr val="dk2"/></a:solidFill></a:rPr><a:t xml:space="preserve">il se démontre au lieu de se décrire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Ce qui manque</a:t></a:r><a:r><a:rPr lang="fr"><a:solidFill><a:schemeClr val="dk2"/></a:solidFill></a:rPr><a:t xml:space="preserve"> y est nommé </a:t></a:r><a:r><a:rPr b="1" lang="fr"><a:solidFill><a:schemeClr val="dk2"/></a:solidFill></a:rPr><a:t>comme manquant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Dossier complet : docs/17_gouvernance.md </a:t></a:r><a:r><a:rPr b="1" lang="fr"><a:solidFill><a:schemeClr val="dk2"/></a:solidFill></a:rPr><a:t>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Exigences relevées : docs/00_sources/ </a:t></a:r><a:r><a:rPr b="1" lang="fr"><a:solidFill><a:schemeClr val="dk2"/></a:solidFill></a:rPr><a:t>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Politique de gouvernance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 xml:space="preserve">Six 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domaines couverts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Qualité : contrôles bloquants, Great Expectations, 43 tests dbt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Sécurité : zone brute immuable, secret obligatoire sans valeur par défaut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Conformité : intérêt légitime, RGPD 6.1.f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· AI Act : risque minimal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Vie privée : identifiants directs supprimés dès la zone propre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Ce que la politique ne couvre pas encore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catalogue de données, aucun contrôle d'accès par rôle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journal des accès, aucune procédure de révision formelle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Aucune mesure d'accessibilité — ADR 0004, 0005, 0020 pour ce qui est tenu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Rôles et responsabilités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Ce que le cas prescrit : </a:t>
            </a:r>
            <a:r>
              <a:rPr b="1" lang="fr" sz="2400">
                <a:solidFill>
                  <a:schemeClr val="dk2"/>
                </a:solidFill>
              </a:rPr>
              <a:t>Data Stewards par jeu de données, un DPO, une ligne de remontée, un comité de gouvernance.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Sur le pilote : </a:t>
            </a:r>
            <a:r>
              <a:rPr b="1" lang="fr" sz="2400">
                <a:solidFill>
                  <a:schemeClr val="dk2"/>
                </a:solidFill>
              </a:rPr>
              <a:t>aucun rôle formel</a:t>
            </a:r>
            <a:r>
              <a:rPr lang="fr" sz="2400">
                <a:solidFill>
                  <a:schemeClr val="dk2"/>
                </a:solidFill>
              </a:rPr>
              <a:t xml:space="preserve"> n'est nommé. Le projet est porté par une seule personne.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Cinq responsabilités sont pourtant déjà exercées, et traçables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pseudonymisation </a:t>
            </a:r>
            <a:r>
              <a:rPr b="1" lang="fr" sz="2400">
                <a:solidFill>
                  <a:schemeClr val="dk2"/>
                </a:solidFill>
              </a:rPr>
              <a:t>· qualité · traçabilité · réversibilité · décision technique</a:t>
            </a:r>
            <a:r>
              <a:rPr lang="fr" sz="2400">
                <a:solidFill>
                  <a:schemeClr val="dk2"/>
                </a:solidFill>
              </a:rPr>
              <a:t xml:space="preserve">Chacune a son artefact : 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ADR, suite d'attentes, étiquette de commit, matrice de réversibilité</a:t>
            </a:r>
            <a:r>
              <a:rPr b="1" lang="fr" sz="2400">
                <a:solidFill>
                  <a:schemeClr val="dk2"/>
                </a:solidFill>
              </a:rPr>
              <a:t xml:space="preserve">Le dire ainsi </a:t>
            </a:r>
            <a:r>
              <a:rPr lang="fr" sz="2400">
                <a:solidFill>
                  <a:schemeClr val="dk2"/>
                </a:solidFill>
              </a:rPr>
              <a:t>est plus utile qu'un RACI inventé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Manque : </a:t>
            </a:r>
            <a:r>
              <a:rPr b="1" lang="fr" sz="2400">
                <a:solidFill>
                  <a:schemeClr val="dk2"/>
                </a:solidFill>
              </a:rPr>
              <a:t>RACI formel, Data Owners désignés, comité constitué</a:t>
            </a:r>
            <a:r>
              <a:rPr lang="fr" sz="2400">
                <a:solidFill>
                  <a:schemeClr val="dk2"/>
                </a:solidFill>
              </a:rPr>
              <a:t>, lignes de remontée écrites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cas demande un comité ; un projet d'une personne ne peut pas en constituer un. Nous le disons.</a:t>
            </a:r>
            <a:r>
              <a:rPr b="1" lang="fr" sz="2400">
                <a:solidFill>
                  <a:schemeClr val="dk2"/>
                </a:solidFill>
              </a:rPr>
              <a:t/>
            </a:r>
            <a:r>
              <a:rPr lang="fr" sz="2400">
                <a:solidFill>
                  <a:schemeClr val="dk2"/>
                </a:solidFill>
              </a:rPr>
              <a:t/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rôle non tenu, écrit comme tenu, est le premier défaut qu'un audit trouve.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 xml:space="preserve">ôles et </a:t>
            </a:r>
            <a:r>
              <a:rPr lang="fr" sz="1800">
                <a:solidFill>
                  <a:schemeClr val="dk2"/>
                </a:solidFill>
              </a:rPr>
              <a:t>redevabilité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idx="4294967295" type="ctrTitle"/>
          </p:nvPr>
        </p:nvSpPr>
        <p:spPr>
          <a:xfrm>
            <a:off x="1192678" y="403300"/>
            <a:ext cx="678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Plan de mise en œuvre et </a:t>
            </a: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qualité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" name="Google Shape;21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8"/>
          <p:cNvSpPr txBox="1"/>
          <p:nvPr/>
        </p:nvSpPr>
        <p:spPr>
          <a:xfrm>
            <a:off x="463375" y="1173075"/>
            <a:ext cx="7369200" cy="3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L</a:t>
            </a: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e plan suit les phases du cas :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pilote d'abord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périmètre restreint, réel, mesuré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puis généralisation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mêmes contrôles, autres jeux de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indicateurs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taux de succès des contrôles, couverture des tests, part des runs tracés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conduite du changement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à construire, rien dans le pilote n'y répond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audits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à construire, aucun calendrier n'existe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Initiative qualité, sur le pilote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Porte bloquante avant la zone propre, et depuis le 19/09 sur silver et gold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28 attentes, éprouvées par un témoin qui casse volontairement les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Conformité, vie privée, et les manques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tenu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Pseudonymisation HMAC-SHA256 salée ; sel obligatoire, sans valeur par défaut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steamid, personaname, profile_url et avatar supprimés dès la zone propre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Tableau de bord sans aucune information d'auteur, textes tronqués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Base légale écrite : intérêt légitime, RGPD 6.1.f. AI Act : risque minimal. ADR 0004.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ce dossier ne démontre pas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registre des traitements, aucun calendrier d'audits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procédure d'incident écrite, aucun journal des accès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mécanisme de consentement — les données viennent d'une API publique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analyse de valeur métier chiffrée pour le comité de direction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Pourquoi le dire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Un dossier qui tait ses manques ne survit pas aux questions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