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8.xml"/>
  <Override ContentType="application/vnd.openxmlformats-officedocument.presentationml.slide+xml" PartName="/ppt/slides/slide1.xml"/>
  <Override ContentType="application/vnd.openxmlformats-officedocument.presentationml.slide+xml" PartName="/ppt/slides/slide13.xml"/>
  <Override ContentType="application/vnd.openxmlformats-officedocument.presentationml.slide+xml" PartName="/ppt/slides/slide15.xml"/>
  <Override ContentType="application/vnd.openxmlformats-officedocument.presentationml.slide+xml" PartName="/ppt/slides/slide1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68" r:id="rId18"/>
    <p:sldId id="270" r:id="rId20"/>
    <p:sldId id="272" r:id="rId22"/>
    <p:sldId id="273" r:id="rId23"/>
  </p:sldIdLst>
  <p:sldSz cy="5143500" cx="9144000"/>
  <p:notesSz cx="6858000" cy="9144000"/>
  <p:embeddedFontLst>
    <p:embeddedFont>
      <p:font typeface="Inter SemiBold"/>
      <p:regular r:id="rId25"/>
      <p:bold r:id="rId26"/>
      <p:italic r:id="rId27"/>
      <p:boldItalic r:id="rId28"/>
    </p:embeddedFont>
    <p:embeddedFont>
      <p:font typeface="Inter"/>
      <p:regular r:id="rId29"/>
      <p:bold r:id="rId30"/>
      <p:italic r:id="rId31"/>
      <p:boldItalic r:id="rId32"/>
    </p:embeddedFont>
    <p:embeddedFont>
      <p:font typeface="Manrope"/>
      <p:regular r:id="rId33"/>
      <p:bold r:id="rId34"/>
    </p:embeddedFont>
    <p:embeddedFont>
      <p:font typeface="Roboto Mon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3F6B79-F5F2-4B6F-ACAE-D93EBFE36144}">
  <a:tblStyle styleId="{133F6B79-F5F2-4B6F-ACAE-D93EBFE361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26" Type="http://schemas.openxmlformats.org/officeDocument/2006/relationships/font" Target="fonts/InterSemiBold-bold.fntdata"/><Relationship Id="rId25" Type="http://schemas.openxmlformats.org/officeDocument/2006/relationships/font" Target="fonts/InterSemiBold-regular.fntdata"/><Relationship Id="rId28" Type="http://schemas.openxmlformats.org/officeDocument/2006/relationships/font" Target="fonts/InterSemiBold-boldItalic.fntdata"/><Relationship Id="rId27" Type="http://schemas.openxmlformats.org/officeDocument/2006/relationships/font" Target="fonts/InterSemiBold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regular.fntdata"/><Relationship Id="rId31" Type="http://schemas.openxmlformats.org/officeDocument/2006/relationships/font" Target="fonts/Inter-italic.fntdata"/><Relationship Id="rId30" Type="http://schemas.openxmlformats.org/officeDocument/2006/relationships/font" Target="fonts/Inter-bold.fntdata"/><Relationship Id="rId33" Type="http://schemas.openxmlformats.org/officeDocument/2006/relationships/font" Target="fonts/Manrope-regular.fntdata"/><Relationship Id="rId32" Type="http://schemas.openxmlformats.org/officeDocument/2006/relationships/font" Target="fonts/Inter-boldItalic.fntdata"/><Relationship Id="rId35" Type="http://schemas.openxmlformats.org/officeDocument/2006/relationships/font" Target="fonts/RobotoMono-regular.fntdata"/><Relationship Id="rId34" Type="http://schemas.openxmlformats.org/officeDocument/2006/relationships/font" Target="fonts/Manrope-bold.fntdata"/><Relationship Id="rId37" Type="http://schemas.openxmlformats.org/officeDocument/2006/relationships/font" Target="fonts/RobotoMono-italic.fntdata"/><Relationship Id="rId36" Type="http://schemas.openxmlformats.org/officeDocument/2006/relationships/font" Target="fonts/RobotoMono-bold.fntdata"/><Relationship Id="rId38" Type="http://schemas.openxmlformats.org/officeDocument/2006/relationships/font" Target="fonts/RobotoMono-boldItalic.fntdata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a5178bf3d4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a5178bf3d4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1c7fec24e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g1c7fec24e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8a2e0143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g3d8a2e0143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8a2e0143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8a2e0143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8a2e01436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d8a2e01436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8a2e0143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d8a2e0143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a5178bf3d4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a5178bf3d4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8d940bdca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d8d940bdca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8e05a98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d8e05a98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8d940bdca_2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d8d940bdca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8d940bdca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d8d940bdca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8e05a9849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d8e05a9849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8e05a984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d8e05a984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8e05a9849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d8e05a984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prend les données nettoyées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entraîne 3 modèles sans chercher les meilleurs paramètres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prédit avec le seuil standard 0.5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mesure les résultats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c7feb7f43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g1c7feb7f4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8e05a984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d8e05a984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8e05a984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g3d8e05a984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a5178bf3d4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ga5178bf3d4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8a2e0143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d8a2e0143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718100" y="866768"/>
            <a:ext cx="64782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Titre professionnel Architecte en Intelligence Artificielle — bloc AIA 2</a:t>
            </a:r>
            <a:endParaRPr sz="2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4500" y="795925"/>
            <a:ext cx="721025" cy="7593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ctrTitle"/>
          </p:nvPr>
        </p:nvSpPr>
        <p:spPr>
          <a:xfrm>
            <a:off x="586150" y="1974329"/>
            <a:ext cx="4096800" cy="2453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fr" sz="37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Stripe Business Case (From SQL to NoSQL)</a:t>
            </a:r>
            <a:r>
              <a:rPr lang="fr"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Conception et déploiement de l'infrastructure de données</a:t>
            </a:r>
            <a:endParaRPr sz="32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7" name="Google Shape;57;p13" title="Capture d’écran 2026-04-23 à 15.59.59.png"/>
          <p:cNvPicPr preferRelativeResize="0"/>
          <p:nvPr/>
        </p:nvPicPr>
        <p:blipFill rotWithShape="1">
          <a:blip r:embed="rId4">
            <a:alphaModFix/>
          </a:blip>
          <a:srcRect b="0" l="6428" r="0" t="8156"/>
          <a:stretch/>
        </p:blipFill>
        <p:spPr>
          <a:xfrm>
            <a:off x="4939763" y="1811825"/>
            <a:ext cx="3992275" cy="288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78" name="Shape 178"/><p:cNvGrpSpPr/><p:nvPr/></p:nvGrpSpPr><p:grpSpPr><a:xfrm><a:off x="0" y="0"/><a:ext cx="0" cy="0"/><a:chOff x="0" y="0"/><a:chExt cx="0" cy="0"/></a:xfrm></p:grpSpPr><p:sp><p:nvSpPr><p:cNvPr id="179" name="Google Shape;179;p2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chemeClr val="dk1"/></a:buClr><a:buSzPts val="2800"/><a:buFont typeface="Arial"/><a:buNone/></a:pPr><a:r><a:rPr lang="fr" sz="2500"><a:solidFill><a:srgbClr val="0E3449"/></a:solidFill><a:latin typeface="Inter SemiBold"/><a:ea typeface="Inter SemiBold"/><a:cs typeface="Inter SemiBold"/><a:sym typeface="Inter SemiBold"/></a:rPr><a:t>Architecture à trois étages : OLTP, OLAP, NoSQL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80" name="Google Shape;180;p2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81" name="Google Shape;181;p2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182" name="Google Shape;182;p25"/><p:cNvSpPr txBox="1"/><p:nvPr/></p:nvSpPr><p:spPr><a:xfrm><a:off x="1261450" y="1017575"/><a:ext cx="1902900" cy="4617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OLTP : transactions, remboursements, fraude – PostgreSQL (ERD à concevoir)</a:t></a:r><a:endParaRPr sz="1800"><a:solidFill><a:schemeClr val="dk2"/></a:solidFill></a:endParaRPr></a:p></p:txBody></p:sp><p:sp><p:nvSpPr><p:cNvPr id="183" name="Google Shape;183;p25"/><p:cNvSpPr/><p:nvPr/></p:nvSpPr><p:spPr><a:xfrm><a:off x="650300" y="1861675"/><a:ext cx="23826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OLAP : analyses revenu, segmentation – DuckDB avec dbt, schéma en étoile</a:t></a:r><a:endParaRPr/></a:p></p:txBody></p:sp><p:sp><p:nvSpPr><p:cNvPr id="184" name="Google Shape;184;p25"/><p:cNvSpPr/><p:nvPr/></p:nvSpPr><p:spPr><a:xfrm><a:off x="3264775" y="1861675"/><a:ext cx="18561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NoSQL : journaux, sessions, retours clients – documents JSON immuables (moteur à choisir)</a:t></a:r><a:r><a:rPr lang="fr" sz="1650"><a:solidFill><a:srgbClr val="55575A"/></a:solidFill><a:latin typeface="Manrope"/><a:ea typeface="Manrope"/><a:cs typeface="Manrope"/><a:sym typeface="Manrope"/></a:rPr><a:t>PySpark 4 et Iceberg, chaque écriture crée un instantané restaurable</a:t></a:r><a:endParaRPr/></a:p></p:txBody></p:sp><p:sp><p:nvSpPr><p:cNvPr id="185" name="Google Shape;185;p25"/><p:cNvSpPr/><p:nvPr/></p:nvSpPr><p:spPr><a:xfrm><a:off x="5352750" y="1861675"/><a:ext cx="28773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Zone gold : dbt sur DuckDB — aucun service externe, donc aucune dépendance le jour J. ADR 0013, 0014, 0017.</a:t></a:r><a:br><a:rPr b="1"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Zone gold : dbt sur DuckDB — aucun service externe, donc aucune dépendance le jour J. ADR 0013, 0014, 0017.</a:t></a:r><a:endParaRPr/></a:p></p:txBody></p:sp></p:spTree></p:cSld><p:clrMapOvr><a:masterClrMapping/></p:clrMapOvr>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7"/>
          <p:cNvSpPr txBox="1"/>
          <p:nvPr>
            <p:ph idx="4294967295" type="ctrTitle"/>
          </p:nvPr>
        </p:nvSpPr>
        <p:spPr>
          <a:xfrm>
            <a:off x="1192687" y="403300"/>
            <a:ext cx="73170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 pipeline d'intégration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7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463375" y="1398100"/>
            <a:ext cx="8046300" cy="34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Modèle hybride : lots batch et flux temps réel</a:t>
            </a:r>
            <a:r>
              <a:rPr b="1" lang="fr" sz="2400">
                <a:solidFill>
                  <a:schemeClr val="dk2"/>
                </a:solidFill>
              </a:rPr>
              <a:t>CDC via Change Data Capture, Kafka prévu pour le flux temps réel</a:t>
            </a:r>
            <a:r>
              <a:rPr lang="fr" sz="2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/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Orchestration : Airflow, neuf tâches</a:t>
            </a:r>
            <a:r>
              <a:rPr b="1" lang="fr" sz="2400">
                <a:solidFill>
                  <a:schemeClr val="dk2"/>
                </a:solidFill>
              </a:rPr>
              <a:t>Tâches PySpark vers zone silver</a:t>
            </a:r>
            <a:r>
              <a:rPr lang="fr" sz="2400">
                <a:solidFill>
                  <a:schemeClr val="dk2"/>
                </a:solidFill>
              </a:rPr>
              <a:t>Tâches dbt vers zone gold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Validations Great Expectations aux trois zones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>MLflow gère les modèles, alias champion</a:t>
            </a:r>
            <a:r>
              <a:rPr b="1" lang="fr" sz="2400">
                <a:solidFill>
                  <a:schemeClr val="dk2"/>
                </a:solidFill>
              </a:rPr>
              <a:t>Synchronisation des trois systèmes assurée par CDC et Kafka (livrable)</a:t>
            </a:r>
            <a:r>
              <a:rPr lang="fr" sz="2400">
                <a:solidFill>
                  <a:schemeClr val="dk2"/>
                </a:solidFill>
              </a:rPr>
              <a:t>Conception du moteur NoSQL (livrable)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>Conception du schéma OLTP (livrable)</a:t>
            </a:r>
            <a:r>
              <a:rPr b="1" lang="fr" sz="2400">
                <a:solidFill>
                  <a:schemeClr val="dk2"/>
                </a:solidFill>
              </a:rPr>
              <a:t>Plan de partitionnement et sharding (livrable)</a:t>
            </a:r>
            <a:r>
              <a:rPr lang="fr" sz="2400">
                <a:solidFill>
                  <a:schemeClr val="dk2"/>
                </a:solidFill>
              </a:rPr>
              <a:t>Plan de conformité PCI‑DSS et RBAC (livrable)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>Diagramme d'architecture complet (livrable)</a:t>
            </a:r>
            <a:r>
              <a:rPr b="1" lang="fr" sz="2400">
                <a:solidFill>
                  <a:schemeClr val="dk2"/>
                </a:solidFill>
              </a:rPr>
              <a:t>Modèle de données NoSQL (livrable)</a:t>
            </a:r>
            <a:r>
              <a:rPr lang="fr" sz="2400">
                <a:solidFill>
                  <a:schemeClr val="dk2"/>
                </a:solidFill>
              </a:rPr>
              <a:t>Essai de charge du flux temps réel (livrable de conception)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Données : instantanés Iceberg listés via `make snapshots`</a:t>
            </a:r>
            <a:r>
              <a:rPr b="1" lang="fr" sz="2400">
                <a:solidFill>
                  <a:schemeClr val="dk2"/>
                </a:solidFill>
              </a:rPr>
              <a:t>Flux Kafka persistant, topics par domaine</a:t>
            </a:r>
            <a:r>
              <a:rPr lang="fr" sz="2400">
                <a:solidFill>
                  <a:schemeClr val="dk2"/>
                </a:solidFill>
              </a:rPr>
              <a:t>CDC capture les changements PostgreSQL vers Kafka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Airflow déclenche les jobs batch chaque nuit</a:t>
            </a:r>
            <a:endParaRPr b="1" sz="2400">
              <a:solidFill>
                <a:schemeClr val="dk2"/>
              </a:solidFill>
            </a:endParaRPr>
          </a:p>
        </p:txBody>
      </p:sp>
      <p:sp>
        <p:nvSpPr>
          <p:cNvPr id="203" name="Google Shape;203;p27"/>
          <p:cNvSpPr txBox="1"/>
          <p:nvPr/>
        </p:nvSpPr>
        <p:spPr>
          <a:xfrm>
            <a:off x="463375" y="936400"/>
            <a:ext cx="329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Déploiement via Docker</a:t>
            </a:r>
            <a:r>
              <a:rPr lang="fr" sz="1800">
                <a:solidFill>
                  <a:schemeClr val="dk2"/>
                </a:solidFill>
              </a:rPr>
              <a:t>Déploiement et retour arrière via alias</a:t>
            </a:r>
            <a:r>
              <a:rPr lang="fr" sz="1800">
                <a:solidFill>
                  <a:schemeClr val="dk2"/>
                </a:solidFill>
              </a:rPr>
              <a:t>Rollback possible avec `make rollback VERSION=n`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Sécurité et conformité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17" name="Google Shape;217;p2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9"/>
          <p:cNvSpPr txBox="1"/>
          <p:nvPr/>
        </p:nvSpPr>
        <p:spPr>
          <a:xfrm>
            <a:off x="514300" y="1142625"/>
            <a:ext cx="7835700" cy="3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Chiffrement des données au repos et en transit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Contrôle d'accès basé sur les rôles (RBAC)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Journal d’audit des accès et des modifications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RGPD : pseudonymisation HMAC, secret obligatoire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PCI‑DSS : exigences de protection des données de paiement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Surveillance automatisée des violations via alertes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reste à concevoir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Mise en place d’un canal d’alerte externe (Kafka)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Essai de charge mesuré sur l'API : 0 % d'erreur, 29,3 req/s, p99 925 ms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Kubernetes **écarté** pour la démonstration, décrit comme cible cloud : ADR 0012 et 0013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Gestion des clés et rotation automatisée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Documentation complète du plan de conformité (livrable)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Questions ?</a:t>
            </a:r>
            <a:endParaRPr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25" name="Google Shape;22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