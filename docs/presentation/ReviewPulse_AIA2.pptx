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8.xml"/>
  <Override ContentType="application/vnd.openxmlformats-officedocument.presentationml.slide+xml" PartName="/ppt/slides/slide1.xml"/>
  <Override ContentType="application/vnd.openxmlformats-officedocument.presentationml.slide+xml" PartName="/ppt/slides/slide13.xml"/>
  <Override ContentType="application/vnd.openxmlformats-officedocument.presentationml.slide+xml" PartName="/ppt/slides/slide15.xml"/>
  <Override ContentType="application/vnd.openxmlformats-officedocument.presentationml.slide+xml" PartName="/ppt/slides/slide1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8" r:id="rId18"/>
    <p:sldId id="270" r:id="rId20"/>
    <p:sldId id="272" r:id="rId22"/>
    <p:sldId id="273" r:id="rId23"/>
  </p:sldIdLst>
  <p:sldSz cy="5143500" cx="9144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anrope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F6B79-F5F2-4B6F-ACAE-D93EBFE36144}">
  <a:tblStyle styleId="{133F6B79-F5F2-4B6F-ACAE-D93EBFE361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33" Type="http://schemas.openxmlformats.org/officeDocument/2006/relationships/font" Target="fonts/Manrope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Mono-regular.fntdata"/><Relationship Id="rId34" Type="http://schemas.openxmlformats.org/officeDocument/2006/relationships/font" Target="fonts/Manrope-bold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8" Type="http://schemas.openxmlformats.org/officeDocument/2006/relationships/font" Target="fonts/RobotoMono-boldItalic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7fec24e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1c7fec24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a2e014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8a2e014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a2e0143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a2e014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a2e014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8a2e014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a2e014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a2e014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d940bdc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8d940bdc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e05a98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8e05a98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d940bd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8d940bd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d940bdca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8d940bdc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e05a98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8e05a98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e05a98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8e05a98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e05a984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e05a984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prend les données nettoyées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entraîne 3 modèles sans chercher les meilleurs paramètres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prédit avec le seuil standard 0.5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mesure les résultats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e05a98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8e05a98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e05a98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8e05a98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8a2e014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8a2e014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18100" y="866768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Titre professionnel Architecte en Intelligence Artificielle — bloc AIA 2</a:t>
            </a:r>
            <a:endParaRPr sz="21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586150" y="1974329"/>
            <a:ext cx="40968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fr" sz="37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Stripe Business Case (From SQL to NoSQL)</a:t>
            </a: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Conception et déploiement de l'infrastructure de données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7" name="Google Shape;57;p13" title="Capture d’écran 2026-04-23 à 15.59.59.png"/>
          <p:cNvPicPr preferRelativeResize="0"/>
          <p:nvPr/>
        </p:nvPicPr>
        <p:blipFill rotWithShape="1">
          <a:blip r:embed="rId4">
            <a:alphaModFix/>
          </a:blip>
          <a:srcRect b="0" l="6428" r="0" t="8156"/>
          <a:stretch/>
        </p:blipFill>
        <p:spPr>
          <a:xfrm>
            <a:off x="4939763" y="1811825"/>
            <a:ext cx="3992275" cy="28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à trois étages : OLTP, OLAP, NoSQL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1261450" y="1017575"/>
            <a:ext cx="190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OLTP : transactions, remboursements, fraude – PostgreSQL (ERD à concevoir)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650300" y="1861675"/>
            <a:ext cx="2382600" cy="1248600"/>
          </a:xfrm>
          <a:prstGeom prst="roundRect">
            <a:avLst>
              <a:gd fmla="val 11687" name="adj"/>
            </a:avLst>
          </a:prstGeom>
          <a:solidFill>
            <a:srgbClr val="FFFFFF"/>
          </a:solidFill>
          <a:ln cap="flat" cmpd="sng" w="9525">
            <a:solidFill>
              <a:srgbClr val="FF7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50">
                <a:solidFill>
                  <a:srgbClr val="55575A"/>
                </a:solidFill>
                <a:latin typeface="Manrope"/>
                <a:ea typeface="Manrope"/>
                <a:cs typeface="Manrope"/>
                <a:sym typeface="Manrope"/>
              </a:rPr>
              <a:t>OLAP : analyses revenu, segmentation – DuckDB avec dbt, schéma en étoile</a:t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3264775" y="1861675"/>
            <a:ext cx="1856100" cy="1248600"/>
          </a:xfrm>
          <a:prstGeom prst="roundRect">
            <a:avLst>
              <a:gd fmla="val 11687" name="adj"/>
            </a:avLst>
          </a:prstGeom>
          <a:solidFill>
            <a:srgbClr val="FFFFFF"/>
          </a:solidFill>
          <a:ln cap="flat" cmpd="sng" w="9525">
            <a:solidFill>
              <a:srgbClr val="FF7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50">
                <a:solidFill>
                  <a:srgbClr val="55575A"/>
                </a:solidFill>
                <a:latin typeface="Manrope"/>
                <a:ea typeface="Manrope"/>
                <a:cs typeface="Manrope"/>
                <a:sym typeface="Manrope"/>
              </a:rPr>
              <a:t>NoSQL : journaux, sessions, retours clients – documents JSON immuables (moteur à choisir)</a:t>
            </a:r>
            <a:r>
              <a:rPr lang="fr" sz="1650">
                <a:solidFill>
                  <a:srgbClr val="55575A"/>
                </a:solidFill>
                <a:latin typeface="Manrope"/>
                <a:ea typeface="Manrope"/>
                <a:cs typeface="Manrope"/>
                <a:sym typeface="Manrope"/>
              </a:rPr>
              <a:t>PySpark 4 et Iceberg, chaque écriture crée un instantané restaurable</a:t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5352750" y="1861675"/>
            <a:ext cx="2877300" cy="1248600"/>
          </a:xfrm>
          <a:prstGeom prst="roundRect">
            <a:avLst>
              <a:gd fmla="val 11687" name="adj"/>
            </a:avLst>
          </a:prstGeom>
          <a:solidFill>
            <a:srgbClr val="FFFFFF"/>
          </a:solidFill>
          <a:ln cap="flat" cmpd="sng" w="9525">
            <a:solidFill>
              <a:srgbClr val="FF7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50">
                <a:solidFill>
                  <a:srgbClr val="55575A"/>
                </a:solidFill>
                <a:latin typeface="Manrope"/>
                <a:ea typeface="Manrope"/>
                <a:cs typeface="Manrope"/>
                <a:sym typeface="Manrope"/>
              </a:rPr>
              <a:t>Zone gold : dbt sur DuckDB — aucun service externe, donc aucune dépendance le jour J. ADR 0013, 0014, 0017.</a:t>
            </a:r>
            <a:br>
              <a:rPr b="1" lang="fr" sz="1650">
                <a:solidFill>
                  <a:srgbClr val="55575A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fr" sz="1650">
                <a:solidFill>
                  <a:srgbClr val="55575A"/>
                </a:solidFill>
                <a:latin typeface="Manrope"/>
                <a:ea typeface="Manrope"/>
                <a:cs typeface="Manrope"/>
                <a:sym typeface="Manrope"/>
              </a:rPr>
              <a:t>Zone gold : dbt sur DuckDB — aucun service externe, donc aucune dépendance le jour J. ADR 0013, 0014, 0017.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ctrTitle"/>
          </p:nvPr>
        </p:nvSpPr>
        <p:spPr>
          <a:xfrm>
            <a:off x="1192687" y="403300"/>
            <a:ext cx="7317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pipeline d'intégration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63375" y="1398100"/>
            <a:ext cx="80463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Modèle hybride : lots batch et flux temps réel</a:t>
            </a:r>
            <a:r>
              <a:rPr b="1" lang="fr" sz="2400">
                <a:solidFill>
                  <a:schemeClr val="dk2"/>
                </a:solidFill>
              </a:rPr>
              <a:t>CDC via Change Data Capture, Kafka prévu pour le flux temps réel</a:t>
            </a:r>
            <a:r>
              <a:rPr lang="f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Orchestration : Airflow, neuf tâches</a:t>
            </a:r>
            <a:r>
              <a:rPr b="1" lang="fr" sz="2400">
                <a:solidFill>
                  <a:schemeClr val="dk2"/>
                </a:solidFill>
              </a:rPr>
              <a:t>Tâches PySpark vers zone silver</a:t>
            </a:r>
            <a:r>
              <a:rPr lang="fr" sz="2400">
                <a:solidFill>
                  <a:schemeClr val="dk2"/>
                </a:solidFill>
              </a:rPr>
              <a:t>Tâches dbt vers zone gold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Validations Great Expectations aux trois zones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>MLflow gère les modèles, alias champion</a:t>
            </a:r>
            <a:r>
              <a:rPr b="1" lang="fr" sz="2400">
                <a:solidFill>
                  <a:schemeClr val="dk2"/>
                </a:solidFill>
              </a:rPr>
              <a:t>Synchronisation des trois systèmes assurée par CDC et Kafka (livrable)</a:t>
            </a:r>
            <a:r>
              <a:rPr lang="fr" sz="2400">
                <a:solidFill>
                  <a:schemeClr val="dk2"/>
                </a:solidFill>
              </a:rPr>
              <a:t>Conception du moteur NoSQL (livrable)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>Conception du schéma OLTP (livrable)</a:t>
            </a:r>
            <a:r>
              <a:rPr b="1" lang="fr" sz="2400">
                <a:solidFill>
                  <a:schemeClr val="dk2"/>
                </a:solidFill>
              </a:rPr>
              <a:t>Plan de partitionnement et sharding (livrable)</a:t>
            </a:r>
            <a:r>
              <a:rPr lang="fr" sz="2400">
                <a:solidFill>
                  <a:schemeClr val="dk2"/>
                </a:solidFill>
              </a:rPr>
              <a:t>Plan de conformité PCI‑DSS et RBAC (livrable)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>Diagramme d'architecture complet (livrable)</a:t>
            </a:r>
            <a:r>
              <a:rPr b="1" lang="fr" sz="2400">
                <a:solidFill>
                  <a:schemeClr val="dk2"/>
                </a:solidFill>
              </a:rPr>
              <a:t>Modèle de données NoSQL (livrable)</a:t>
            </a:r>
            <a:r>
              <a:rPr lang="fr" sz="2400">
                <a:solidFill>
                  <a:schemeClr val="dk2"/>
                </a:solidFill>
              </a:rPr>
              <a:t>Essai de charge du flux temps réel (livrable de conception)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Données : instantanés Iceberg listés via `make snapshots`</a:t>
            </a:r>
            <a:r>
              <a:rPr b="1" lang="fr" sz="2400">
                <a:solidFill>
                  <a:schemeClr val="dk2"/>
                </a:solidFill>
              </a:rPr>
              <a:t>Flux Kafka persistant, topics par domaine</a:t>
            </a:r>
            <a:r>
              <a:rPr lang="fr" sz="2400">
                <a:solidFill>
                  <a:schemeClr val="dk2"/>
                </a:solidFill>
              </a:rPr>
              <a:t>CDC capture les changements PostgreSQL vers Kafka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Airflow déclenche les jobs batch chaque nuit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63375" y="93640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Déploiement via Docker</a:t>
            </a:r>
            <a:r>
              <a:rPr lang="fr" sz="1800">
                <a:solidFill>
                  <a:schemeClr val="dk2"/>
                </a:solidFill>
              </a:rPr>
              <a:t>Déploiement et retour arrière via alias</a:t>
            </a:r>
            <a:r>
              <a:rPr lang="fr" sz="1800">
                <a:solidFill>
                  <a:schemeClr val="dk2"/>
                </a:solidFill>
              </a:rPr>
              <a:t>Rollback possible avec `make rollback VERSION=n`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Sécurité et conformité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514300" y="1142625"/>
            <a:ext cx="78357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Chiffrement des données au repos et en transit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Contrôle d'accès basé sur les rôles (RBAC)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Journal d’audit des accès et des modifications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RGPD : pseudonymisation HMAC, secret obligatoire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PCI‑DSS : exigences de protection des données de paiement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Surveillance automatisée des violations via alertes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reste à concevoir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Mise en place d’un canal d’alerte externe (Kafka)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Essai de charge mesuré sur l'API : 0 % d'erreur, 29,3 req/s, p99 925 ms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Kubernetes **écarté** pour la démonstration, décrit comme cible cloud : ADR 0012 et 0013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Gestion des clés et rotation automatisée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Documentation complète du plan de conformité (livrable)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?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