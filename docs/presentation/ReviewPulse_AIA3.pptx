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8.xml"/>
  <Override ContentType="application/vnd.openxmlformats-officedocument.presentationml.slide+xml" PartName="/ppt/slides/slide1.xml"/>
  <Override ContentType="application/vnd.openxmlformats-officedocument.presentationml.slide+xml" PartName="/ppt/slides/slide13.xml"/>
  <Override ContentType="application/vnd.openxmlformats-officedocument.presentationml.slide+xml" PartName="/ppt/slides/slide15.xml"/>
  <Override ContentType="application/vnd.openxmlformats-officedocument.presentationml.slide+xml" PartName="/ppt/slides/slide1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68" r:id="rId18"/>
    <p:sldId id="270" r:id="rId20"/>
    <p:sldId id="272" r:id="rId22"/>
    <p:sldId id="273" r:id="rId23"/>
  </p:sldIdLst>
  <p:sldSz cy="5143500" cx="9144000"/>
  <p:notesSz cx="6858000" cy="9144000"/>
  <p:embeddedFontLst>
    <p:embeddedFont>
      <p:font typeface="Inter SemiBold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Manrope"/>
      <p:regular r:id="rId33"/>
      <p:bold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3F6B79-F5F2-4B6F-ACAE-D93EBFE36144}">
  <a:tblStyle styleId="{133F6B79-F5F2-4B6F-ACAE-D93EBFE361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33" Type="http://schemas.openxmlformats.org/officeDocument/2006/relationships/font" Target="fonts/Manrope-regular.fntdata"/><Relationship Id="rId32" Type="http://schemas.openxmlformats.org/officeDocument/2006/relationships/font" Target="fonts/Inter-boldItalic.fntdata"/><Relationship Id="rId35" Type="http://schemas.openxmlformats.org/officeDocument/2006/relationships/font" Target="fonts/RobotoMono-regular.fntdata"/><Relationship Id="rId34" Type="http://schemas.openxmlformats.org/officeDocument/2006/relationships/font" Target="fonts/Manrope-bold.fntdata"/><Relationship Id="rId37" Type="http://schemas.openxmlformats.org/officeDocument/2006/relationships/font" Target="fonts/RobotoMono-italic.fntdata"/><Relationship Id="rId36" Type="http://schemas.openxmlformats.org/officeDocument/2006/relationships/font" Target="fonts/RobotoMono-bold.fntdata"/><Relationship Id="rId38" Type="http://schemas.openxmlformats.org/officeDocument/2006/relationships/font" Target="fonts/RobotoMono-boldItalic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5178bf3d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a5178bf3d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7fec24e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1c7fec24e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8a2e0143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d8a2e0143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a2e0143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a2e0143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8a2e0143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d8a2e0143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a2e014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8a2e014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5178bf3d4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a5178bf3d4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8d940bdca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8d940bdca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8e05a984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d8e05a984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8d940bdca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8d940bdca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8d940bdca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d8d940bdca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8e05a984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d8e05a984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8e05a984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d8e05a984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8e05a984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8e05a984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prend les données nettoyées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entraîne 3 modèles sans chercher les meilleurs paramètres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prédit avec le seuil standard 0.5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mesure les résultats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c7feb7f4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1c7feb7f4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8e05a98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d8e05a98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8e05a984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d8e05a984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a5178bf3d4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a5178bf3d4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8a2e0143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8a2e0143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718100" y="866768"/>
            <a:ext cx="6478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2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Automatic Fraud Detection — Bloc AIA 3</a:t>
            </a:r>
            <a:endParaRPr sz="210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00" y="795925"/>
            <a:ext cx="721025" cy="7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586150" y="1974329"/>
            <a:ext cx="4096800" cy="24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fr" sz="37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ReviewPulse</a:t>
            </a:r>
            <a:r>
              <a:rPr lang="fr" sz="3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 : orchestration du pipeline de données</a:t>
            </a:r>
            <a:endParaRPr sz="32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7" name="Google Shape;57;p13" title="Capture d’écran 2026-04-23 à 15.59.59.png"/>
          <p:cNvPicPr preferRelativeResize="0"/>
          <p:nvPr/>
        </p:nvPicPr>
        <p:blipFill rotWithShape="1">
          <a:blip r:embed="rId4">
            <a:alphaModFix/>
          </a:blip>
          <a:srcRect b="0" l="6428" r="0" t="8156"/>
          <a:stretch/>
        </p:blipFill>
        <p:spPr>
          <a:xfrm>
            <a:off x="4939763" y="1811825"/>
            <a:ext cx="3992275" cy="28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 standalone="yes"?>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<p:cSld><p:spTree><p:nvGrpSpPr><p:cNvPr id="178" name="Shape 178"/><p:cNvGrpSpPr/><p:nvPr/></p:nvGrpSpPr><p:grpSpPr><a:xfrm><a:off x="0" y="0"/><a:ext cx="0" cy="0"/><a:chOff x="0" y="0"/><a:chExt cx="0" cy="0"/></a:xfrm></p:grpSpPr><p:sp><p:nvSpPr><p:cNvPr id="179" name="Google Shape;179;p25"/><p:cNvSpPr txBox="1"/><p:nvPr><p:ph idx="4294967295" type="ctrTitle"/></p:nvPr></p:nvSpPr><p:spPr><a:xfrm><a:off x="1192664" y="403309"/><a:ext cx="5315100" cy="533100"/></a:xfrm><a:prstGeom prst="rect"><a:avLst/></a:prstGeom><a:noFill/><a:ln><a:noFill/></a:ln></p:spPr><p:txBody><a:bodyPr anchorCtr="0" anchor="t" bIns="91425" lIns="91425" spcFirstLastPara="1" rIns="91425" wrap="square" tIns="91425"><a:noAutofit/></a:bodyPr><a:lstStyle/><a:p><a:pPr indent="0" lvl="0" marL="0" marR="0" rtl="0" algn="l"><a:lnSpc><a:spcPct val="100000"/></a:lnSpc><a:spcBef><a:spcPts val="0"/></a:spcBef><a:spcAft><a:spcPts val="0"/></a:spcAft><a:buClr><a:schemeClr val="dk1"/></a:buClr><a:buSzPts val="2800"/><a:buFont typeface="Arial"/><a:buNone/></a:pPr><a:r><a:rPr lang="fr" sz="2500"><a:solidFill><a:srgbClr val="0E3449"/></a:solidFill><a:latin typeface="Inter SemiBold"/><a:ea typeface="Inter SemiBold"/><a:cs typeface="Inter SemiBold"/><a:sym typeface="Inter SemiBold"/></a:rPr><a:t>Les choix d'infrastructure</a:t></a:r><a:endParaRPr i="0" sz="2500" u="none" cap="none" strike="noStrike"><a:solidFill><a:srgbClr val="0E3449"/></a:solidFill><a:latin typeface="Inter SemiBold"/><a:ea typeface="Inter SemiBold"/><a:cs typeface="Inter SemiBold"/><a:sym typeface="Inter SemiBold"/></a:endParaRPr></a:p></p:txBody></p:sp><p:sp><p:nvSpPr><p:cNvPr id="180" name="Google Shape;180;p25"/><p:cNvSpPr/><p:nvPr/></p:nvSpPr><p:spPr><a:xfrm><a:off x="10225" y="4892025"/><a:ext cx="9144000" cy="251400"/></a:xfrm><a:prstGeom prst="rect"><a:avLst/></a:prstGeom><a:solidFill><a:srgbClr val="C3FFFC"/></a:solidFill><a:ln><a:noFill/></a:ln></p:spPr><p:txBody><a:bodyPr anchorCtr="0" anchor="ctr" bIns="91425" lIns="91425" spcFirstLastPara="1" rIns="91425" wrap="square" tIns="91425"><a:noAutofit/></a:bodyPr><a:lstStyle/><a:p><a:pPr indent="0" lvl="0" marL="0" marR="0" rtl="0" algn="l"><a:lnSpc><a:spcPct val="100000"/></a:lnSpc><a:spcBef><a:spcPts val="0"/></a:spcBef><a:spcAft><a:spcPts val="0"/></a:spcAft><a:buClr><a:srgbClr val="000000"/></a:buClr><a:buSzPts val="1400"/><a:buFont typeface="Arial"/><a:buNone/></a:pPr><a:r><a:t></a:t></a:r><a:endParaRPr b="0" i="0" sz="1400" u="none" cap="none" strike="noStrike"><a:solidFill><a:srgbClr val="000000"/></a:solidFill><a:latin typeface="Arial"/><a:ea typeface="Arial"/><a:cs typeface="Arial"/><a:sym typeface="Arial"/></a:endParaRPr></a:p></p:txBody></p:sp><p:pic><p:nvPicPr><p:cNvPr id="181" name="Google Shape;181;p25"/><p:cNvPicPr preferRelativeResize="0"/><p:nvPr/></p:nvPicPr><p:blipFill rotWithShape="1"><a:blip r:embed="rId3"><a:alphaModFix/></a:blip><a:srcRect b="0" l="0" r="0" t="0"/><a:stretch/></p:blipFill><p:spPr><a:xfrm><a:off x="463375" y="482852"/><a:ext cx="576900" cy="385904"/></a:xfrm><a:prstGeom prst="rect"><a:avLst/></a:prstGeom><a:noFill/><a:ln><a:noFill/></a:ln></p:spPr></p:pic><p:sp><p:nvSpPr><p:cNvPr id="182" name="Google Shape;182;p25"/><p:cNvSpPr txBox="1"/><p:nvPr/></p:nvSpPr><p:spPr><a:xfrm><a:off x="1261450" y="1017575"/><a:ext cx="1902900" cy="461700"/></a:xfrm><a:prstGeom prst="rect"><a:avLst/></a:prstGeom><a:noFill/><a:ln><a:noFill/></a:ln></p:spPr><p:txBody><a:bodyPr anchorCtr="0" anchor="t" bIns="91425" lIns="91425" spcFirstLastPara="1" rIns="91425" wrap="square" tIns="91425"><a:spAutoFit/></a:bodyPr><a:lstStyle/><a:p><a:pPr indent="0" lvl="0" marL="0" rtl="0" algn="l"><a:spcBef><a:spcPts val="0"/></a:spcBef><a:spcAft><a:spcPts val="0"/></a:spcAft><a:buNone/></a:pPr><a:r><a:rPr lang="fr" sz="1800"><a:solidFill><a:schemeClr val="dk2"/></a:solidFill></a:rPr><a:t>Une seule pile, deux environnements</a:t></a:r><a:endParaRPr sz="1800"><a:solidFill><a:schemeClr val="dk2"/></a:solidFill></a:endParaRPr></a:p></p:txBody></p:sp><p:sp><p:nvSpPr><p:cNvPr id="183" name="Google Shape;183;p25"/><p:cNvSpPr/><p:nvPr/></p:nvSpPr><p:spPr><a:xfrm><a:off x="650300" y="1861675"/><a:ext cx="2382600" cy="12486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>Conteneurs : une image applicative, une image Airflow, une image de développement</a:t></a:r><a:endParaRPr/></a:p></p:txBody></p:sp><p:sp><p:nvSpPr><p:cNvPr id="184" name="Google Shape;184;p25"/><p:cNvSpPr/><p:nvPr/></p:nvSpPr><p:spPr><a:xfrm><a:off x="3264775" y="1861675"/><a:ext cx="1856100" cy="12486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>Zone silver : collecte &amp; stockage – ingest.py, zone brute immuable, idempotence par curseur</a:t></a:r><a:r><a:rPr lang="fr" sz="1650"><a:solidFill><a:srgbClr val="55575A"/></a:solidFill><a:latin typeface="Manrope"/><a:ea typeface="Manrope"/><a:cs typeface="Manrope"/><a:sym typeface="Manrope"/></a:rPr><a:t>PySpark 4 et Iceberg, chaque écriture crée un instantané restaurable – ETL vers silver</a:t></a:r><a:endParaRPr/></a:p></p:txBody></p:sp><p:sp><p:nvSpPr><p:cNvPr id="185" name="Google Shape;185;p25"/><p:cNvSpPr/><p:nvPr/></p:nvSpPr><p:spPr><a:xfrm><a:off x="5352750" y="1861675"/><a:ext cx="2877300" cy="12486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>Zone gold : consommation – score.py API FastAPI</a:t></a:r><a:br><a:rPr b="1" lang="fr" sz="1650"><a:solidFill><a:srgbClr val="55575A"/></a:solidFill><a:latin typeface="Manrope"/><a:ea typeface="Manrope"/><a:cs typeface="Manrope"/><a:sym typeface="Manrope"/></a:rPr></a:br><a:r><a:rPr lang="fr" sz="1650"><a:solidFill><a:srgbClr val="55575A"/></a:solidFill><a:latin typeface="Manrope"/><a:ea typeface="Manrope"/><a:cs typeface="Manrope"/><a:sym typeface="Manrope"/></a:rPr><a:t>Zone gold : dbt sur DuckDB — aucun service externe, donc aucune dépendance le jour J. ADR 0013, 0014, 0017.</a:t></a:r><a:endParaRPr/></a:p></p:txBody></p:sp></p:spTree></p:cSld><p:clrMapOvr><a:masterClrMapping/></p:clrMapOvr>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idx="4294967295" type="ctrTitle"/>
          </p:nvPr>
        </p:nvSpPr>
        <p:spPr>
          <a:xfrm>
            <a:off x="1192687" y="403300"/>
            <a:ext cx="73170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déploiement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463375" y="1398100"/>
            <a:ext cx="8046300" cy="3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 xml:space="preserve">Modèle servi par alias, pas par copie de fichier : </a:t>
            </a:r>
            <a:r>
              <a:rPr b="1" lang="fr" sz="2400">
                <a:solidFill>
                  <a:schemeClr val="dk2"/>
                </a:solidFill>
              </a:rPr>
              <a:t>MLflow désigne une version `champion` ; l'API sert celle-là, et rien d'autre.</a:t>
            </a:r>
            <a:r>
              <a:rPr lang="fr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 xml:space="preserve">Barrière de promotion : </a:t>
            </a:r>
            <a:r>
              <a:rPr b="1" lang="fr" sz="2400">
                <a:solidFill>
                  <a:schemeClr val="dk2"/>
                </a:solidFill>
              </a:rPr>
              <a:t>F1 macro ≥ 0,75</a:t>
            </a:r>
            <a:r>
              <a:rPr lang="fr" sz="2400">
                <a:solidFill>
                  <a:schemeClr val="dk2"/>
                </a:solidFill>
              </a:rPr>
              <a:t xml:space="preserve"> et strictement meilleur que le champion en place (ADR 0008).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Constaté en conditions réelles :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 xml:space="preserve">un modèle à métriques égales </a:t>
            </a:r>
            <a:r>
              <a:rPr b="1" lang="fr" sz="2400">
                <a:solidFill>
                  <a:schemeClr val="dk2"/>
                </a:solidFill>
              </a:rPr>
              <a:t>n'est pas promu</a:t>
            </a:r>
            <a:r>
              <a:rPr lang="fr" sz="2400">
                <a:solidFill>
                  <a:schemeClr val="dk2"/>
                </a:solidFill>
              </a:rPr>
              <a:t xml:space="preserve"> — la barrière l'a refusé.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 xml:space="preserve">Retour arrière : </a:t>
            </a:r>
            <a:r>
              <a:rPr b="1" lang="fr" sz="2400">
                <a:solidFill>
                  <a:schemeClr val="dk2"/>
                </a:solidFill>
              </a:rPr>
              <a:t>`make rollback VERSION=n`</a:t>
            </a:r>
            <a:r>
              <a:rPr lang="fr" sz="2400">
                <a:solidFill>
                  <a:schemeClr val="dk2"/>
                </a:solidFill>
              </a:rPr>
              <a:t xml:space="preserve"> rebascule l'alias, vérifié dans les deux sens le 19/09.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 xml:space="preserve">Registre sauvegardé </a:t>
            </a:r>
            <a:r>
              <a:rPr b="1" lang="fr" sz="2400">
                <a:solidFill>
                  <a:schemeClr val="dk2"/>
                </a:solidFill>
              </a:rPr>
              <a:t>hors du volume Docker</a:t>
            </a:r>
            <a:r>
              <a:rPr lang="fr" sz="2400">
                <a:solidFill>
                  <a:schemeClr val="dk2"/>
                </a:solidFill>
              </a:rPr>
              <a:t xml:space="preserve"> ; restauration essayée, versions et alias retrouvés.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 xml:space="preserve">Données : </a:t>
            </a:r>
            <a:r>
              <a:rPr b="1" lang="fr" sz="2400">
                <a:solidFill>
                  <a:schemeClr val="dk2"/>
                </a:solidFill>
              </a:rPr>
              <a:t>instantanés Iceberg</a:t>
            </a:r>
            <a:r>
              <a:rPr lang="fr" sz="2400">
                <a:solidFill>
                  <a:schemeClr val="dk2"/>
                </a:solidFill>
              </a:rPr>
              <a:t xml:space="preserve"> listés et restaurables par `make snapshots`.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Le 16/09, la suppression d'un volume a détruit le registre. Le lac, lui, était sur le disque : il a survécu. D'où la sauvegarde. ADR 0008, 0016, 0018.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463375" y="936400"/>
            <a:ext cx="32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</a:t>
            </a:r>
            <a:r>
              <a:rPr lang="fr" sz="1800">
                <a:solidFill>
                  <a:schemeClr val="dk2"/>
                </a:solidFill>
              </a:rPr>
              <a:t xml:space="preserve">éploiement et retour </a:t>
            </a:r>
            <a:r>
              <a:rPr lang="fr" sz="1800">
                <a:solidFill>
                  <a:schemeClr val="dk2"/>
                </a:solidFill>
              </a:rPr>
              <a:t>arrière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Surveillance et veille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514300" y="1142625"/>
            <a:ext cx="78357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Ce qui est mesuré à chaque passage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PSI des entrées, sur le flux naturel seul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Part des couples jeu/langue/jour hors des bornes de la charte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Alerte écrite hors du journal : fichier daté, horodatage UTC et commit – aujourd’hui pour dérive, pas encore pour fraude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Réentraînement déclenché par la dérive, en dérivation du DAG quotidien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Ce que la mesure a corrigé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La dérive mesurait notre plan de collecte, pas la population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Fenêtre ancienne 85 % francophone contre récente 91 % anglophone : PSI 3,10 sur la langue, écarté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Seules les colonnes du modèle peuvent lever une alerte (ADR 0015 révisée)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Veille : AI Act, dérive, explicabilité linéaire exacte plutôt que SHAP — ADR 0015, 0019, 0020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Ce qui reste ouvert – revue quotidienne des paiements de la veille non couverte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Ce qui manque, assumé par écrit : Kafka et le temps réel, le stockage objet, le déploiement public. Kubernetes est **écarté** pour la démonstration et décrit comme cible — ADR 0027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5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Questions ?</a:t>
            </a:r>
            <a:endParaRPr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25" name="Google Shape;2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