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8.xml"/>
  <Override ContentType="application/vnd.openxmlformats-officedocument.presentationml.slide+xml" PartName="/ppt/slides/slide1.xml"/>
  <Override ContentType="application/vnd.openxmlformats-officedocument.presentationml.slide+xml" PartName="/ppt/slides/slide13.xml"/>
  <Override ContentType="application/vnd.openxmlformats-officedocument.presentationml.slide+xml" PartName="/ppt/slides/slide15.xml"/>
  <Override ContentType="application/vnd.openxmlformats-officedocument.presentationml.slide+xml" PartName="/ppt/slides/slide1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8" r:id="rId18"/>
    <p:sldId id="270" r:id="rId20"/>
    <p:sldId id="272" r:id="rId22"/>
    <p:sldId id="273" r:id="rId23"/>
  </p:sldIdLst>
  <p:sldSz cy="5143500" cx="9144000"/>
  <p:notesSz cx="6858000" cy="9144000"/>
  <p:embeddedFontLst>
    <p:embeddedFont>
      <p:font typeface="Inter SemiBold"/>
      <p:regular r:id="rId25"/>
      <p:bold r:id="rId26"/>
      <p:italic r:id="rId27"/>
      <p:boldItalic r:id="rId28"/>
    </p:embeddedFont>
    <p:embeddedFont>
      <p:font typeface="Inter"/>
      <p:regular r:id="rId29"/>
      <p:bold r:id="rId30"/>
      <p:italic r:id="rId31"/>
      <p:boldItalic r:id="rId32"/>
    </p:embeddedFont>
    <p:embeddedFont>
      <p:font typeface="Manrope"/>
      <p:regular r:id="rId33"/>
      <p:bold r:id="rId34"/>
    </p:embeddedFont>
    <p:embeddedFont>
      <p:font typeface="Roboto Mono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3F6B79-F5F2-4B6F-ACAE-D93EBFE36144}">
  <a:tblStyle styleId="{133F6B79-F5F2-4B6F-ACAE-D93EBFE361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26" Type="http://schemas.openxmlformats.org/officeDocument/2006/relationships/font" Target="fonts/InterSemiBold-bold.fntdata"/><Relationship Id="rId25" Type="http://schemas.openxmlformats.org/officeDocument/2006/relationships/font" Target="fonts/InterSemiBold-regular.fntdata"/><Relationship Id="rId28" Type="http://schemas.openxmlformats.org/officeDocument/2006/relationships/font" Target="fonts/InterSemiBold-boldItalic.fntdata"/><Relationship Id="rId27" Type="http://schemas.openxmlformats.org/officeDocument/2006/relationships/font" Target="fonts/InterSemiBold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regular.fntdata"/><Relationship Id="rId31" Type="http://schemas.openxmlformats.org/officeDocument/2006/relationships/font" Target="fonts/Inter-italic.fntdata"/><Relationship Id="rId30" Type="http://schemas.openxmlformats.org/officeDocument/2006/relationships/font" Target="fonts/Inter-bold.fntdata"/><Relationship Id="rId33" Type="http://schemas.openxmlformats.org/officeDocument/2006/relationships/font" Target="fonts/Manrope-regular.fntdata"/><Relationship Id="rId32" Type="http://schemas.openxmlformats.org/officeDocument/2006/relationships/font" Target="fonts/Inter-boldItalic.fntdata"/><Relationship Id="rId35" Type="http://schemas.openxmlformats.org/officeDocument/2006/relationships/font" Target="fonts/RobotoMono-regular.fntdata"/><Relationship Id="rId34" Type="http://schemas.openxmlformats.org/officeDocument/2006/relationships/font" Target="fonts/Manrope-bold.fntdata"/><Relationship Id="rId37" Type="http://schemas.openxmlformats.org/officeDocument/2006/relationships/font" Target="fonts/RobotoMono-italic.fntdata"/><Relationship Id="rId36" Type="http://schemas.openxmlformats.org/officeDocument/2006/relationships/font" Target="fonts/RobotoMono-bold.fntdata"/><Relationship Id="rId38" Type="http://schemas.openxmlformats.org/officeDocument/2006/relationships/font" Target="fonts/RobotoMono-boldItalic.fntdata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a5178bf3d4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ga5178bf3d4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1c7fec24e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g1c7fec24e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8a2e01436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" name="Google Shape;69;g3d8a2e01436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8a2e0143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8a2e0143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8a2e01436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g3d8a2e01436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rgbClr val="27251E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8a2e01436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g3d8a2e01436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a5178bf3d4_2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a5178bf3d4_2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8d940bdca_2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8d940bdc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8e05a9849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g3d8e05a9849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d8d940bdca_2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g3d8d940bdca_2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d8d940bdca_2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d8d940bdca_2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8e05a9849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8e05a9849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d8e05a9849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g3d8e05a984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d8e05a9849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g3d8e05a984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prend les données nettoyées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entraîne 3 modèles sans chercher les meilleurs paramètres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prédit avec le seuil standard 0.5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"/>
              <a:t>→ On mesure les résultats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c7feb7f43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g1c7feb7f43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8e05a9849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g3d8e05a9849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8e05a9849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4" name="Google Shape;214;g3d8e05a9849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a5178bf3d4_2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ga5178bf3d4_2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d8a2e014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d8a2e014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FDAD2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1718100" y="866768"/>
            <a:ext cx="6478200" cy="61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fr" sz="2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Titre professionnel Architecte en Intelligence Artificielle — bloc 4</a:t>
            </a:r>
            <a:endParaRPr sz="210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4500" y="795925"/>
            <a:ext cx="721025" cy="7593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ctrTitle"/>
          </p:nvPr>
        </p:nvSpPr>
        <p:spPr>
          <a:xfrm>
            <a:off x="586150" y="1974329"/>
            <a:ext cx="4096800" cy="2453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fr" sz="37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ReviewPulse</a:t>
            </a:r>
            <a:r>
              <a:rPr lang="fr" sz="3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 xml:space="preserve"> : industrialisation, déploiement et surveillance</a:t>
            </a:r>
            <a:endParaRPr sz="320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7" name="Google Shape;57;p13" title="Capture d’écran 2026-04-23 à 15.59.59.png"/>
          <p:cNvPicPr preferRelativeResize="0"/>
          <p:nvPr/>
        </p:nvPicPr>
        <p:blipFill rotWithShape="1">
          <a:blip r:embed="rId4">
            <a:alphaModFix/>
          </a:blip>
          <a:srcRect b="0" l="6428" r="0" t="8156"/>
          <a:stretch/>
        </p:blipFill>
        <p:spPr>
          <a:xfrm>
            <a:off x="4939763" y="1811825"/>
            <a:ext cx="3992275" cy="288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Les choix d'infrastructure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5"/>
          <p:cNvSpPr txBox="1"/>
          <p:nvPr/>
        </p:nvSpPr>
        <p:spPr>
          <a:xfrm>
            <a:off x="1261450" y="1017575"/>
            <a:ext cx="1902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Une seule pile, deux environnements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3" name="Google Shape;183;p25"/>
          <p:cNvSpPr/>
          <p:nvPr/>
        </p:nvSpPr>
        <p:spPr>
          <a:xfrm>
            <a:off x="650300" y="1861675"/>
            <a:ext cx="2382600" cy="12486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95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Conteneurs : une image applicative, une image Airflow, une image de développement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3264775" y="1861675"/>
            <a:ext cx="1856100" cy="12486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95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 xml:space="preserve">Zone silver : </a:t>
            </a:r>
            <a:r>
              <a:rPr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PySpark 4 et Iceberg, chaque écriture crée un instantané restaurable</a:t>
            </a:r>
            <a:endParaRPr/>
          </a:p>
        </p:txBody>
      </p:sp>
      <p:sp>
        <p:nvSpPr>
          <p:cNvPr id="185" name="Google Shape;185;p25"/>
          <p:cNvSpPr/>
          <p:nvPr/>
        </p:nvSpPr>
        <p:spPr>
          <a:xfrm>
            <a:off x="5352750" y="1861675"/>
            <a:ext cx="2877300" cy="1248600"/>
          </a:xfrm>
          <a:prstGeom prst="roundRect">
            <a:avLst>
              <a:gd fmla="val 11687" name="adj"/>
            </a:avLst>
          </a:prstGeom>
          <a:solidFill>
            <a:srgbClr val="FFFFFF"/>
          </a:solidFill>
          <a:ln cap="flat" cmpd="sng" w="9525">
            <a:solidFill>
              <a:srgbClr val="FF7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 xml:space="preserve">Zone gold : </a:t>
            </a:r>
            <a:br>
              <a:rPr b="1"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lang="fr" sz="1650">
                <a:solidFill>
                  <a:srgbClr val="55575A"/>
                </a:solidFill>
                <a:latin typeface="Manrope"/>
                <a:ea typeface="Manrope"/>
                <a:cs typeface="Manrope"/>
                <a:sym typeface="Manrope"/>
              </a:rPr>
              <a:t>Zone gold : dbt sur DuckDB — aucun service externe, donc aucune dépendance le jour J. ADR 0013, 0014, 0017.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7"/>
          <p:cNvSpPr txBox="1"/>
          <p:nvPr>
            <p:ph idx="4294967295" type="ctrTitle"/>
          </p:nvPr>
        </p:nvSpPr>
        <p:spPr>
          <a:xfrm>
            <a:off x="1192687" y="403300"/>
            <a:ext cx="73170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déploiement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7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463375" y="1398100"/>
            <a:ext cx="8046300" cy="34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Modèle servi par alias, pas par copie de fichier : </a:t>
            </a:r>
            <a:r>
              <a:rPr b="1" lang="fr" sz="2400">
                <a:solidFill>
                  <a:schemeClr val="dk2"/>
                </a:solidFill>
              </a:rPr>
              <a:t>MLflow désigne une version `champion` ; l'API sert celle-là, et rien d'autre.</a:t>
            </a:r>
            <a:r>
              <a:rPr lang="fr" sz="24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/>
            </a:r>
            <a:endParaRPr sz="24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Barrière de promotion : </a:t>
            </a:r>
            <a:r>
              <a:rPr b="1" lang="fr" sz="2400">
                <a:solidFill>
                  <a:schemeClr val="dk2"/>
                </a:solidFill>
              </a:rPr>
              <a:t>F1 macro ≥ 0,75</a:t>
            </a:r>
            <a:r>
              <a:rPr lang="fr" sz="2400">
                <a:solidFill>
                  <a:schemeClr val="dk2"/>
                </a:solidFill>
              </a:rPr>
              <a:t xml:space="preserve"> et strictement meilleur que le champion en place (ADR 0008).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Constaté en conditions réelles :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un modèle à métriques égales </a:t>
            </a:r>
            <a:r>
              <a:rPr b="1" lang="fr" sz="2400">
                <a:solidFill>
                  <a:schemeClr val="dk2"/>
                </a:solidFill>
              </a:rPr>
              <a:t>n'est pas promu</a:t>
            </a:r>
            <a:r>
              <a:rPr lang="fr" sz="2400">
                <a:solidFill>
                  <a:schemeClr val="dk2"/>
                </a:solidFill>
              </a:rPr>
              <a:t xml:space="preserve"> — la barrière l'a refusé.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Retour arrière : </a:t>
            </a:r>
            <a:r>
              <a:rPr b="1" lang="fr" sz="2400">
                <a:solidFill>
                  <a:schemeClr val="dk2"/>
                </a:solidFill>
              </a:rPr>
              <a:t>`make rollback VERSION=n`</a:t>
            </a:r>
            <a:r>
              <a:rPr lang="fr" sz="2400">
                <a:solidFill>
                  <a:schemeClr val="dk2"/>
                </a:solidFill>
              </a:rPr>
              <a:t xml:space="preserve"> rebascule l'alias, vérifié dans les deux sens le 19/09.</a:t>
            </a:r>
            <a:endParaRPr sz="2400">
              <a:solidFill>
                <a:schemeClr val="dk2"/>
              </a:solidFill>
            </a:endParaRPr>
          </a:p>
          <a:p>
            <a:pPr indent="-33528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100000"/>
              <a:buChar char="●"/>
            </a:pPr>
            <a:r>
              <a:rPr lang="fr" sz="2400">
                <a:solidFill>
                  <a:schemeClr val="dk2"/>
                </a:solidFill>
              </a:rPr>
              <a:t xml:space="preserve">Registre sauvegardé </a:t>
            </a:r>
            <a:r>
              <a:rPr b="1" lang="fr" sz="2400">
                <a:solidFill>
                  <a:schemeClr val="dk2"/>
                </a:solidFill>
              </a:rPr>
              <a:t>hors du volume Docker</a:t>
            </a:r>
            <a:r>
              <a:rPr lang="fr" sz="2400">
                <a:solidFill>
                  <a:schemeClr val="dk2"/>
                </a:solidFill>
              </a:rPr>
              <a:t xml:space="preserve"> ; restauration essayée, versions et alias retrouvés.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 xml:space="preserve">Données : </a:t>
            </a:r>
            <a:r>
              <a:rPr b="1" lang="fr" sz="2400">
                <a:solidFill>
                  <a:schemeClr val="dk2"/>
                </a:solidFill>
              </a:rPr>
              <a:t>instantanés Iceberg</a:t>
            </a:r>
            <a:r>
              <a:rPr lang="fr" sz="2400">
                <a:solidFill>
                  <a:schemeClr val="dk2"/>
                </a:solidFill>
              </a:rPr>
              <a:t xml:space="preserve"> listés et restaurables par `make snapshots`.</a:t>
            </a:r>
            <a:endParaRPr sz="24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fr" sz="2400">
                <a:solidFill>
                  <a:schemeClr val="dk2"/>
                </a:solidFill>
              </a:rPr>
              <a:t>Le 16/09, la suppression d'un volume a détruit le registre. Le lac, lui, était sur le disque : il a survécu. D'où la sauvegarde. ADR 0008, 0016, 0018.</a:t>
            </a:r>
            <a:endParaRPr b="1" sz="2400">
              <a:solidFill>
                <a:schemeClr val="dk2"/>
              </a:solidFill>
            </a:endParaRPr>
          </a:p>
        </p:txBody>
      </p:sp>
      <p:sp>
        <p:nvSpPr>
          <p:cNvPr id="203" name="Google Shape;203;p27"/>
          <p:cNvSpPr txBox="1"/>
          <p:nvPr/>
        </p:nvSpPr>
        <p:spPr>
          <a:xfrm>
            <a:off x="463375" y="936400"/>
            <a:ext cx="3297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chemeClr val="dk2"/>
                </a:solidFill>
              </a:rPr>
              <a:t>D</a:t>
            </a:r>
            <a:r>
              <a:rPr lang="fr" sz="1800">
                <a:solidFill>
                  <a:schemeClr val="dk2"/>
                </a:solidFill>
              </a:rPr>
              <a:t xml:space="preserve">éploiement et retour </a:t>
            </a:r>
            <a:r>
              <a:rPr lang="fr" sz="1800">
                <a:solidFill>
                  <a:schemeClr val="dk2"/>
                </a:solidFill>
              </a:rPr>
              <a:t>arrière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 txBox="1"/>
          <p:nvPr>
            <p:ph idx="4294967295" type="ctrTitle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25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Surveillance et veille</a:t>
            </a:r>
            <a:endParaRPr i="0" sz="25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217" name="Google Shape;217;p2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9"/>
          <p:cNvSpPr txBox="1"/>
          <p:nvPr/>
        </p:nvSpPr>
        <p:spPr>
          <a:xfrm>
            <a:off x="514300" y="1142625"/>
            <a:ext cx="7835700" cy="3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est mesuré à chaque passage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PSI des entrées, sur le flux naturel seul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Part des couples jeu/langue/jour hors des bornes de la charte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Alerte écrite hors du journal : fichier daté, horodatage UTC et commit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Réentraînement déclenché par la dérive, en dérivation du DAG quotidien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que la mesure a corrigé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La dérive mesurait notre plan de collecte, pas la population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Fenêtre ancienne 85 % francophone contre récente 91 % anglophone : PSI 3,10 sur la langue, écarté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Seules les colonnes du modèle peuvent lever une alerte (ADR 0015 révisée)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Veille : AI Act, dérive, explicabilité linéaire exacte plutôt que SHAP — ADR 0015, 0019, 0020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fr" sz="1300">
                <a:solidFill>
                  <a:schemeClr val="dk2"/>
                </a:solidFill>
                <a:highlight>
                  <a:srgbClr val="FFFFFF"/>
                </a:highlight>
              </a:rPr>
              <a:t>Ce qui reste ouvert</a:t>
            </a:r>
            <a:endParaRPr b="1" sz="1300">
              <a:solidFill>
                <a:schemeClr val="dk2"/>
              </a:solidFill>
              <a:highlight>
                <a:srgbClr val="FFFFFF"/>
              </a:highlight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Char char="●"/>
            </a:pPr>
            <a:r>
              <a:rPr lang="fr" sz="1300">
                <a:solidFill>
                  <a:schemeClr val="dk2"/>
                </a:solidFill>
                <a:highlight>
                  <a:srgbClr val="FFFFFF"/>
                </a:highlight>
              </a:rPr>
              <a:t>Canal d'alerte externe, essai de charge, Kafka, stockage objet, déploiement public — cible Kubernetes documentée (ADR 0012, 0013)</a:t>
            </a:r>
            <a:endParaRPr sz="1300">
              <a:solidFill>
                <a:schemeClr val="dk2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Questions ?</a:t>
            </a:r>
            <a:endParaRPr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225" name="Google Shape;225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