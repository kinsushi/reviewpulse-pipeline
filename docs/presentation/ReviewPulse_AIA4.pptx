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4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industrialisation, déploiement et surveillance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 standalone="yes"?>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<p:cSld><p:spTree><p:nvGrpSpPr><p:cNvPr id="178" name="Shape 178"/><p:cNvGrpSpPr/><p:nvPr/></p:nvGrpSpPr><p:grpSpPr><a:xfrm><a:off x="0" y="0"/><a:ext cx="0" cy="0"/><a:chOff x="0" y="0"/><a:chExt cx="0" cy="0"/></a:xfrm></p:grpSpPr><p:sp><p:nvSpPr><p:cNvPr id="179" name="Google Shape;179;p25"/><p:cNvSpPr txBox="1"/><p:nvPr><p:ph idx="4294967295" type="ctrTitle"/></p:nvPr></p:nvSpPr><p:spPr><a:xfrm><a:off x="1192664" y="403309"/><a:ext cx="5315100" cy="533100"/></a:xfrm><a:prstGeom prst="rect"><a:avLst/></a:prstGeom><a:noFill/><a:ln><a:noFill/></a:ln></p:spPr><p:txBody><a:bodyPr anchorCtr="0" anchor="t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chemeClr val="dk1"/></a:buClr><a:buSzPts val="2800"/><a:buFont typeface="Arial"/><a:buNone/></a:pPr><a:r><a:rPr lang="fr" sz="2500"><a:solidFill><a:srgbClr val="0E3449"/></a:solidFill><a:latin typeface="Inter SemiBold"/><a:ea typeface="Inter SemiBold"/><a:cs typeface="Inter SemiBold"/><a:sym typeface="Inter SemiBold"/></a:rPr><a:t>Les choix d'infrastructure</a:t></a:r><a:endParaRPr i="0" sz="2500" u="none" cap="none" strike="noStrike"><a:solidFill><a:srgbClr val="0E3449"/></a:solidFill><a:latin typeface="Inter SemiBold"/><a:ea typeface="Inter SemiBold"/><a:cs typeface="Inter SemiBold"/><a:sym typeface="Inter SemiBold"/></a:endParaRPr></a:p></p:txBody></p:sp><p:sp><p:nvSpPr><p:cNvPr id="180" name="Google Shape;180;p25"/><p:cNvSpPr/><p:nvPr/></p:nvSpPr><p:spPr><a:xfrm><a:off x="10225" y="4892025"/><a:ext cx="9144000" cy="251400"/></a:xfrm><a:prstGeom prst="rect"><a:avLst/></a:prstGeom><a:solidFill><a:srgbClr val="C3FFFC"/></a:solidFill><a:ln><a:noFill/></a:ln></p:spPr><p:txBody><a:bodyPr anchorCtr="0" anchor="ctr" bIns="91425" lIns="91425" spcFirstLastPara="1" rIns="91425" wrap="square" tIns="91425"><a:noAutofit/></a:bodyPr><a:lstStyle/><a:p><a:pPr indent="0" lvl="0" marL="0" marR="0" rtl="0" algn="l"><a:lnSpc><a:spcPct val="100000"/></a:lnSpc><a:spcBef><a:spcPts val="0"/></a:spcBef><a:spcAft><a:spcPts val="0"/></a:spcAft><a:buClr><a:srgbClr val="000000"/></a:buClr><a:buSzPts val="1400"/><a:buFont typeface="Arial"/><a:buNone/></a:pPr><a:r><a:t></a:t></a:r><a:endParaRPr b="0" i="0" sz="1400" u="none" cap="none" strike="noStrike"><a:solidFill><a:srgbClr val="000000"/></a:solidFill><a:latin typeface="Arial"/><a:ea typeface="Arial"/><a:cs typeface="Arial"/><a:sym typeface="Arial"/></a:endParaRPr></a:p></p:txBody></p:sp><p:pic><p:nvPicPr><p:cNvPr id="181" name="Google Shape;181;p25"/><p:cNvPicPr preferRelativeResize="0"/><p:nvPr/></p:nvPicPr><p:blipFill rotWithShape="1"><a:blip r:embed="rId3"><a:alphaModFix/></a:blip><a:srcRect b="0" l="0" r="0" t="0"/><a:stretch/></p:blipFill><p:spPr><a:xfrm><a:off x="463375" y="482852"/><a:ext cx="576900" cy="385904"/></a:xfrm><a:prstGeom prst="rect"><a:avLst/></a:prstGeom><a:noFill/><a:ln><a:noFill/></a:ln></p:spPr></p:pic><p:sp><p:nvSpPr><p:cNvPr id="182" name="Google Shape;182;p25"/><p:cNvSpPr txBox="1"/><p:nvPr/></p:nvSpPr><p:spPr><a:xfrm><a:off x="1261450" y="1017575"/><a:ext cx="1902900" cy="461700"/></a:xfrm><a:prstGeom prst="rect"><a:avLst/></a:prstGeom><a:noFill/><a:ln><a:noFill/></a:ln></p:spPr><p:txBody><a:bodyPr anchorCtr="0" anchor="t" bIns="91425" lIns="91425" spcFirstLastPara="1" rIns="91425" wrap="square" tIns="91425"><a:spAutoFit/></a:bodyPr><a:lstStyle/><a:p><a:pPr indent="0" lvl="0" marL="0" rtl="0" algn="l"><a:spcBef><a:spcPts val="0"/></a:spcBef><a:spcAft><a:spcPts val="0"/></a:spcAft><a:buNone/></a:pPr><a:r><a:rPr lang="fr" sz="1800"><a:solidFill><a:schemeClr val="dk2"/></a:solidFill></a:rPr><a:t>Une seule pile, deux environnements</a:t></a:r><a:endParaRPr sz="1800"><a:solidFill><a:schemeClr val="dk2"/></a:solidFill></a:endParaRPr></a:p></p:txBody></p:sp><p:sp><p:nvSpPr><p:cNvPr id="183" name="Google Shape;183;p25"/><p:cNvSpPr/><p:nvPr/></p:nvSpPr><p:spPr><a:xfrm><a:off x="650300" y="1861675"/><a:ext cx="23826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>Conteneurs : une image applicative, une image Airflow, une image de développement</a:t></a:r><a:endParaRPr/></a:p></p:txBody></p:sp><p:sp><p:nvSpPr><p:cNvPr id="184" name="Google Shape;184;p25"/><p:cNvSpPr/><p:nvPr/></p:nvSpPr><p:spPr><a:xfrm><a:off x="3264775" y="1861675"/><a:ext cx="18561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silver : </a:t></a:r><a:r><a:rPr lang="fr" sz="1650"><a:solidFill><a:srgbClr val="55575A"/></a:solidFill><a:latin typeface="Manrope"/><a:ea typeface="Manrope"/><a:cs typeface="Manrope"/><a:sym typeface="Manrope"/></a:rPr><a:t>PySpark 4 et Iceberg, chaque écriture crée un instantané restaurable</a:t></a:r><a:endParaRPr/></a:p></p:txBody></p:sp><p:sp><p:nvSpPr><p:cNvPr id="185" name="Google Shape;185;p25"/><p:cNvSpPr/><p:nvPr/></p:nvSpPr><p:spPr><a:xfrm><a:off x="5352750" y="1861675"/><a:ext cx="2877300" cy="1248600"/></a:xfrm><a:prstGeom prst="roundRect"><a:avLst><a:gd fmla="val 11687" name="adj"/></a:avLst></a:prstGeom><a:solidFill><a:srgbClr val="FFFFFF"/></a:solidFill><a:ln cap="flat" cmpd="sng" w="9525"><a:solidFill><a:srgbClr val="FF7047"/></a:solidFill><a:prstDash val="solid"/><a:round/><a:headEnd len="sm" w="sm" type="none"/><a:tailEnd len="sm" w="sm" type="none"/ xml:space="preserve">Zone gold : </a:t></a:r><a:br><a:rPr b="1" lang="fr" sz="1650"><a:solidFill><a:srgbClr val="55575A"/></a:solidFill><a:latin typeface="Manrope"/><a:ea typeface="Manrope"/><a:cs typeface="Manrope"/><a:sym typeface="Manrope"/></a:rPr></a:br><a:r><a:rPr lang="fr" sz="1650"><a:solidFill><a:srgbClr val="55575A"/></a:solidFill><a:latin typeface="Manrope"/><a:ea typeface="Manrope"/><a:cs typeface="Manrope"/><a:sym typeface="Manrope"/></a:rPr><a:t>dbt sur DuckDB — aucun service externe, donc aucune dépendance le jour J (ADR 0013)</a:t></a:r><a:endParaRPr/></a:p></p:txBody></p:sp></p:spTree></p:cSld><p:clrMapOvr><a:masterClrMapping/></p:clrMapOvr>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Canal d'alerte externe, Kafka, stockage objet, déploiement public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