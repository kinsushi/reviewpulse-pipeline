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8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13.xml"/>
  <Override ContentType="application/vnd.openxmlformats-officedocument.presentationml.slide+xml" PartName="/ppt/slides/slide15.xml"/>
  <Override ContentType="application/vnd.openxmlformats-officedocument.presentationml.slide+xml" PartName="/ppt/slides/slide17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61" r:id="rId11"/>
    <p:sldId id="268" r:id="rId18"/>
    <p:sldId id="269" r:id="rId19"/>
    <p:sldId id="270" r:id="rId20"/>
    <p:sldId id="272" r:id="rId22"/>
    <p:sldId id="273" r:id="rId23"/>
  </p:sldIdLst>
  <p:sldSz cy="5143500" cx="9144000"/>
  <p:notesSz cx="6858000" cy="9144000"/>
  <p:embeddedFontLst>
    <p:embeddedFont>
      <p:font typeface="Inter SemiBold"/>
      <p:regular r:id="rId25"/>
      <p:bold r:id="rId26"/>
      <p:italic r:id="rId27"/>
      <p:boldItalic r:id="rId28"/>
    </p:embeddedFont>
    <p:embeddedFont>
      <p:font typeface="Inter"/>
      <p:regular r:id="rId29"/>
      <p:bold r:id="rId30"/>
      <p:italic r:id="rId31"/>
      <p:boldItalic r:id="rId32"/>
    </p:embeddedFont>
    <p:embeddedFont>
      <p:font typeface="Manrope"/>
      <p:regular r:id="rId33"/>
      <p:bold r:id="rId34"/>
    </p:embeddedFont>
    <p:embeddedFont>
      <p:font typeface="Roboto Mono"/>
      <p:regular r:id="rId35"/>
      <p:bold r:id="rId36"/>
      <p:italic r:id="rId37"/>
      <p:boldItalic r:id="rId38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133F6B79-F5F2-4B6F-ACAE-D93EBFE36144}">
  <a:tblStyle styleId="{133F6B79-F5F2-4B6F-ACAE-D93EBFE36144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26" Type="http://schemas.openxmlformats.org/officeDocument/2006/relationships/font" Target="fonts/InterSemiBold-bold.fntdata"/><Relationship Id="rId25" Type="http://schemas.openxmlformats.org/officeDocument/2006/relationships/font" Target="fonts/InterSemiBold-regular.fntdata"/><Relationship Id="rId28" Type="http://schemas.openxmlformats.org/officeDocument/2006/relationships/font" Target="fonts/InterSemiBold-boldItalic.fntdata"/><Relationship Id="rId27" Type="http://schemas.openxmlformats.org/officeDocument/2006/relationships/font" Target="fonts/InterSemiBold-italic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font" Target="fonts/Inter-regular.fntdata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font" Target="fonts/Inter-italic.fntdata"/><Relationship Id="rId30" Type="http://schemas.openxmlformats.org/officeDocument/2006/relationships/font" Target="fonts/Inter-bold.fntdata"/><Relationship Id="rId11" Type="http://schemas.openxmlformats.org/officeDocument/2006/relationships/slide" Target="slides/slide6.xml"/><Relationship Id="rId33" Type="http://schemas.openxmlformats.org/officeDocument/2006/relationships/font" Target="fonts/Manrope-regular.fntdata"/><Relationship Id="rId32" Type="http://schemas.openxmlformats.org/officeDocument/2006/relationships/font" Target="fonts/Inter-boldItalic.fntdata"/><Relationship Id="rId35" Type="http://schemas.openxmlformats.org/officeDocument/2006/relationships/font" Target="fonts/RobotoMono-regular.fntdata"/><Relationship Id="rId34" Type="http://schemas.openxmlformats.org/officeDocument/2006/relationships/font" Target="fonts/Manrope-bold.fntdata"/><Relationship Id="rId37" Type="http://schemas.openxmlformats.org/officeDocument/2006/relationships/font" Target="fonts/RobotoMono-italic.fntdata"/><Relationship Id="rId36" Type="http://schemas.openxmlformats.org/officeDocument/2006/relationships/font" Target="fonts/RobotoMono-bold.fntdata"/><Relationship Id="rId38" Type="http://schemas.openxmlformats.org/officeDocument/2006/relationships/font" Target="fonts/RobotoMono-boldItalic.fntdata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ga5178bf3d4_2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ga5178bf3d4_2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g1c7fec24e01_0_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0" name="Google Shape;60;g1c7fec24e01_0_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g3d8a2e01436_0_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9" name="Google Shape;69;g3d8a2e01436_0_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200">
              <a:solidFill>
                <a:srgbClr val="27251E"/>
              </a:solidFill>
              <a:latin typeface="Georgia"/>
              <a:ea typeface="Georgia"/>
              <a:cs typeface="Georgia"/>
              <a:sym typeface="Georgia"/>
            </a:endParaRPr>
          </a:p>
          <a:p>
            <a:pPr indent="0" lvl="0" marL="0" rtl="0" algn="l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g3d8a2e01436_0_3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0" name="Google Shape;80;g3d8a2e01436_0_3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g3d8a2e01436_0_8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g3d8a2e01436_0_8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 sz="1200">
              <a:solidFill>
                <a:srgbClr val="27251E"/>
              </a:solidFill>
              <a:latin typeface="Georgia"/>
              <a:ea typeface="Georgia"/>
              <a:cs typeface="Georgia"/>
              <a:sym typeface="Georgia"/>
            </a:endParaRPr>
          </a:p>
          <a:p>
            <a:pPr indent="0" lvl="0" marL="0" rtl="0" algn="l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g3d8a2e01436_0_2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0" name="Google Shape;100;g3d8a2e01436_0_2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7575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ga5178bf3d4_2_1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5" name="Google Shape;115;ga5178bf3d4_2_1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g3d8d940bdca_2_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5" name="Google Shape;125;g3d8d940bdca_2_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g3d8e05a9849_0_10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5" name="Google Shape;135;g3d8e05a9849_0_10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g3d8d940bdca_2_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5" name="Google Shape;145;g3d8d940bdca_2_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g3d8d940bdca_2_2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55" name="Google Shape;155;g3d8d940bdca_2_2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2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g3d8e05a9849_0_3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64" name="Google Shape;164;g3d8e05a9849_0_3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g3d8e05a9849_0_5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77" name="Google Shape;177;g3d8e05a9849_0_5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g3d8e05a9849_0_8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88" name="Google Shape;188;g3d8e05a9849_0_8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fr"/>
              <a:t>→ On prend les données nettoyées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fr"/>
              <a:t>→ On entraîne 3 modèles sans chercher les meilleurs paramètres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fr"/>
              <a:t>→ On prédit avec le seuil standard 0.5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fr"/>
              <a:t>→ On mesure les résultats</a:t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g1c7feb7f43d_0_4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97" name="Google Shape;197;g1c7feb7f43d_0_4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g3d8e05a9849_0_2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06" name="Google Shape;206;g3d8e05a9849_0_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2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g3d8e05a9849_0_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14" name="Google Shape;214;g3d8e05a9849_0_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ga5178bf3d4_2_4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22" name="Google Shape;222;ga5178bf3d4_2_4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7" name="Shape 2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Google Shape;228;g3d8a2e01436_0_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9" name="Google Shape;229;g3d8a2e01436_0_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3.png"/><Relationship Id="rId4" Type="http://schemas.openxmlformats.org/officeDocument/2006/relationships/image" Target="../media/image12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.png"/><Relationship Id="rId4" Type="http://schemas.openxmlformats.org/officeDocument/2006/relationships/image" Target="../media/image4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9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3FDAD2"/>
        </a:solidFill>
      </p:bgPr>
    </p:bg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>
            <p:ph type="ctrTitle"/>
          </p:nvPr>
        </p:nvSpPr>
        <p:spPr>
          <a:xfrm>
            <a:off x="1718100" y="866768"/>
            <a:ext cx="6478200" cy="617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</a:pPr>
            <a:r>
              <a:rPr lang="fr" sz="2100">
                <a:solidFill>
                  <a:srgbClr val="0E3449"/>
                </a:solidFill>
                <a:latin typeface="Inter"/>
                <a:ea typeface="Inter"/>
                <a:cs typeface="Inter"/>
                <a:sym typeface="Inter"/>
              </a:rPr>
              <a:t>Bootcamp Data Lead — Demo Day</a:t>
            </a:r>
            <a:endParaRPr sz="2100">
              <a:solidFill>
                <a:srgbClr val="0E3449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id="55" name="Google Shape;55;p1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44500" y="795925"/>
            <a:ext cx="721025" cy="759375"/>
          </a:xfrm>
          <a:prstGeom prst="rect">
            <a:avLst/>
          </a:prstGeom>
          <a:noFill/>
          <a:ln>
            <a:noFill/>
          </a:ln>
        </p:spPr>
      </p:pic>
      <p:sp>
        <p:nvSpPr>
          <p:cNvPr id="56" name="Google Shape;56;p13"/>
          <p:cNvSpPr txBox="1"/>
          <p:nvPr>
            <p:ph type="ctrTitle"/>
          </p:nvPr>
        </p:nvSpPr>
        <p:spPr>
          <a:xfrm>
            <a:off x="586150" y="1974329"/>
            <a:ext cx="4096800" cy="24534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</a:pPr>
            <a:r>
              <a:rPr b="1" lang="fr" sz="3700">
                <a:solidFill>
                  <a:srgbClr val="0E3449"/>
                </a:solidFill>
                <a:latin typeface="Inter"/>
                <a:ea typeface="Inter"/>
                <a:cs typeface="Inter"/>
                <a:sym typeface="Inter"/>
              </a:rPr>
              <a:t>ReviewPulse</a:t>
            </a:r>
            <a:r>
              <a:rPr lang="fr" sz="320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 xml:space="preserve"> : les avis Steam négatifs triés chaque matin</a:t>
            </a:r>
            <a:endParaRPr sz="3200">
              <a:solidFill>
                <a:srgbClr val="0E3449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pic>
        <p:nvPicPr>
          <p:cNvPr id="57" name="Google Shape;57;p13" title="Capture d’écran 2026-04-23 à 15.59.59.png"/>
          <p:cNvPicPr preferRelativeResize="0"/>
          <p:nvPr/>
        </p:nvPicPr>
        <p:blipFill rotWithShape="1">
          <a:blip r:embed="rId4">
            <a:alphaModFix/>
          </a:blip>
          <a:srcRect b="0" l="6428" r="0" t="8156"/>
          <a:stretch/>
        </p:blipFill>
        <p:spPr>
          <a:xfrm>
            <a:off x="4939763" y="1811825"/>
            <a:ext cx="3992275" cy="28889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4"/>
          <p:cNvSpPr/>
          <p:nvPr/>
        </p:nvSpPr>
        <p:spPr>
          <a:xfrm>
            <a:off x="5500" y="-17775"/>
            <a:ext cx="3335400" cy="5161200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3" name="Google Shape;63;p14"/>
          <p:cNvSpPr txBox="1"/>
          <p:nvPr>
            <p:ph type="title"/>
          </p:nvPr>
        </p:nvSpPr>
        <p:spPr>
          <a:xfrm>
            <a:off x="390600" y="1138675"/>
            <a:ext cx="2727600" cy="3458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b="1" lang="fr" sz="2400">
                <a:solidFill>
                  <a:srgbClr val="015955"/>
                </a:solidFill>
                <a:latin typeface="Inter"/>
                <a:ea typeface="Inter"/>
                <a:cs typeface="Inter"/>
                <a:sym typeface="Inter"/>
              </a:rPr>
              <a:t>Projet individuel :</a:t>
            </a:r>
            <a:endParaRPr b="1" sz="2400">
              <a:solidFill>
                <a:srgbClr val="015955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id="64" name="Google Shape;64;p1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65" name="Google Shape;65;p14"/>
          <p:cNvSpPr txBox="1"/>
          <p:nvPr/>
        </p:nvSpPr>
        <p:spPr>
          <a:xfrm>
            <a:off x="463375" y="1880400"/>
            <a:ext cx="2238600" cy="326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2500">
                <a:solidFill>
                  <a:schemeClr val="dk2"/>
                </a:solidFill>
              </a:rPr>
              <a:t>Enzo</a:t>
            </a:r>
            <a:endParaRPr sz="25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5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2500">
                <a:solidFill>
                  <a:schemeClr val="dk2"/>
                </a:solidFill>
              </a:rPr>
              <a:t/>
            </a:r>
            <a:endParaRPr sz="25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5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2500">
                <a:solidFill>
                  <a:schemeClr val="dk2"/>
                </a:solidFill>
              </a:rPr>
              <a:t/>
            </a:r>
            <a:endParaRPr sz="25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5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2500">
                <a:solidFill>
                  <a:schemeClr val="dk2"/>
                </a:solidFill>
              </a:rPr>
              <a:t/>
            </a:r>
            <a:endParaRPr sz="25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500">
              <a:solidFill>
                <a:schemeClr val="dk2"/>
              </a:solidFill>
            </a:endParaRPr>
          </a:p>
        </p:txBody>
      </p:sp>
      <p:sp>
        <p:nvSpPr>
          <p:cNvPr id="66" name="Google Shape;66;p14"/>
          <p:cNvSpPr txBox="1"/>
          <p:nvPr/>
        </p:nvSpPr>
        <p:spPr>
          <a:xfrm>
            <a:off x="3952025" y="826200"/>
            <a:ext cx="4433400" cy="443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2400">
                <a:solidFill>
                  <a:srgbClr val="015955"/>
                </a:solidFill>
              </a:rPr>
              <a:t>Sommaire</a:t>
            </a:r>
            <a:endParaRPr b="1" sz="2400">
              <a:solidFill>
                <a:srgbClr val="015955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2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AutoNum type="arabicPeriod"/>
            </a:pPr>
            <a:r>
              <a:rPr lang="fr" sz="1800">
                <a:solidFill>
                  <a:schemeClr val="dk2"/>
                </a:solidFill>
              </a:rPr>
              <a:t>Problème métier et décision servie</a:t>
            </a:r>
            <a:endParaRPr sz="1800">
              <a:solidFill>
                <a:schemeClr val="dk2"/>
              </a:solidFill>
            </a:endParaRPr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2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AutoNum type="arabicPeriod"/>
            </a:pPr>
            <a:r>
              <a:rPr lang="fr" sz="1800">
                <a:solidFill>
                  <a:schemeClr val="dk2"/>
                </a:solidFill>
              </a:rPr>
              <a:t>Les données réelles</a:t>
            </a:r>
            <a:br>
              <a:rPr lang="fr" sz="1800">
                <a:solidFill>
                  <a:schemeClr val="dk2"/>
                </a:solidFill>
              </a:rPr>
            </a:br>
            <a:endParaRPr sz="1800">
              <a:solidFill>
                <a:schemeClr val="dk2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AutoNum type="arabicPeriod"/>
            </a:pPr>
            <a:r>
              <a:rPr lang="fr" sz="1800">
                <a:solidFill>
                  <a:schemeClr val="dk2"/>
                </a:solidFill>
              </a:rPr>
              <a:t>La chaîne de bout en bout</a:t>
            </a:r>
            <a:endParaRPr sz="1800">
              <a:solidFill>
                <a:schemeClr val="dk2"/>
              </a:solidFill>
            </a:endParaRPr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2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AutoNum type="arabicPeriod"/>
            </a:pPr>
            <a:r>
              <a:rPr lang="fr" sz="1800">
                <a:solidFill>
                  <a:schemeClr val="dk2"/>
                </a:solidFill>
              </a:rPr>
              <a:t>Le modèle et sa preuve</a:t>
            </a:r>
            <a:br>
              <a:rPr lang="fr" sz="1800">
                <a:solidFill>
                  <a:schemeClr val="dk2"/>
                </a:solidFill>
              </a:rPr>
            </a:br>
            <a:endParaRPr sz="1800">
              <a:solidFill>
                <a:schemeClr val="dk2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AutoNum type="arabicPeriod"/>
            </a:pPr>
            <a:r>
              <a:rPr lang="fr" sz="1800">
                <a:solidFill>
                  <a:schemeClr val="dk2"/>
                </a:solidFill>
              </a:rPr>
              <a:t xml:space="preserve">Démonstration </a:t>
            </a:r>
            <a:r>
              <a:rPr lang="fr" sz="1800">
                <a:solidFill>
                  <a:schemeClr val="dk2"/>
                </a:solidFill>
              </a:rPr>
              <a:t>en direct</a:t>
            </a:r>
            <a:endParaRPr sz="1800">
              <a:solidFill>
                <a:schemeClr val="dk2"/>
              </a:solidFill>
            </a:endParaRPr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2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AutoNum type="arabicPeriod"/>
            </a:pPr>
            <a:r>
              <a:rPr lang="fr" sz="1800">
                <a:solidFill>
                  <a:schemeClr val="dk2"/>
                </a:solidFill>
              </a:rPr>
              <a:t>Industrialisation et suite</a:t>
            </a:r>
            <a:endParaRPr sz="18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3.xml><?xml version="1.0" encoding="UTF-8" standalone="yes"?>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<p:cSld><p:spTree><p:nvGrpSpPr><p:cNvPr id="70" name="Shape 70"/><p:cNvGrpSpPr/><p:nvPr/></p:nvGrpSpPr><p:grpSpPr><a:xfrm><a:off x="0" y="0"/><a:ext cx="0" cy="0"/><a:chOff x="0" y="0"/><a:chExt cx="0" cy="0"/></a:xfrm></p:grpSpPr><p:sp><p:nvSpPr><p:cNvPr id="71" name="Google Shape;71;p15"/><p:cNvSpPr txBox="1"/><p:nvPr><p:ph idx="4294967295" type="ctrTitle"/></p:nvPr></p:nvSpPr><p:spPr><a:xfrm><a:off x="1192664" y="403309"/><a:ext cx="5315100" cy="533100"/></a:xfrm><a:prstGeom prst="rect"><a:avLst/></a:prstGeom><a:noFill/><a:ln><a:noFill/></a:ln></p:spPr><p:txBody><a:bodyPr anchorCtr="0" anchor="t" bIns="91425" lIns="91425" spcFirstLastPara="1" rIns="91425" wrap="square" tIns="91425"><a:noAutofit/></a:bodyPr><a:lstStyle/><a:p><a:pPr indent="-387350" lvl="0" marL="457200" marR="0" rtl="0" algn="l"><a:lnSpc><a:spcPct val="100000"/></a:lnSpc><a:spcBef><a:spcPts val="0"/></a:spcBef><a:spcAft><a:spcPts val="0"/></a:spcAft><a:buClr><a:srgbClr val="0E3449"/></a:buClr><a:buSzPts val="2500"/><a:buFont typeface="Inter SemiBold"/><a:buAutoNum type="arabicPeriod"/></a:pPr><a:r><a:rPr lang="fr" sz="2500"><a:solidFill><a:srgbClr val="0E3449"/></a:solidFill><a:latin typeface="Inter SemiBold"/><a:ea typeface="Inter SemiBold"/><a:cs typeface="Inter SemiBold"/><a:sym typeface="Inter SemiBold"/></a:rPr><a:t>Problématique</a:t></a:r><a:endParaRPr i="0" sz="2500" u="none" cap="none" strike="noStrike"><a:solidFill><a:srgbClr val="0E3449"/></a:solidFill><a:latin typeface="Inter SemiBold"/><a:ea typeface="Inter SemiBold"/><a:cs typeface="Inter SemiBold"/><a:sym typeface="Inter SemiBold"/></a:endParaRPr></a:p></p:txBody></p:sp><p:sp><p:nvSpPr><p:cNvPr id="72" name="Google Shape;72;p15"/><p:cNvSpPr/><p:nvPr/></p:nvSpPr><p:spPr><a:xfrm><a:off x="10225" y="4892025"/><a:ext cx="9144000" cy="251400"/></a:xfrm><a:prstGeom prst="rect"><a:avLst/></a:prstGeom><a:solidFill><a:srgbClr val="C3FFFC"/></a:solidFill><a:ln><a:noFill/></a:ln></p:spPr><p:txBody><a:bodyPr anchorCtr="0" anchor="ctr" bIns="91425" lIns="91425" spcFirstLastPara="1" rIns="91425" wrap="square" tIns="91425"><a:noAutofit/></a:bodyPr><a:lstStyle/><a:p><a:pPr indent="0" lvl="0" marL="0" marR="0" rtl="0" algn="l"><a:lnSpc><a:spcPct val="100000"/></a:lnSpc><a:spcBef><a:spcPts val="0"/></a:spcBef><a:spcAft><a:spcPts val="0"/></a:spcAft><a:buClr><a:srgbClr val="000000"/></a:buClr><a:buSzPts val="1400"/><a:buFont typeface="Arial"/><a:buNone/></a:pPr><a:r><a:t></a:t></a:r><a:endParaRPr b="0" i="0" sz="1400" u="none" cap="none" strike="noStrike"><a:solidFill><a:srgbClr val="000000"/></a:solidFill><a:latin typeface="Arial"/><a:ea typeface="Arial"/><a:cs typeface="Arial"/><a:sym typeface="Arial"/></a:endParaRPr></a:p></p:txBody></p:sp><p:pic><p:nvPicPr><p:cNvPr id="73" name="Google Shape;73;p15"/><p:cNvPicPr preferRelativeResize="0"/><p:nvPr/></p:nvPicPr><p:blipFill rotWithShape="1"><a:blip r:embed="rId3"><a:alphaModFix/></a:blip><a:srcRect b="0" l="0" r="0" t="0"/><a:stretch/></p:blipFill><p:spPr><a:xfrm><a:off x="463375" y="482852"/><a:ext cx="576900" cy="385904"/></a:xfrm><a:prstGeom prst="rect"><a:avLst/></a:prstGeom><a:noFill/><a:ln><a:noFill/></a:ln></p:spPr></p:pic><p:sp><p:nvSpPr><p:cNvPr id="74" name="Google Shape;74;p15"/><p:cNvSpPr/><p:nvPr/></p:nvSpPr><p:spPr><a:xfrm><a:off x="463375" y="1366330"/><a:ext cx="3515400" cy="1248600"/></a:xfrm><a:prstGeom prst="roundRect"><a:avLst><a:gd fmla="val 11687" name="adj"/></a:avLst></a:prstGeom><a:solidFill><a:srgbClr val="FFFFFF"/></a:solidFill><a:ln cap="flat" cmpd="sng" w="9525"><a:solidFill><a:srgbClr val="FF7047"/></a:solidFill><a:prstDash val="solid"/><a:round/><a:headEnd len="sm" w="sm" type="none"/><a:tailEnd len="sm" w="sm" type="none"/>Problème métier</a:t></a:r><a:br><a:rPr lang="fr" sz="1650"><a:solidFill><a:srgbClr val="55575A"/></a:solidFill><a:latin typeface="Manrope"/><a:ea typeface="Manrope"/><a:cs typeface="Manrope"/><a:sym typeface="Manrope"/></a:rPr></a:br><a:r><a:rPr lang="fr" sz="1650"><a:solidFill><a:srgbClr val="55575A"/></a:solidFill><a:latin typeface="Manrope"/><a:ea typeface="Manrope"/><a:cs typeface="Manrope"/><a:sym typeface="Manrope"/></a:rPr><a:t>Des centaines d'avis chaque jour, lus à la main ou pas du tout.</a:t></a:r><a:endParaRPr/></a:p></p:txBody></p:sp><p:sp><p:nvSpPr><p:cNvPr id="75" name="Google Shape;75;p15"/><p:cNvSpPr/><p:nvPr/></p:nvSpPr><p:spPr><a:xfrm><a:off x="4853225" y="1247700"/><a:ext cx="3515400" cy="1575900"/></a:xfrm><a:prstGeom prst="roundRect"><a:avLst><a:gd fmla="val 11687" name="adj"/></a:avLst></a:prstGeom><a:solidFill><a:srgbClr val="FFFFFF"/></a:solidFill><a:ln cap="flat" cmpd="sng" w="9525"><a:solidFill><a:srgbClr val="FF7047"/></a:solidFill><a:prstDash val="solid"/><a:round/><a:headEnd len="sm" w="sm" type="none"/><a:tailEnd len="sm" w="sm" type="none"/>Objectif métier :</a:t></a:r><a:r><a:rPr lang="fr" sz="1650"><a:solidFill><a:srgbClr val="55575A"/></a:solidFill><a:latin typeface="Manrope"/><a:ea typeface="Manrope"/><a:cs typeface="Manrope"/><a:sym typeface="Manrope"/></a:rPr><a:t> </a:t></a:r><a:br><a:rPr lang="fr" sz="1650"><a:solidFill><a:srgbClr val="55575A"/></a:solidFill><a:latin typeface="Manrope"/><a:ea typeface="Manrope"/><a:cs typeface="Manrope"/><a:sym typeface="Manrope"/></a:rPr></a:br><a:r><a:rPr lang="fr" sz="1650"><a:solidFill><a:srgbClr val="55575A"/></a:solidFill><a:latin typeface="Manrope"/><a:ea typeface="Manrope"/><a:cs typeface="Manrope"/><a:sym typeface="Manrope"/></a:rPr><a:t>Remonter chaque matin les avis négatifs qui comptent, par jeu et par langue</a:t></a:r><a:endParaRPr/></a:p></p:txBody></p:sp><p:sp><p:nvSpPr><p:cNvPr id="76" name="Google Shape;76;p15"/><p:cNvSpPr/><p:nvPr/></p:nvSpPr><p:spPr><a:xfrm><a:off x="463375" y="3193374"/><a:ext cx="3515400" cy="1473000"/></a:xfrm><a:prstGeom prst="roundRect"><a:avLst><a:gd fmla="val 11687" name="adj"/></a:avLst></a:prstGeom><a:solidFill><a:srgbClr val="FFFFFF"/></a:solidFill><a:ln cap="flat" cmpd="sng" w="9525"><a:solidFill><a:srgbClr val="FF7047"/></a:solidFill><a:prstDash val="solid"/><a:round/><a:headEnd len="sm" w="sm" type="none"/><a:tailEnd len="sm" w="sm" type="none"/>Cible</a:t></a:r><a:endParaRPr b="1" sz="1650"><a:solidFill><a:srgbClr val="55575A"/></a:solidFill><a:latin typeface="Manrope"/><a:ea typeface="Manrope"/><a:cs typeface="Manrope"/><a:sym typeface="Manrope"/></a:endParaRPr></a:p><a:p><a:pPr indent="0" lvl="0" marL="0" rtl="0" algn="l"><a:lnSpc><a:spcPct val="157575"/></a:lnSpc><a:spcBef><a:spcPts val="0"/></a:spcBef><a:spcAft><a:spcPts val="0"/></a:spcAft><a:buNone/></a:pPr><a:r><a:rPr lang="fr" sz="1650"><a:solidFill><a:srgbClr val="55575A"/></a:solidFill><a:latin typeface="Manrope"/><a:ea typeface="Manrope"/><a:cs typeface="Manrope"/><a:sym typeface="Manrope"/></a:rPr><a:t xml:space="preserve">Responsable community et live-ops </a:t></a:r><a:br><a:rPr lang="fr" sz="1650"><a:solidFill><a:srgbClr val="55575A"/></a:solidFill><a:latin typeface="Manrope"/><a:ea typeface="Manrope"/><a:cs typeface="Manrope"/><a:sym typeface="Manrope"/></a:rPr></a:br><a:r><a:rPr lang="fr" sz="1650"><a:solidFill><a:srgbClr val="55575A"/></a:solidFill><a:latin typeface="Manrope"/><a:ea typeface="Manrope"/><a:cs typeface="Manrope"/><a:sym typeface="Manrope"/></a:rPr><a:t>Équipe de développement</a:t></a:r><a:endParaRPr b="1" sz="1650"><a:solidFill><a:srgbClr val="55575A"/></a:solidFill><a:latin typeface="Manrope"/><a:ea typeface="Manrope"/><a:cs typeface="Manrope"/><a:sym typeface="Manrope"/></a:endParaRPr></a:p></p:txBody></p:sp><p:sp><p:nvSpPr><p:cNvPr id="77" name="Google Shape;77;p15"/><p:cNvSpPr/><p:nvPr/></p:nvSpPr><p:spPr><a:xfrm><a:off x="4853225" y="3134900"/><a:ext cx="3515400" cy="1575900"/></a:xfrm><a:prstGeom prst="roundRect"><a:avLst><a:gd fmla="val 11687" name="adj"/></a:avLst></a:prstGeom><a:solidFill><a:srgbClr val="FFFFFF"/></a:solidFill><a:ln cap="flat" cmpd="sng" w="9525"><a:solidFill><a:srgbClr val="FF7047"/></a:solidFill><a:prstDash val="solid"/><a:round/><a:headEnd len="sm" w="sm" type="none"/><a:tailEnd len="sm" w="sm" type="none"/>Besoin</a:t></a:r><a:endParaRPr b="1" sz="1650"><a:solidFill><a:srgbClr val="55575A"/></a:solidFill><a:latin typeface="Manrope"/><a:ea typeface="Manrope"/><a:cs typeface="Manrope"/><a:sym typeface="Manrope"/></a:endParaRPr></a:p><a:p><a:pPr indent="0" lvl="0" marL="0" rtl="0" algn="l"><a:lnSpc><a:spcPct val="157575"/></a:lnSpc><a:spcBef><a:spcPts val="0"/></a:spcBef><a:spcAft><a:spcPts val="0"/></a:spcAft><a:buNone/></a:pPr><a:r><a:rPr lang="fr" sz="1650"><a:solidFill><a:srgbClr val="55575A"/></a:solidFill><a:latin typeface="Manrope"/><a:ea typeface="Manrope"/><a:cs typeface="Manrope"/><a:sym typeface="Manrope"/></a:rPr><a:t xml:space="preserve">Repérer une régression avant que la note Steam ne baisse </a:t></a:r><a:br><a:rPr lang="fr" sz="1650"><a:solidFill><a:srgbClr val="55575A"/></a:solidFill><a:latin typeface="Manrope"/><a:ea typeface="Manrope"/><a:cs typeface="Manrope"/><a:sym typeface="Manrope"/></a:rPr></a:br><a:r><a:rPr lang="fr" sz="1650"><a:solidFill><a:srgbClr val="55575A"/></a:solidFill><a:latin typeface="Manrope"/><a:ea typeface="Manrope"/><a:cs typeface="Manrope"/><a:sym typeface="Manrope"/></a:rPr><a:t>ex. : part négative prédite par jeu, avis à lire en premier</a:t></a:r><a:endParaRPr sz="1650"><a:solidFill><a:srgbClr val="55575A"/></a:solidFill><a:latin typeface="Manrope"/><a:ea typeface="Manrope"/><a:cs typeface="Manrope"/><a:sym typeface="Manrope"/></a:endParaRPr></a:p></p:txBody></p:sp></p:spTree></p:cSld><p:clrMapOvr><a:masterClrMapping/></p:clrMapOvr></p:sld>
</file>

<file path=ppt/slides/slide6.xml><?xml version="1.0" encoding="UTF-8" standalone="yes"?>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<p:cSld><p:spTree><p:nvGrpSpPr><p:cNvPr id="101" name="Shape 101"/><p:cNvGrpSpPr/><p:nvPr/></p:nvGrpSpPr><p:grpSpPr><a:xfrm><a:off x="0" y="0"/><a:ext cx="0" cy="0"/><a:chOff x="0" y="0"/><a:chExt cx="0" cy="0"/></a:xfrm></p:grpSpPr><p:sp><p:nvSpPr><p:cNvPr id="102" name="Google Shape;102;p18"/><p:cNvSpPr txBox="1"/><p:nvPr><p:ph idx="4294967295" type="ctrTitle"/></p:nvPr></p:nvSpPr><p:spPr><a:xfrm><a:off x="1073814" y="409334"/><a:ext cx="5315100" cy="533100"/></a:xfrm><a:prstGeom prst="rect"><a:avLst/></a:prstGeom><a:noFill/><a:ln><a:noFill/></a:ln></p:spPr><p:txBody><a:bodyPr anchorCtr="0" anchor="t" bIns="91425" lIns="91425" spcFirstLastPara="1" rIns="91425" wrap="square" tIns="91425"><a:noAutofit/></a:bodyPr><a:lstStyle/><a:p><a:pPr indent="0" lvl="0" marL="0" marR="0" rtl="0" algn="l"><a:lnSpc><a:spcPct val="100000"/></a:lnSpc><a:spcBef><a:spcPts val="0"/></a:spcBef><a:spcAft><a:spcPts val="0"/></a:spcAft><a:buNone/></a:pPr><a:r><a:rPr lang="fr" sz="2500"><a:solidFill><a:srgbClr val="0E3449"/></a:solidFill><a:latin typeface="Inter SemiBold"/><a:ea typeface="Inter SemiBold"/><a:cs typeface="Inter SemiBold"/><a:sym typeface="Inter SemiBold"/></a:rPr><a:t>2.   Les données</a:t></a:r><a:endParaRPr i="0" sz="2500" u="none" cap="none" strike="noStrike"><a:solidFill><a:srgbClr val="0E3449"/></a:solidFill><a:latin typeface="Inter SemiBold"/><a:ea typeface="Inter SemiBold"/><a:cs typeface="Inter SemiBold"/><a:sym typeface="Inter SemiBold"/></a:endParaRPr></a:p></p:txBody></p:sp><p:sp><p:nvSpPr><p:cNvPr id="103" name="Google Shape;103;p18"/><p:cNvSpPr/><p:nvPr/></p:nvSpPr><p:spPr><a:xfrm><a:off x="43775" y="4892100"/><a:ext cx="9144000" cy="251400"/></a:xfrm><a:prstGeom prst="rect"><a:avLst/></a:prstGeom><a:solidFill><a:srgbClr val="C3FFFC"/></a:solidFill><a:ln><a:noFill/></a:ln></p:spPr><p:txBody><a:bodyPr anchorCtr="0" anchor="ctr" bIns="91425" lIns="91425" spcFirstLastPara="1" rIns="91425" wrap="square" tIns="91425"><a:noAutofit/></a:bodyPr><a:lstStyle/><a:p><a:pPr indent="0" lvl="0" marL="0" marR="0" rtl="0" algn="l"><a:lnSpc><a:spcPct val="100000"/></a:lnSpc><a:spcBef><a:spcPts val="0"/></a:spcBef><a:spcAft><a:spcPts val="0"/></a:spcAft><a:buClr><a:srgbClr val="000000"/></a:buClr><a:buSzPts val="1400"/><a:buFont typeface="Arial"/><a:buNone/></a:pPr><a:r><a:t></a:t></a:r><a:endParaRPr b="0" i="0" sz="1400" u="none" cap="none" strike="noStrike"><a:solidFill><a:srgbClr val="000000"/></a:solidFill><a:latin typeface="Arial"/><a:ea typeface="Arial"/><a:cs typeface="Arial"/><a:sym typeface="Arial"/></a:endParaRPr></a:p></p:txBody></p:sp><p:pic><p:nvPicPr><p:cNvPr id="104" name="Google Shape;104;p18"/><p:cNvPicPr preferRelativeResize="0"/><p:nvPr/></p:nvPicPr><p:blipFill rotWithShape="1"><a:blip r:embed="rId3"><a:alphaModFix/></a:blip><a:srcRect b="0" l="0" r="0" t="0"/><a:stretch/></p:blipFill><p:spPr><a:xfrm><a:off x="496925" y="482927"/><a:ext cx="576900" cy="385904"/></a:xfrm><a:prstGeom prst="rect"><a:avLst/></a:prstGeom><a:noFill/><a:ln><a:noFill/></a:ln></p:spPr></p:pic><p:sp><p:nvSpPr><p:cNvPr id="105" name="Google Shape;105;p18"/><p:cNvSpPr txBox="1"/><p:nvPr/></p:nvSpPr><p:spPr><a:xfrm><a:off x="3518399" y="329500"/><a:ext cx="5163600" cy="738900"/></a:xfrm><a:prstGeom prst="rect"><a:avLst/></a:prstGeom><a:noFill/><a:ln><a:noFill/></a:ln></p:spPr><p:txBody><a:bodyPr anchorCtr="0" anchor="t" bIns="91425" lIns="91425" spcFirstLastPara="1" rIns="91425" wrap="square" tIns="91425"><a:spAutoFit/></a:bodyPr><a:lstStyle/><a:p><a:pPr indent="0" lvl="0" marL="0" rtl="0" algn="l"><a:spcBef><a:spcPts val="0"/></a:spcBef><a:spcAft><a:spcPts val="0"/></a:spcAft><a:buNone/></a:pPr><a:r><a:rPr lang="fr" sz="1800"><a:solidFill><a:schemeClr val="dk2"/></a:solidFill></a:rPr><a:t>API publique des avis Steam</a:t></a:r><a:br><a:rPr lang="fr" sz="1800"><a:solidFill><a:schemeClr val="dk2"/></a:solidFill></a:rPr></a:br><a:r><a:rPr lang="fr" sz="1800"><a:solidFill><a:schemeClr val="dk2"/></a:solidFill></a:rPr><a:t>9 271 lignes brutes — 3 jeux, anglais et français</a:t></a:r><a:endParaRPr sz="1800"><a:solidFill><a:schemeClr val="dk2"/></a:solidFill></a:endParaRPr></a:p></p:txBody></p:sp><p:sp><p:nvSpPr><p:cNvPr id="106" name="Google Shape;106;p18"/><p:cNvSpPr/><p:nvPr/></p:nvSpPr><p:spPr><a:xfrm><a:off x="402939" y="1156461"/><a:ext cx="3615000" cy="193800"/></a:xfrm><a:prstGeom prst="rect"><a:avLst/></a:prstGeom><a:noFill/><a:ln><a:noFill/></a:ln></p:spPr><p:txBody><a:bodyPr anchorCtr="0" anchor="t" bIns="0" lIns="0" spcFirstLastPara="1" rIns="0" wrap="square" tIns="0"><a:noAutofit/></a:bodyPr><a:lstStyle/><a:p><a:pPr indent="0" lvl="0" marL="0" marR="0" rtl="0" algn="l"><a:lnSpc><a:spcPct val="125000"/></a:lnSpc><a:spcBef><a:spcPts val="0"/></a:spcBef><a:spcAft><a:spcPts val="0"/></a:spcAft><a:buClr><a:srgbClr val="0C0D0F"/></a:buClr><a:buSzPts val="1217"/><a:buFont typeface="Inter"/><a:buNone/></a:pPr><a:r><a:rPr lang="fr" sz="1217"><a:solidFill><a:srgbClr val="0C0D0F"/></a:solidFill><a:latin typeface="Inter"/><a:ea typeface="Inter"/><a:cs typeface="Inter"/><a:sym typeface="Inter"/></a:rPr><a:t>Traitement en 5 étapes, testé à chaque passage</a:t></a:r><a:endParaRPr b="0" i="0" sz="1217" u="none" cap="none" strike="noStrike"/></a:p></p:txBody></p:sp><p:sp><p:nvSpPr><p:cNvPr id="107" name="Google Shape;107;p18"/><p:cNvSpPr/><p:nvPr/></p:nvSpPr><p:spPr><a:xfrm><a:off x="402961" y="1448759"/><a:ext cx="1498200" cy="711900"/></a:xfrm><a:prstGeom prst="roundRect"><a:avLst><a:gd fmla="val 11687" name="adj"/></a:avLst></a:prstGeom><a:solidFill><a:srgbClr val="FFFFFF"/></a:solidFill><a:ln cap="flat" cmpd="sng" w="8125"><a:solidFill><a:srgbClr val="FF7047"/></a:solidFill><a:prstDash val="solid"/><a:round/><a:headEnd len="sm" w="sm" type="none"/><a:tailEnd len="sm" w="sm" type="none"/ xml:space="preserve"> 1. </a:t></a:r><a:r><a:rPr b="1" lang="fr" sz="1054"><a:solidFill><a:srgbClr val="55575A"/></a:solidFill><a:latin typeface="Manrope"/><a:ea typeface="Manrope"/><a:cs typeface="Manrope"/><a:sym typeface="Manrope"/></a:rPr><a:t>Zone brute inchangée</a:t></a:r><a:endParaRPr b="1" sz="1054"><a:solidFill><a:srgbClr val="55575A"/></a:solidFill><a:latin typeface="Manrope"/><a:ea typeface="Manrope"/><a:cs typeface="Manrope"/><a:sym typeface="Manrope"/></a:endParaRPr></a:p></p:txBody></p:sp><p:sp><p:nvSpPr><p:cNvPr id="108" name="Google Shape;108;p18"/><p:cNvSpPr/><p:nvPr/></p:nvSpPr><p:spPr><a:xfrm><a:off x="2194798" y="1438311"/><a:ext cx="1498200" cy="711900"/></a:xfrm><a:prstGeom prst="roundRect"><a:avLst><a:gd fmla="val 11687" name="adj"/></a:avLst></a:prstGeom><a:solidFill><a:srgbClr val="FFFFFF"/></a:solidFill><a:ln cap="flat" cmpd="sng" w="8125"><a:solidFill><a:srgbClr val="FF7047"/></a:solidFill><a:prstDash val="solid"/><a:round/><a:headEnd len="sm" w="sm" type="none"/><a:tailEnd len="sm" w="sm" type="none"/ xml:space="preserve">2. Dédoublonnage </a:t></a:r><a:br><a:rPr b="1" lang="fr" sz="1000"><a:solidFill><a:srgbClr val="55575A"/></a:solidFill><a:latin typeface="Manrope"/><a:ea typeface="Manrope"/><a:cs typeface="Manrope"/><a:sym typeface="Manrope"/></a:rPr></a:br><a:r><a:rPr b="1" lang="fr" sz="1000"><a:solidFill><a:srgbClr val="55575A"/></a:solidFill><a:latin typeface="Manrope"/><a:ea typeface="Manrope"/><a:cs typeface="Manrope"/><a:sym typeface="Manrope"/></a:rPr><a:t>et nettoyage du BBCode</a:t></a:r><a:endParaRPr b="1" sz="1000"><a:solidFill><a:srgbClr val="55575A"/></a:solidFill><a:latin typeface="Manrope"/><a:ea typeface="Manrope"/><a:cs typeface="Manrope"/><a:sym typeface="Manrope"/></a:endParaRPr></a:p></p:txBody></p:sp><p:sp><p:nvSpPr><p:cNvPr id="109" name="Google Shape;109;p18"/><p:cNvSpPr/><p:nvPr/></p:nvSpPr><p:spPr><a:xfrm><a:off x="3764412" y="1449638"/><a:ext cx="1498200" cy="711900"/></a:xfrm><a:prstGeom prst="roundRect"><a:avLst><a:gd fmla="val 11687" name="adj"/></a:avLst></a:prstGeom><a:solidFill><a:srgbClr val="FFFFFF"/></a:solidFill><a:ln cap="flat" cmpd="sng" w="8125"><a:solidFill><a:srgbClr val="FF7047"/></a:solidFill><a:prstDash val="solid"/><a:round/><a:headEnd len="sm" w="sm" type="none"/><a:tailEnd len="sm" w="sm" type="none"/>3. Pseudonymisation HMAC</a:t></a:r><a:endParaRPr b="1" sz="1200"><a:solidFill><a:srgbClr val="55575A"/></a:solidFill><a:latin typeface="Manrope"/><a:ea typeface="Manrope"/><a:cs typeface="Manrope"/><a:sym typeface="Manrope"/></a:endParaRPr></a:p></p:txBody></p:sp><p:sp><p:nvSpPr><p:cNvPr id="110" name="Google Shape;110;p18"/><p:cNvSpPr/><p:nvPr/></p:nvSpPr><p:spPr><a:xfrm><a:off x="5351099" y="1449650"/><a:ext cx="1498200" cy="711900"/></a:xfrm><a:prstGeom prst="roundRect"><a:avLst><a:gd fmla="val 11687" name="adj"/></a:avLst></a:prstGeom><a:solidFill><a:srgbClr val="FFFFFF"/></a:solidFill><a:ln cap="flat" cmpd="sng" w="8125"><a:solidFill><a:srgbClr val="FF7047"/></a:solidFill><a:prstDash val="solid"/><a:round/><a:headEnd len="sm" w="sm" type="none"/><a:tailEnd len="sm" w="sm" type="none"/>4. Contrôles bloquants</a:t></a:r><a:endParaRPr b="1" sz="1200"><a:solidFill><a:srgbClr val="55575A"/></a:solidFill><a:latin typeface="Manrope"/><a:ea typeface="Manrope"/><a:cs typeface="Manrope"/><a:sym typeface="Manrope"/></a:endParaRPr></a:p></p:txBody></p:sp><p:sp><p:nvSpPr><p:cNvPr id="111" name="Google Shape;111;p18"/><p:cNvSpPr/><p:nvPr/></p:nvSpPr><p:spPr><a:xfrm><a:off x="6937799" y="1460100"/><a:ext cx="1498200" cy="711900"/></a:xfrm><a:prstGeom prst="roundRect"><a:avLst><a:gd fmla="val 11687" name="adj"/></a:avLst></a:prstGeom><a:solidFill><a:srgbClr val="FFFFFF"/></a:solidFill><a:ln cap="flat" cmpd="sng" w="8125"><a:solidFill><a:srgbClr val="FF7047"/></a:solidFill><a:prstDash val="solid"/><a:round/><a:headEnd len="sm" w="sm" type="none"/><a:tailEnd len="sm" w="sm" type="none"/>5. Great Expectations</a:t></a:r><a:endParaRPr b="1" sz="1200"><a:solidFill><a:srgbClr val="55575A"/></a:solidFill><a:latin typeface="Manrope"/><a:ea typeface="Manrope"/><a:cs typeface="Manrope"/><a:sym typeface="Manrope"/></a:endParaRPr></a:p></p:txBody></p:sp><p:sp><p:nvSpPr><p:cNvPr id="112" name="Google Shape;112;p18"/><p:cNvSpPr txBox="1"/><p:nvPr/></p:nvSpPr><p:spPr><a:xfrm><a:off x="402950" y="2701550"/><a:ext cx="8033100" cy="1639200"/></a:xfrm><a:prstGeom prst="rect"><a:avLst/></a:prstGeom><a:noFill/><a:ln><a:noFill/></a:ln></p:spPr><p:txBody><a:bodyPr anchorCtr="0" anchor="t" bIns="91425" lIns="91425" spcFirstLastPara="1" rIns="91425" wrap="square" tIns="91425"><a:spAutoFit/></a:bodyPr><a:lstStyle/><a:p><a:pPr indent="0" lvl="0" marL="0" rtl="0" algn="l"><a:lnSpc><a:spcPct val="115000"/></a:lnSpc><a:spcBef><a:spcPts val="0"/></a:spcBef><a:spcAft><a:spcPts val="0"/></a:spcAft><a:buNone/></a:pPr><a:r><a:rPr b="1" lang="fr"><a:solidFill><a:srgbClr val="015955"/></a:solidFill><a:highlight><a:schemeClr val="lt1"/></a:highlight></a:rPr><a:t>Confidentialité :</a:t></a:r><a:r><a:rPr lang="fr"><a:solidFill><a:srgbClr val="27251E"/></a:solidFill><a:highlight><a:schemeClr val="lt1"/></a:highlight></a:rPr><a:t> </a:t></a:r><a:endParaRPr><a:solidFill><a:srgbClr val="27251E"/></a:solidFill><a:highlight><a:schemeClr val="lt1"/></a:highlight></a:endParaRPr></a:p><a:p><a:pPr indent="-317500" lvl="0" marL="457200" rtl="0" algn="l"><a:lnSpc><a:spcPct val="115000"/></a:lnSpc><a:spcBef><a:spcPts val="0"/></a:spcBef><a:spcAft><a:spcPts val="0"/></a:spcAft><a:buClr><a:schemeClr val="dk2"/></a:buClr><a:buSzPts val="1400"/><a:buChar char="●"/></a:pPr><a:r><a:rPr lang="fr"><a:solidFill><a:schemeClr val="dk2"/></a:solidFill><a:highlight><a:schemeClr val="lt1"/></a:highlight></a:rPr><a:t>steamid</a:t></a:r><a:r><a:rPr lang="fr"><a:solidFill><a:schemeClr val="dk2"/></a:solidFill></a:rPr><a:t xml:space="preserve"> </a:t></a:r><a:r><a:rPr b="1" lang="fr"><a:solidFill><a:schemeClr val="dk2"/></a:solidFill></a:rPr><a:t>→ pseudonymisé (HMAC salé)</a:t></a:r><a:endParaRPr b="1"><a:solidFill><a:schemeClr val="dk2"/></a:solidFill></a:endParaRPr></a:p><a:p><a:pPr indent="-317500" lvl="0" marL="457200" rtl="0" algn="l"><a:lnSpc><a:spcPct val="115000"/></a:lnSpc><a:spcBef><a:spcPts val="0"/></a:spcBef><a:spcAft><a:spcPts val="0"/></a:spcAft><a:buClr><a:schemeClr val="dk2"/></a:buClr><a:buSzPts val="1400"/><a:buChar char="●"/></a:pPr><a:r><a:rPr lang="fr"><a:solidFill><a:schemeClr val="dk2"/></a:solidFill><a:highlight><a:schemeClr val="lt1"/></a:highlight></a:rPr><a:t>personaname, profile_url, avatar : identifiants directs</a:t></a:r><a:r><a:rPr lang="fr"><a:solidFill><a:schemeClr val="dk2"/></a:solidFill></a:rPr><a:t xml:space="preserve"> → </a:t></a:r><a:r><a:rPr b="1" lang="fr"><a:solidFill><a:schemeClr val="dk2"/></a:solidFill></a:rPr><a:t xml:space="preserve">supprimés dès la zone propre </a:t></a:r><a:endParaRPr b="1"><a:solidFill><a:schemeClr val="dk2"/></a:solidFill></a:endParaRPr></a:p><a:p><a:pPr indent="-317500" lvl="0" marL="457200" rtl="0" algn="l"><a:lnSpc><a:spcPct val="115000"/></a:lnSpc><a:spcBef><a:spcPts val="0"/></a:spcBef><a:spcAft><a:spcPts val="0"/></a:spcAft><a:buClr><a:schemeClr val="dk2"/></a:buClr><a:buSzPts val="1400"/><a:buChar char="●"/></a:pPr><a:r><a:rPr lang="fr"><a:solidFill><a:schemeClr val="dk2"/></a:solidFill><a:highlight><a:schemeClr val="lt1"/></a:highlight></a:rPr><a:t>Flux complémentaire</a:t></a:r><a:r><a:rPr lang="fr"><a:solidFill><a:schemeClr val="dk2"/></a:solidFill></a:rPr><a:t xml:space="preserve"> d'avis négatifs </a:t></a:r><a:r><a:rPr b="1" lang="fr"><a:solidFill><a:schemeClr val="dk2"/></a:solidFill></a:rPr><a:t>→ entraînement seulement</a:t></a:r><a:endParaRPr b="1"><a:solidFill><a:schemeClr val="dk2"/></a:solidFill></a:endParaRPr></a:p><a:p><a:pPr indent="-317500" lvl="0" marL="457200" rtl="0" algn="l"><a:lnSpc><a:spcPct val="115000"/></a:lnSpc><a:spcBef><a:spcPts val="0"/></a:spcBef><a:spcAft><a:spcPts val="0"/></a:spcAft><a:buClr><a:schemeClr val="dk2"/></a:buClr><a:buSzPts val="1400"/><a:buChar char="●"/></a:pPr><a:r><a:rPr lang="fr"><a:solidFill><a:schemeClr val="dk2"/></a:solidFill></a:rPr><a:t xml:space="preserve">Idempotence : un second passage n'écrit aucun doublon </a:t></a:r><a:r><a:rPr b="1" lang="fr"><a:solidFill><a:schemeClr val="dk2"/></a:solidFill></a:rPr><a:t>(manifeste)</a:t></a:r><a:endParaRPr><a:solidFill><a:schemeClr val="dk2"/></a:solidFill></a:endParaRPr></a:p><a:p><a:pPr indent="-317500" lvl="0" marL="457200" rtl="0" algn="l"><a:lnSpc><a:spcPct val="115000"/></a:lnSpc><a:spcBef><a:spcPts val="0"/></a:spcBef><a:spcAft><a:spcPts val="0"/></a:spcAft><a:buClr><a:schemeClr val="dk2"/></a:buClr><a:buSzPts val="1400"/><a:buChar char="●"/></a:pPr><a:r><a:rPr lang="fr"><a:solidFill><a:schemeClr val="dk2"/></a:solidFill></a:rPr><a:t xml:space="preserve">Zone silver Iceberg </a:t></a:r><a:r><a:rPr b="1" lang="fr"><a:solidFill><a:schemeClr val="dk2"/></a:solidFill></a:rPr><a:t xml:space="preserve">→ 19 instantanés versionnés </a:t></a:r><a:r><a:rPr lang="fr"><a:solidFill><a:schemeClr val="dk2"/></a:solidFill></a:rPr><a:t></a:t></a:r><a:endParaRPr sz="1800"><a:solidFill><a:schemeClr val="dk2"/></a:solidFill></a:endParaRPr></a:p></p:txBody></p:sp></p:spTree></p:cSld><p:clrMapOvr><a:masterClrMapping/></p:clrMapOvr></p:sld>
</file>

<file path=ppt/slides/slide13.xml><?xml version="1.0" encoding="UTF-8" standalone="yes"?>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<p:cSld><p:spTree><p:nvGrpSpPr><p:cNvPr id="178" name="Shape 178"/><p:cNvGrpSpPr/><p:nvPr/></p:nvGrpSpPr><p:grpSpPr><a:xfrm><a:off x="0" y="0"/><a:ext cx="0" cy="0"/><a:chOff x="0" y="0"/><a:chExt cx="0" cy="0"/></a:xfrm></p:grpSpPr><p:sp><p:nvSpPr><p:cNvPr id="179" name="Google Shape;179;p25"/><p:cNvSpPr txBox="1"/><p:nvPr><p:ph idx="4294967295" type="ctrTitle"/></p:nvPr></p:nvSpPr><p:spPr><a:xfrm><a:off x="1192664" y="403309"/><a:ext cx="5315100" cy="533100"/></a:xfrm><a:prstGeom prst="rect"><a:avLst/></a:prstGeom><a:noFill/><a:ln><a:noFill/></a:ln></p:spPr><p:txBody><a:bodyPr anchorCtr="0" anchor="t" bIns="91425" lIns="91425" spcFirstLastPara="1" rIns="91425" wrap="square" tIns="91425"><a:noAutofit/></a:bodyPr><a:lstStyle/><a:p><a:pPr indent="0" lvl="0" marL="0" marR="0" rtl="0" algn="l"><a:lnSpc><a:spcPct val="100000"/></a:lnSpc><a:spcBef><a:spcPts val="0"/></a:spcBef><a:spcAft><a:spcPts val="0"/></a:spcAft><a:buClr><a:schemeClr val="dk1"/></a:buClr><a:buSzPts val="2800"/><a:buFont typeface="Arial"/><a:buNone/></a:pPr><a:r><a:rPr lang="fr" sz="2500"><a:solidFill><a:srgbClr val="0E3449"/></a:solidFill><a:latin typeface="Inter SemiBold"/><a:ea typeface="Inter SemiBold"/><a:cs typeface="Inter SemiBold"/><a:sym typeface="Inter SemiBold"/></a:rPr><a:t>La chaîne de bout en bout</a:t></a:r><a:endParaRPr i="0" sz="2500" u="none" cap="none" strike="noStrike"><a:solidFill><a:srgbClr val="0E3449"/></a:solidFill><a:latin typeface="Inter SemiBold"/><a:ea typeface="Inter SemiBold"/><a:cs typeface="Inter SemiBold"/><a:sym typeface="Inter SemiBold"/></a:endParaRPr></a:p></p:txBody></p:sp><p:sp><p:nvSpPr><p:cNvPr id="180" name="Google Shape;180;p25"/><p:cNvSpPr/><p:nvPr/></p:nvSpPr><p:spPr><a:xfrm><a:off x="10225" y="4892025"/><a:ext cx="9144000" cy="251400"/></a:xfrm><a:prstGeom prst="rect"><a:avLst/></a:prstGeom><a:solidFill><a:srgbClr val="C3FFFC"/></a:solidFill><a:ln><a:noFill/></a:ln></p:spPr><p:txBody><a:bodyPr anchorCtr="0" anchor="ctr" bIns="91425" lIns="91425" spcFirstLastPara="1" rIns="91425" wrap="square" tIns="91425"><a:noAutofit/></a:bodyPr><a:lstStyle/><a:p><a:pPr indent="0" lvl="0" marL="0" marR="0" rtl="0" algn="l"><a:lnSpc><a:spcPct val="100000"/></a:lnSpc><a:spcBef><a:spcPts val="0"/></a:spcBef><a:spcAft><a:spcPts val="0"/></a:spcAft><a:buClr><a:srgbClr val="000000"/></a:buClr><a:buSzPts val="1400"/><a:buFont typeface="Arial"/><a:buNone/></a:pPr><a:r><a:t></a:t></a:r><a:endParaRPr b="0" i="0" sz="1400" u="none" cap="none" strike="noStrike"><a:solidFill><a:srgbClr val="000000"/></a:solidFill><a:latin typeface="Arial"/><a:ea typeface="Arial"/><a:cs typeface="Arial"/><a:sym typeface="Arial"/></a:endParaRPr></a:p></p:txBody></p:sp><p:pic><p:nvPicPr><p:cNvPr id="181" name="Google Shape;181;p25"/><p:cNvPicPr preferRelativeResize="0"/><p:nvPr/></p:nvPicPr><p:blipFill rotWithShape="1"><a:blip r:embed="rId3"><a:alphaModFix/></a:blip><a:srcRect b="0" l="0" r="0" t="0"/><a:stretch/></p:blipFill><p:spPr><a:xfrm><a:off x="463375" y="482852"/><a:ext cx="576900" cy="385904"/></a:xfrm><a:prstGeom prst="rect"><a:avLst/></a:prstGeom><a:noFill/><a:ln><a:noFill/></a:ln></p:spPr></p:pic><p:sp><p:nvSpPr><p:cNvPr id="182" name="Google Shape;182;p25"/><p:cNvSpPr txBox="1"/><p:nvPr/></p:nvSpPr><p:spPr><a:xfrm><a:off x="1261450" y="1017575"/><a:ext cx="1902900" cy="461700"/></a:xfrm><a:prstGeom prst="rect"><a:avLst/></a:prstGeom><a:noFill/><a:ln><a:noFill/></a:ln></p:spPr><p:txBody><a:bodyPr anchorCtr="0" anchor="t" bIns="91425" lIns="91425" spcFirstLastPara="1" rIns="91425" wrap="square" tIns="91425"><a:spAutoFit/></a:bodyPr><a:lstStyle/><a:p><a:pPr indent="0" lvl="0" marL="0" rtl="0" algn="l"><a:spcBef><a:spcPts val="0"/></a:spcBef><a:spcAft><a:spcPts val="0"/></a:spcAft><a:buNone/></a:pPr><a:r><a:rPr lang="fr" sz="1800"><a:solidFill><a:schemeClr val="dk2"/></a:solidFill></a:rPr><a:t>Six étapes, une seule chaîne</a:t></a:r><a:endParaRPr sz="1800"><a:solidFill><a:schemeClr val="dk2"/></a:solidFill></a:endParaRPr></a:p></p:txBody></p:sp><p:sp><p:nvSpPr><p:cNvPr id="183" name="Google Shape;183;p25"/><p:cNvSpPr/><p:nvPr/></p:nvSpPr><p:spPr><a:xfrm><a:off x="650300" y="1861675"/><a:ext cx="2382600" cy="1248600"/></a:xfrm><a:prstGeom prst="roundRect"><a:avLst><a:gd fmla="val 11687" name="adj"/></a:avLst></a:prstGeom><a:solidFill><a:srgbClr val="FFFFFF"/></a:solidFill><a:ln cap="flat" cmpd="sng" w="9525"><a:solidFill><a:srgbClr val="FF7047"/></a:solidFill><a:prstDash val="solid"/><a:round/><a:headEnd len="sm" w="sm" type="none"/><a:tailEnd len="sm" w="sm" type="none"/>Ingestion idempotente depuis l'API Steam</a:t></a:r><a:endParaRPr/></a:p></p:txBody></p:sp><p:sp><p:nvSpPr><p:cNvPr id="184" name="Google Shape;184;p25"/><p:cNvSpPr/><p:nvPr/></p:nvSpPr><p:spPr><a:xfrm><a:off x="3264775" y="1861675"/><a:ext cx="1856100" cy="1248600"/></a:xfrm><a:prstGeom prst="roundRect"><a:avLst><a:gd fmla="val 11687" name="adj"/></a:avLst></a:prstGeom><a:solidFill><a:srgbClr val="FFFFFF"/></a:solidFill><a:ln cap="flat" cmpd="sng" w="9525"><a:solidFill><a:srgbClr val="FF7047"/></a:solidFill><a:prstDash val="solid"/><a:round/><a:headEnd len="sm" w="sm" type="none"/><a:tailEnd len="sm" w="sm" type="none"/ xml:space="preserve">Zone silver : </a:t></a:r><a:r><a:rPr lang="fr" sz="1650"><a:solidFill><a:srgbClr val="55575A"/></a:solidFill><a:latin typeface="Manrope"/><a:ea typeface="Manrope"/><a:cs typeface="Manrope"/><a:sym typeface="Manrope"/></a:rPr><a:t>PySpark et Iceberg</a:t></a:r><a:endParaRPr/></a:p></p:txBody></p:sp><p:sp><p:nvSpPr><p:cNvPr id="185" name="Google Shape;185;p25"/><p:cNvSpPr/><p:nvPr/></p:nvSpPr><p:spPr><a:xfrm><a:off x="5352750" y="1861675"/><a:ext cx="2877300" cy="1248600"/></a:xfrm><a:prstGeom prst="roundRect"><a:avLst><a:gd fmla="val 11687" name="adj"/></a:avLst></a:prstGeom><a:solidFill><a:srgbClr val="FFFFFF"/></a:solidFill><a:ln cap="flat" cmpd="sng" w="9525"><a:solidFill><a:srgbClr val="FF7047"/></a:solidFill><a:prstDash val="solid"/><a:round/><a:headEnd len="sm" w="sm" type="none"/><a:tailEnd len="sm" w="sm" type="none"/ xml:space="preserve">Zone gold : </a:t></a:r><a:br><a:rPr b="1" lang="fr" sz="1650"><a:solidFill><a:srgbClr val="55575A"/></a:solidFill><a:latin typeface="Manrope"/><a:ea typeface="Manrope"/><a:cs typeface="Manrope"/><a:sym typeface="Manrope"/></a:rPr></a:br><a:r><a:rPr lang="fr" sz="1650"><a:solidFill><a:srgbClr val="55575A"/></a:solidFill><a:latin typeface="Manrope"/><a:ea typeface="Manrope"/><a:cs typeface="Manrope"/><a:sym typeface="Manrope"/></a:rPr><a:t>dbt et DuckDB, 43 tests verts — ADR 0013, 0014</a:t></a:r><a:endParaRPr/></a:p></p:txBody></p:sp></p:spTree></p:cSld><p:clrMapOvr><a:masterClrMapping/></p:clrMapOvr>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6"/>
          <p:cNvSpPr txBox="1"/>
          <p:nvPr>
            <p:ph idx="4294967295" type="ctrTitle"/>
          </p:nvPr>
        </p:nvSpPr>
        <p:spPr>
          <a:xfrm>
            <a:off x="1192664" y="403309"/>
            <a:ext cx="5315100" cy="53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r>
              <a:rPr lang="fr" sz="250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4. Le modèle</a:t>
            </a:r>
            <a:endParaRPr i="0" sz="2500" u="none" cap="none" strike="noStrike">
              <a:solidFill>
                <a:srgbClr val="0E3449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sp>
        <p:nvSpPr>
          <p:cNvPr id="191" name="Google Shape;191;p26"/>
          <p:cNvSpPr/>
          <p:nvPr/>
        </p:nvSpPr>
        <p:spPr>
          <a:xfrm>
            <a:off x="10225" y="4892025"/>
            <a:ext cx="9144000" cy="251400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92" name="Google Shape;192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193" name="Google Shape;193;p26"/>
          <p:cNvSpPr txBox="1"/>
          <p:nvPr/>
        </p:nvSpPr>
        <p:spPr>
          <a:xfrm>
            <a:off x="562125" y="868738"/>
            <a:ext cx="6933300" cy="285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fr" sz="1800">
                <a:solidFill>
                  <a:schemeClr val="dk2"/>
                </a:solidFill>
                <a:highlight>
                  <a:srgbClr val="FFFFFF"/>
                </a:highlight>
              </a:rPr>
              <a:t>4 v</a:t>
            </a:r>
            <a:r>
              <a:rPr lang="fr" sz="1800">
                <a:solidFill>
                  <a:schemeClr val="dk2"/>
                </a:solidFill>
                <a:highlight>
                  <a:srgbClr val="FFFFFF"/>
                </a:highlight>
              </a:rPr>
              <a:t>ariantes mesurées</a:t>
            </a:r>
            <a:endParaRPr sz="1800">
              <a:solidFill>
                <a:schemeClr val="dk2"/>
              </a:solidFill>
              <a:highlight>
                <a:srgbClr val="FFFFFF"/>
              </a:highlight>
            </a:endParaRPr>
          </a:p>
          <a:p>
            <a:pPr indent="-30480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Arial"/>
              <a:buChar char="●"/>
            </a:pPr>
            <a:r>
              <a:rPr lang="fr" sz="1200">
                <a:solidFill>
                  <a:schemeClr val="dk2"/>
                </a:solidFill>
                <a:highlight>
                  <a:srgbClr val="FFFFFF"/>
                </a:highlight>
              </a:rPr>
              <a:t>Mots, 1 à 2 grammes : F1 macro 0,735</a:t>
            </a:r>
            <a:endParaRPr sz="1200">
              <a:solidFill>
                <a:schemeClr val="dk2"/>
              </a:solidFill>
              <a:highlight>
                <a:srgbClr val="FFFFFF"/>
              </a:highlight>
            </a:endParaRPr>
          </a:p>
          <a:p>
            <a:pPr indent="-3048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Arial"/>
              <a:buChar char="●"/>
            </a:pPr>
            <a:r>
              <a:rPr lang="fr" sz="1200">
                <a:solidFill>
                  <a:schemeClr val="dk2"/>
                </a:solidFill>
                <a:highlight>
                  <a:srgbClr val="FFFFFF"/>
                </a:highlight>
              </a:rPr>
              <a:t>Mots, régularisation ajustée : 0,756</a:t>
            </a:r>
            <a:endParaRPr sz="1200">
              <a:solidFill>
                <a:schemeClr val="dk2"/>
              </a:solidFill>
              <a:highlight>
                <a:srgbClr val="FFFFFF"/>
              </a:highlight>
            </a:endParaRPr>
          </a:p>
          <a:p>
            <a:pPr indent="-3048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Arial"/>
              <a:buChar char="●"/>
            </a:pPr>
            <a:r>
              <a:rPr b="1" lang="fr" sz="1200">
                <a:solidFill>
                  <a:schemeClr val="dk2"/>
                </a:solidFill>
                <a:highlight>
                  <a:srgbClr val="FFFFFF"/>
                </a:highlight>
              </a:rPr>
              <a:t xml:space="preserve">Caractères, 2 à 5 grammes </a:t>
            </a:r>
            <a:r>
              <a:rPr lang="fr" sz="1200">
                <a:solidFill>
                  <a:schemeClr val="dk2"/>
                </a:solidFill>
                <a:highlight>
                  <a:srgbClr val="FFFFFF"/>
                </a:highlight>
              </a:rPr>
              <a:t xml:space="preserve">(0,759 puis 0,797 puis 0,803) </a:t>
            </a:r>
            <a:r>
              <a:rPr b="1" lang="fr" sz="1200">
                <a:solidFill>
                  <a:schemeClr val="dk2"/>
                </a:solidFill>
                <a:highlight>
                  <a:srgbClr val="FFFFFF"/>
                </a:highlight>
              </a:rPr>
              <a:t>→ retenu</a:t>
            </a:r>
            <a:endParaRPr b="1" sz="1200">
              <a:solidFill>
                <a:schemeClr val="dk2"/>
              </a:solidFill>
              <a:highlight>
                <a:srgbClr val="FFFFFF"/>
              </a:highlight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1" lang="fr" sz="1200">
                <a:solidFill>
                  <a:schemeClr val="dk2"/>
                </a:solidFill>
                <a:highlight>
                  <a:srgbClr val="FFFFFF"/>
                </a:highlight>
              </a:rPr>
              <a:t>Pourquoi les n-grammes de caractères ?</a:t>
            </a:r>
            <a:endParaRPr b="1" sz="1200">
              <a:solidFill>
                <a:schemeClr val="dk2"/>
              </a:solidFill>
              <a:highlight>
                <a:srgbClr val="FFFFFF"/>
              </a:highlight>
            </a:endParaRPr>
          </a:p>
          <a:p>
            <a:pPr indent="-30480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Arial"/>
              <a:buChar char="●"/>
            </a:pPr>
            <a:r>
              <a:rPr lang="fr" sz="1200">
                <a:solidFill>
                  <a:schemeClr val="dk2"/>
                </a:solidFill>
                <a:highlight>
                  <a:srgbClr val="FFFFFF"/>
                </a:highlight>
              </a:rPr>
              <a:t>Robustes aux fautes et aux variantes d'écriture</a:t>
            </a:r>
            <a:endParaRPr sz="1200">
              <a:solidFill>
                <a:schemeClr val="dk2"/>
              </a:solidFill>
              <a:highlight>
                <a:srgbClr val="FFFFFF"/>
              </a:highlight>
            </a:endParaRPr>
          </a:p>
          <a:p>
            <a:pPr indent="-3048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Arial"/>
              <a:buChar char="●"/>
            </a:pPr>
            <a:r>
              <a:rPr lang="fr" sz="1200">
                <a:solidFill>
                  <a:schemeClr val="dk2"/>
                </a:solidFill>
                <a:highlight>
                  <a:srgbClr val="FFFFFF"/>
                </a:highlight>
              </a:rPr>
              <a:t>Entraînement en quelques secondes, explicable terme par terme</a:t>
            </a:r>
            <a:endParaRPr sz="1200">
              <a:solidFill>
                <a:schemeClr val="dk2"/>
              </a:solidFill>
              <a:highlight>
                <a:srgbClr val="FFFFFF"/>
              </a:highlight>
            </a:endParaRPr>
          </a:p>
          <a:p>
            <a:pPr indent="-3048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Arial"/>
              <a:buChar char="●"/>
            </a:pPr>
            <a:r>
              <a:rPr lang="fr" sz="1200">
                <a:solidFill>
                  <a:schemeClr val="dk2"/>
                </a:solidFill>
                <a:highlight>
                  <a:srgbClr val="FFFFFF"/>
                </a:highlight>
              </a:rPr>
              <a:t>Seuil de décision appris, et non fixé à 0,5 — ADR 0006, 0007</a:t>
            </a:r>
            <a:endParaRPr sz="1200">
              <a:solidFill>
                <a:schemeClr val="dk2"/>
              </a:solidFill>
              <a:highlight>
                <a:srgbClr val="FFFFFF"/>
              </a:highlight>
            </a:endParaRPr>
          </a:p>
          <a:p>
            <a:pPr indent="0" lvl="0" marL="457200" rtl="0" algn="l">
              <a:lnSpc>
                <a:spcPct val="115000"/>
              </a:lnSpc>
              <a:spcBef>
                <a:spcPts val="1700"/>
              </a:spcBef>
              <a:spcAft>
                <a:spcPts val="1200"/>
              </a:spcAft>
              <a:buNone/>
            </a:pPr>
            <a:r>
              <a:t/>
            </a:r>
            <a:endParaRPr sz="1200">
              <a:solidFill>
                <a:schemeClr val="dk2"/>
              </a:solidFill>
              <a:highlight>
                <a:srgbClr val="FFFFFF"/>
              </a:highlight>
            </a:endParaRPr>
          </a:p>
        </p:txBody>
      </p:sp>
      <p:pic>
        <p:nvPicPr>
          <p:cNvPr id="194" name="Google Shape;194;p2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192675" y="3541363"/>
            <a:ext cx="5791200" cy="1228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27"/>
          <p:cNvSpPr txBox="1"/>
          <p:nvPr>
            <p:ph idx="4294967295" type="ctrTitle"/>
          </p:nvPr>
        </p:nvSpPr>
        <p:spPr>
          <a:xfrm>
            <a:off x="1192687" y="403300"/>
            <a:ext cx="7317000" cy="53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r>
              <a:rPr lang="fr" sz="250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 xml:space="preserve">5. Résultats mesurés </a:t>
            </a:r>
            <a:endParaRPr i="0" sz="2500" u="none" cap="none" strike="noStrike">
              <a:solidFill>
                <a:srgbClr val="0E3449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201" name="Google Shape;201;p27"/>
          <p:cNvSpPr/>
          <p:nvPr/>
        </p:nvSpPr>
        <p:spPr>
          <a:xfrm>
            <a:off x="10225" y="4892025"/>
            <a:ext cx="9144000" cy="251400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2" name="Google Shape;202;p27"/>
          <p:cNvSpPr txBox="1"/>
          <p:nvPr/>
        </p:nvSpPr>
        <p:spPr>
          <a:xfrm>
            <a:off x="463375" y="1398100"/>
            <a:ext cx="8046300" cy="3493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 fontScale="70000" lnSpcReduction="20000"/>
          </a:bodyPr>
          <a:lstStyle/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ct val="45833"/>
              <a:buFont typeface="Arial"/>
              <a:buNone/>
            </a:pPr>
            <a:r>
              <a:rPr lang="fr" sz="2400">
                <a:solidFill>
                  <a:schemeClr val="dk2"/>
                </a:solidFill>
              </a:rPr>
              <a:t xml:space="preserve">Modèle retenu : </a:t>
            </a:r>
            <a:r>
              <a:rPr b="1" lang="fr" sz="2400">
                <a:solidFill>
                  <a:schemeClr val="dk2"/>
                </a:solidFill>
              </a:rPr>
              <a:t xml:space="preserve">TF-IDF sur caractères et régression logistique, </a:t>
            </a:r>
            <a:r>
              <a:rPr lang="fr" sz="2400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class_weight='balanced'</a:t>
            </a:r>
            <a:endParaRPr sz="24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ct val="45833"/>
              <a:buFont typeface="Arial"/>
              <a:buNone/>
            </a:pPr>
            <a:r>
              <a:rPr lang="fr" sz="2400">
                <a:solidFill>
                  <a:schemeClr val="dk2"/>
                </a:solidFill>
              </a:rPr>
              <a:t xml:space="preserve">Seuil appris par validation croisée : </a:t>
            </a:r>
            <a:r>
              <a:rPr b="1" lang="fr" sz="2400">
                <a:solidFill>
                  <a:schemeClr val="dk2"/>
                </a:solidFill>
              </a:rPr>
              <a:t>0,75</a:t>
            </a:r>
            <a:r>
              <a:rPr lang="fr" sz="2400">
                <a:solidFill>
                  <a:schemeClr val="dk2"/>
                </a:solidFill>
              </a:rPr>
              <a:t xml:space="preserve"> — barrière de promotion F1 macro ≥ 0,75.</a:t>
            </a:r>
            <a:endParaRPr sz="2400">
              <a:solidFill>
                <a:schemeClr val="dk2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ct val="45833"/>
              <a:buFont typeface="Arial"/>
              <a:buNone/>
            </a:pPr>
            <a:r>
              <a:rPr lang="fr" sz="2400">
                <a:solidFill>
                  <a:schemeClr val="dk2"/>
                </a:solidFill>
              </a:rPr>
              <a:t>Sur un test 100 % naturel tenu à l'écart :</a:t>
            </a:r>
            <a:endParaRPr sz="2400">
              <a:solidFill>
                <a:schemeClr val="dk2"/>
              </a:solidFill>
            </a:endParaRPr>
          </a:p>
          <a:p>
            <a:pPr indent="-33528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2"/>
              </a:buClr>
              <a:buSzPct val="100000"/>
              <a:buChar char="●"/>
            </a:pPr>
            <a:r>
              <a:rPr lang="fr" sz="2400">
                <a:solidFill>
                  <a:schemeClr val="dk2"/>
                </a:solidFill>
              </a:rPr>
              <a:t xml:space="preserve">F1 macro : </a:t>
            </a:r>
            <a:r>
              <a:rPr b="1" lang="fr" sz="2400">
                <a:solidFill>
                  <a:schemeClr val="dk2"/>
                </a:solidFill>
              </a:rPr>
              <a:t>0,803</a:t>
            </a:r>
            <a:r>
              <a:rPr lang="fr" sz="2400">
                <a:solidFill>
                  <a:schemeClr val="dk2"/>
                </a:solidFill>
              </a:rPr>
              <a:t xml:space="preserve"> (0,807 le 16/09, sur un jeu plus petit)</a:t>
            </a:r>
            <a:endParaRPr sz="2400">
              <a:solidFill>
                <a:schemeClr val="dk2"/>
              </a:solidFill>
            </a:endParaRPr>
          </a:p>
          <a:p>
            <a:pPr indent="-33528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100000"/>
              <a:buChar char="●"/>
            </a:pPr>
            <a:r>
              <a:rPr lang="fr" sz="2400">
                <a:solidFill>
                  <a:schemeClr val="dk2"/>
                </a:solidFill>
              </a:rPr>
              <a:t xml:space="preserve">AUC : </a:t>
            </a:r>
            <a:r>
              <a:rPr b="1" lang="fr" sz="2400">
                <a:solidFill>
                  <a:schemeClr val="dk2"/>
                </a:solidFill>
              </a:rPr>
              <a:t>0,940</a:t>
            </a:r>
            <a:r>
              <a:rPr lang="fr" sz="2400">
                <a:solidFill>
                  <a:schemeClr val="dk2"/>
                </a:solidFill>
              </a:rPr>
              <a:t xml:space="preserve"> ; rappel des négatifs 0,634</a:t>
            </a:r>
            <a:endParaRPr sz="2400">
              <a:solidFill>
                <a:schemeClr val="dk2"/>
              </a:solidFill>
            </a:endParaRPr>
          </a:p>
          <a:p>
            <a:pPr indent="-33528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100000"/>
              <a:buChar char="●"/>
            </a:pPr>
            <a:r>
              <a:rPr lang="fr" sz="2400">
                <a:solidFill>
                  <a:schemeClr val="dk2"/>
                </a:solidFill>
              </a:rPr>
              <a:t xml:space="preserve">Tests : </a:t>
            </a:r>
            <a:r>
              <a:rPr b="1" lang="fr" sz="2400">
                <a:solidFill>
                  <a:schemeClr val="dk2"/>
                </a:solidFill>
              </a:rPr>
              <a:t>131 verts</a:t>
            </a:r>
            <a:r>
              <a:rPr lang="fr" sz="2400">
                <a:solidFill>
                  <a:schemeClr val="dk2"/>
                </a:solidFill>
              </a:rPr>
              <a:t xml:space="preserve"> ; 26 mutations sur 26 détectées, en deux passages</a:t>
            </a:r>
            <a:endParaRPr sz="2400">
              <a:solidFill>
                <a:schemeClr val="dk2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ct val="45833"/>
              <a:buFont typeface="Arial"/>
              <a:buNone/>
            </a:pPr>
            <a:r>
              <a:rPr lang="fr" sz="2400">
                <a:solidFill>
                  <a:schemeClr val="dk2"/>
                </a:solidFill>
              </a:rPr>
              <a:t xml:space="preserve">Deux entraînements successifs donnent </a:t>
            </a:r>
            <a:r>
              <a:rPr b="1" lang="fr" sz="2400">
                <a:solidFill>
                  <a:schemeClr val="dk2"/>
                </a:solidFill>
              </a:rPr>
              <a:t>le même F1</a:t>
            </a:r>
            <a:r>
              <a:rPr lang="fr" sz="2400">
                <a:solidFill>
                  <a:schemeClr val="dk2"/>
                </a:solidFill>
              </a:rPr>
              <a:t xml:space="preserve"> à la seizième décimale.</a:t>
            </a:r>
            <a:endParaRPr sz="2400">
              <a:solidFill>
                <a:schemeClr val="dk2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ct val="45833"/>
              <a:buFont typeface="Arial"/>
              <a:buNone/>
            </a:pPr>
            <a:r>
              <a:rPr lang="fr" sz="2400">
                <a:solidFill>
                  <a:schemeClr val="dk2"/>
                </a:solidFill>
              </a:rPr>
              <a:t>Un modèle à métriques égales n'est pas promu : la barrière l'a refusé en conditions réelles. ADR 0008.</a:t>
            </a:r>
            <a:endParaRPr b="1" sz="2400">
              <a:solidFill>
                <a:schemeClr val="dk2"/>
              </a:solidFill>
            </a:endParaRPr>
          </a:p>
        </p:txBody>
      </p:sp>
      <p:sp>
        <p:nvSpPr>
          <p:cNvPr id="203" name="Google Shape;203;p27"/>
          <p:cNvSpPr txBox="1"/>
          <p:nvPr/>
        </p:nvSpPr>
        <p:spPr>
          <a:xfrm>
            <a:off x="463375" y="936400"/>
            <a:ext cx="32973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1800">
                <a:solidFill>
                  <a:schemeClr val="dk2"/>
                </a:solidFill>
              </a:rPr>
              <a:t>R</a:t>
            </a:r>
            <a:r>
              <a:rPr lang="fr" sz="1800">
                <a:solidFill>
                  <a:schemeClr val="dk2"/>
                </a:solidFill>
              </a:rPr>
              <a:t>ésultats et p</a:t>
            </a:r>
            <a:r>
              <a:rPr lang="fr" sz="1800">
                <a:solidFill>
                  <a:schemeClr val="dk2"/>
                </a:solidFill>
              </a:rPr>
              <a:t xml:space="preserve">reuves </a:t>
            </a:r>
            <a:endParaRPr sz="18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29"/>
          <p:cNvSpPr txBox="1"/>
          <p:nvPr>
            <p:ph idx="4294967295" type="ctrTitle"/>
          </p:nvPr>
        </p:nvSpPr>
        <p:spPr>
          <a:xfrm>
            <a:off x="1192664" y="403309"/>
            <a:ext cx="5315100" cy="53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r>
              <a:rPr lang="fr" sz="250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6. Industrialisation et suite</a:t>
            </a:r>
            <a:endParaRPr i="0" sz="2500" u="none" cap="none" strike="noStrike">
              <a:solidFill>
                <a:srgbClr val="0E3449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sp>
        <p:nvSpPr>
          <p:cNvPr id="217" name="Google Shape;217;p29"/>
          <p:cNvSpPr/>
          <p:nvPr/>
        </p:nvSpPr>
        <p:spPr>
          <a:xfrm>
            <a:off x="10225" y="4892025"/>
            <a:ext cx="9144000" cy="251400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18" name="Google Shape;218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29"/>
          <p:cNvSpPr txBox="1"/>
          <p:nvPr/>
        </p:nvSpPr>
        <p:spPr>
          <a:xfrm>
            <a:off x="514300" y="1142625"/>
            <a:ext cx="7835700" cy="3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1" lang="fr" sz="1300">
                <a:solidFill>
                  <a:schemeClr val="dk2"/>
                </a:solidFill>
                <a:highlight>
                  <a:srgbClr val="FFFFFF"/>
                </a:highlight>
              </a:rPr>
              <a:t>Ce qui tourne sans intervention</a:t>
            </a:r>
            <a:endParaRPr b="1" sz="1300">
              <a:solidFill>
                <a:schemeClr val="dk2"/>
              </a:solidFill>
              <a:highlight>
                <a:srgbClr val="FFFFFF"/>
              </a:highlight>
            </a:endParaRPr>
          </a:p>
          <a:p>
            <a:pPr indent="-3111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Arial"/>
              <a:buChar char="●"/>
            </a:pPr>
            <a:r>
              <a:rPr lang="fr" sz="1300">
                <a:solidFill>
                  <a:schemeClr val="dk2"/>
                </a:solidFill>
                <a:highlight>
                  <a:srgbClr val="FFFFFF"/>
                </a:highlight>
              </a:rPr>
              <a:t>DAG Airflow quotidien : 9 tâches, base PostgreSQL</a:t>
            </a:r>
            <a:endParaRPr sz="1300">
              <a:solidFill>
                <a:schemeClr val="dk2"/>
              </a:solidFill>
              <a:highlight>
                <a:srgbClr val="FFFFFF"/>
              </a:highlight>
            </a:endParaRPr>
          </a:p>
          <a:p>
            <a:pPr indent="-3111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Arial"/>
              <a:buChar char="●"/>
            </a:pPr>
            <a:r>
              <a:rPr lang="fr" sz="1300">
                <a:solidFill>
                  <a:schemeClr val="dk2"/>
                </a:solidFill>
                <a:highlight>
                  <a:srgbClr val="FFFFFF"/>
                </a:highlight>
              </a:rPr>
              <a:t>Test de la stack déployée : 16 contrôles sur 16</a:t>
            </a:r>
            <a:endParaRPr sz="1300">
              <a:solidFill>
                <a:schemeClr val="dk2"/>
              </a:solidFill>
              <a:highlight>
                <a:srgbClr val="FFFFFF"/>
              </a:highlight>
            </a:endParaRPr>
          </a:p>
          <a:p>
            <a:pPr indent="-3111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Arial"/>
              <a:buChar char="●"/>
            </a:pPr>
            <a:r>
              <a:rPr lang="fr" sz="1300">
                <a:solidFill>
                  <a:schemeClr val="dk2"/>
                </a:solidFill>
                <a:highlight>
                  <a:srgbClr val="FFFFFF"/>
                </a:highlight>
              </a:rPr>
              <a:t>Dérive mesurée à chaque passage, alerte écrite hors du journal, réentraînement déclenché</a:t>
            </a:r>
            <a:endParaRPr sz="1300">
              <a:solidFill>
                <a:schemeClr val="dk2"/>
              </a:solidFill>
              <a:highlight>
                <a:srgbClr val="FFFFFF"/>
              </a:highlight>
            </a:endParaRPr>
          </a:p>
          <a:p>
            <a:pPr indent="-3111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Arial"/>
              <a:buChar char="●"/>
            </a:pPr>
            <a:r>
              <a:rPr lang="fr" sz="1300">
                <a:solidFill>
                  <a:schemeClr val="dk2"/>
                </a:solidFill>
                <a:highlight>
                  <a:srgbClr val="FFFFFF"/>
                </a:highlight>
              </a:rPr>
              <a:t>Retour arrière outillé sur le modèle et sur les données : alias MLflow, instantanés Iceberg</a:t>
            </a:r>
            <a:endParaRPr sz="1300">
              <a:solidFill>
                <a:schemeClr val="dk2"/>
              </a:solidFill>
              <a:highlight>
                <a:srgbClr val="FFFFFF"/>
              </a:highlight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1" lang="fr" sz="1300">
                <a:solidFill>
                  <a:schemeClr val="dk2"/>
                </a:solidFill>
                <a:highlight>
                  <a:srgbClr val="FFFFFF"/>
                </a:highlight>
              </a:rPr>
              <a:t>Prochaines étapes — annoncées comme telles, rien n'en est fait</a:t>
            </a:r>
            <a:endParaRPr b="1" sz="1300">
              <a:solidFill>
                <a:schemeClr val="dk2"/>
              </a:solidFill>
              <a:highlight>
                <a:srgbClr val="FFFFFF"/>
              </a:highlight>
            </a:endParaRPr>
          </a:p>
          <a:p>
            <a:pPr indent="-3111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Arial"/>
              <a:buChar char="●"/>
            </a:pPr>
            <a:r>
              <a:rPr lang="fr" sz="1300">
                <a:solidFill>
                  <a:schemeClr val="dk2"/>
                </a:solidFill>
                <a:highlight>
                  <a:srgbClr val="FFFFFF"/>
                </a:highlight>
              </a:rPr>
              <a:t>Publication du dépôt et chaîne d'intégration verte</a:t>
            </a:r>
            <a:endParaRPr sz="1300">
              <a:solidFill>
                <a:schemeClr val="dk2"/>
              </a:solidFill>
              <a:highlight>
                <a:srgbClr val="FFFFFF"/>
              </a:highlight>
            </a:endParaRPr>
          </a:p>
          <a:p>
            <a:pPr indent="-3111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Arial"/>
              <a:buChar char="●"/>
            </a:pPr>
            <a:r>
              <a:rPr lang="fr" sz="1300">
                <a:solidFill>
                  <a:schemeClr val="dk2"/>
                </a:solidFill>
                <a:highlight>
                  <a:srgbClr val="FFFFFF"/>
                </a:highlight>
              </a:rPr>
              <a:t>Essai de charge de l'API : le référentiel demande l'orchestration sous charge</a:t>
            </a:r>
            <a:endParaRPr sz="1300">
              <a:solidFill>
                <a:schemeClr val="dk2"/>
              </a:solidFill>
              <a:highlight>
                <a:srgbClr val="FFFFFF"/>
              </a:highlight>
            </a:endParaRPr>
          </a:p>
          <a:p>
            <a:pPr indent="-3111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Arial"/>
              <a:buChar char="●"/>
            </a:pPr>
            <a:r>
              <a:rPr lang="fr" sz="1300">
                <a:solidFill>
                  <a:schemeClr val="dk2"/>
                </a:solidFill>
                <a:highlight>
                  <a:srgbClr val="FFFFFF"/>
                </a:highlight>
              </a:rPr>
              <a:t>Kafka pour le temps réel, stockage objet compatible S3, infrastructure en Terraform</a:t>
            </a:r>
            <a:endParaRPr sz="1300">
              <a:solidFill>
                <a:schemeClr val="dk2"/>
              </a:solidFill>
              <a:highlight>
                <a:srgbClr val="FFFFFF"/>
              </a:highlight>
            </a:endParaRPr>
          </a:p>
          <a:p>
            <a:pPr indent="-3111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Arial"/>
              <a:buChar char="●"/>
            </a:pPr>
            <a:r>
              <a:rPr lang="fr" sz="1300">
                <a:solidFill>
                  <a:schemeClr val="dk2"/>
                </a:solidFill>
                <a:highlight>
                  <a:srgbClr val="FFFFFF"/>
                </a:highlight>
              </a:rPr>
              <a:t>Cible Kubernetes, déjà documentée : une image par rôle, `KubernetesPodOperator` (ADR 0012, 0013)</a:t>
            </a:r>
            <a:endParaRPr sz="1300">
              <a:solidFill>
                <a:schemeClr val="dk2"/>
              </a:solidFill>
              <a:highlight>
                <a:srgbClr val="FFFFFF"/>
              </a:highlight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1" lang="fr" sz="1300">
                <a:solidFill>
                  <a:schemeClr val="dk2"/>
                </a:solidFill>
                <a:highlight>
                  <a:srgbClr val="FFFFFF"/>
                </a:highlight>
              </a:rPr>
              <a:t>Ce que le projet sert au-delà</a:t>
            </a:r>
            <a:endParaRPr b="1" sz="1300">
              <a:solidFill>
                <a:schemeClr val="dk2"/>
              </a:solidFill>
              <a:highlight>
                <a:srgbClr val="FFFFFF"/>
              </a:highlight>
            </a:endParaRPr>
          </a:p>
          <a:p>
            <a:pPr indent="-3111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Arial"/>
              <a:buChar char="●"/>
            </a:pPr>
            <a:r>
              <a:rPr lang="fr" sz="1300">
                <a:solidFill>
                  <a:schemeClr val="dk2"/>
                </a:solidFill>
                <a:highlight>
                  <a:srgbClr val="FFFFFF"/>
                </a:highlight>
              </a:rPr>
              <a:t>Socle réemployable pour les blocs AIA et CDSD — 20 décisions écrites, ADR 0001 à 0020</a:t>
            </a:r>
            <a:endParaRPr sz="1300">
              <a:solidFill>
                <a:schemeClr val="dk2"/>
              </a:solidFill>
              <a:highlight>
                <a:srgbClr val="FFFFFF"/>
              </a:highlight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0DBD0"/>
        </a:solidFill>
      </p:bgPr>
    </p:bg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idx="4294967295" type="ctrTitle"/>
          </p:nvPr>
        </p:nvSpPr>
        <p:spPr>
          <a:xfrm>
            <a:off x="1089725" y="1970775"/>
            <a:ext cx="6269100" cy="698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r>
              <a:rPr lang="fr" sz="520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Questions ?</a:t>
            </a:r>
            <a:endParaRPr i="0" sz="5200" u="none" cap="none" strike="noStrike">
              <a:solidFill>
                <a:srgbClr val="0E3449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pic>
        <p:nvPicPr>
          <p:cNvPr id="225" name="Google Shape;225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18625" y="3006625"/>
            <a:ext cx="4599299" cy="2136876"/>
          </a:xfrm>
          <a:prstGeom prst="rect">
            <a:avLst/>
          </a:prstGeom>
          <a:noFill/>
          <a:ln>
            <a:noFill/>
          </a:ln>
        </p:spPr>
      </p:pic>
      <p:pic>
        <p:nvPicPr>
          <p:cNvPr id="226" name="Google Shape;226;p30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232375" y="915775"/>
            <a:ext cx="797425" cy="8398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