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74" r:id="rId3"/>
    <p:sldId id="275" r:id="rId4"/>
    <p:sldId id="276" r:id="rId5"/>
    <p:sldId id="277" r:id="rId6"/>
    <p:sldId id="278" r:id="rId7"/>
    <p:sldId id="279" r:id="rId8"/>
    <p:sldId id="280" r:id="rId9"/>
    <p:sldId id="273" r:id="rId10"/>
  </p:sldIdLst>
  <p:sldSz cx="9144000" cy="5143500" type="screen16x9"/>
  <p:notesSz cx="6858000" cy="9144000"/>
  <p:embeddedFontLst>
    <p:embeddedFont>
      <p:font typeface="Inter" panose="020B0604020202020204" charset="0"/>
      <p:regular r:id="rId12"/>
      <p:bold r:id="rId13"/>
      <p:italic r:id="rId14"/>
      <p:boldItalic r:id="rId15"/>
    </p:embeddedFont>
    <p:embeddedFont>
      <p:font typeface="Inter SemiBold" panose="020B0604020202020204" charset="0"/>
      <p:regular r:id="rId16"/>
      <p:bold r:id="rId17"/>
      <p:italic r:id="rId18"/>
      <p:boldItalic r:id="rId19"/>
    </p:embeddedFont>
    <p:embeddedFont>
      <p:font typeface="Manrope" panose="020B0604020202020204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a5178bf3d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a5178bf3d4_2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3700" b="1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DBB2E8D6-2DC9-EA94-6CEE-BA2871EA429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32CAEC81-C98E-D1A2-46DB-0642C0A6C431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Sommaire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EEEF8C9-A4EF-3A3D-B0FA-20E9A713D0BF}"/>
              </a:ext>
            </a:extLst>
          </p:cNvPr>
          <p:cNvSpPr txBox="1"/>
          <p:nvPr/>
        </p:nvSpPr>
        <p:spPr>
          <a:xfrm>
            <a:off x="457200" y="939800"/>
            <a:ext cx="3810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00">
                <a:solidFill>
                  <a:srgbClr val="55575A"/>
                </a:solidFill>
                <a:latin typeface="Manrope" panose="020B0604020202020204" charset="0"/>
              </a:rPr>
              <a:t>Projet individuel — Enzo · cohorte dal-ft-18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638B0E3-EC2D-0F9C-98DA-4EBAE0DEE6B1}"/>
              </a:ext>
            </a:extLst>
          </p:cNvPr>
          <p:cNvSpPr txBox="1"/>
          <p:nvPr/>
        </p:nvSpPr>
        <p:spPr>
          <a:xfrm>
            <a:off x="762000" y="1371600"/>
            <a:ext cx="7620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1.  Problème métier et décision servie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2.  Les données réelles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3.  La chaîne de bout en bout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4.  Le modèle, et pourquoi pas un autre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5.  Résultats et preuves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6.  Démonstration en direct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500">
                <a:solidFill>
                  <a:srgbClr val="55575A"/>
                </a:solidFill>
                <a:latin typeface="Manrope" panose="020B0604020202020204" charset="0"/>
              </a:rPr>
              <a:t>7.  Industrialisation, et ce que je construirais ensuite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137144-327E-7B88-5F94-1F2E24F51888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322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989B7DF2-829D-8F17-2C84-C17D377135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1E391F-4B12-B539-4774-8B616827BA06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1.  Problématique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8E94F75-72CF-3E84-3BEE-6994A783CC04}"/>
              </a:ext>
            </a:extLst>
          </p:cNvPr>
          <p:cNvSpPr/>
          <p:nvPr/>
        </p:nvSpPr>
        <p:spPr>
          <a:xfrm>
            <a:off x="457200" y="939800"/>
            <a:ext cx="4064000" cy="1498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200" b="1">
                <a:solidFill>
                  <a:srgbClr val="0E3449"/>
                </a:solidFill>
                <a:latin typeface="Manrope" panose="020B0604020202020204" charset="0"/>
              </a:rPr>
              <a:t>Problème métier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Des centaines d'avis chaque jour, dans plusieurs langues,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lus à la main — ou pas du tout.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Quand un patch casse quelque chose, la note visible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baisse pendant des jours avant qu'on comprenne pourquoi.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C6D5876-4369-B58A-1247-07F0F7F3D809}"/>
              </a:ext>
            </a:extLst>
          </p:cNvPr>
          <p:cNvSpPr/>
          <p:nvPr/>
        </p:nvSpPr>
        <p:spPr>
          <a:xfrm>
            <a:off x="4622800" y="939800"/>
            <a:ext cx="4064000" cy="1498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200" b="1">
                <a:solidFill>
                  <a:srgbClr val="0E3449"/>
                </a:solidFill>
                <a:latin typeface="Manrope" panose="020B0604020202020204" charset="0"/>
              </a:rPr>
              <a:t>Objectif métier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Remonter chaque matin les avis négatifs qui comptent,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par jeu et par langue, avec la raison.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0F1F8E3F-B4B0-A130-E7FD-D306C2A0E98E}"/>
              </a:ext>
            </a:extLst>
          </p:cNvPr>
          <p:cNvSpPr/>
          <p:nvPr/>
        </p:nvSpPr>
        <p:spPr>
          <a:xfrm>
            <a:off x="457200" y="2590800"/>
            <a:ext cx="4064000" cy="1498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200" b="1">
                <a:solidFill>
                  <a:srgbClr val="0E3449"/>
                </a:solidFill>
                <a:latin typeface="Manrope" panose="020B0604020202020204" charset="0"/>
              </a:rPr>
              <a:t>Utilisateur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La personne responsable de la communauté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et du live-ops. Sa décision, chaque matin :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quels retours remonter aux développeurs, en priorité.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1CDEBFB-0586-10D7-3472-B2CA44091F81}"/>
              </a:ext>
            </a:extLst>
          </p:cNvPr>
          <p:cNvSpPr/>
          <p:nvPr/>
        </p:nvSpPr>
        <p:spPr>
          <a:xfrm>
            <a:off x="4622800" y="2590800"/>
            <a:ext cx="4064000" cy="1498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t">
            <a:noAutofit/>
          </a:bodyPr>
          <a:lstStyle/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200" b="1">
                <a:solidFill>
                  <a:srgbClr val="0E3449"/>
                </a:solidFill>
                <a:latin typeface="Manrope" panose="020B0604020202020204" charset="0"/>
              </a:rPr>
              <a:t>Ce que « utile » veut dire — écrit avant le code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Part négative prédite par jeu et par langue,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avis à lire en premier, termes qui pèsent.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lang="fr-FR" sz="1100">
                <a:solidFill>
                  <a:srgbClr val="55575A"/>
                </a:solidFill>
                <a:latin typeface="Manrope" panose="020B0604020202020204" charset="0"/>
              </a:rPr>
              <a:t>Seuil de mise en service : F1 macro ≥ 0,75.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E40BD0D-E6B6-9CB7-D440-DDCB71107652}"/>
              </a:ext>
            </a:extLst>
          </p:cNvPr>
          <p:cNvSpPr txBox="1"/>
          <p:nvPr/>
        </p:nvSpPr>
        <p:spPr>
          <a:xfrm>
            <a:off x="457200" y="4267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La charte fixe l'utilisateur, la décision, le coût et le hors-périmètre : une chaîne sans décision servie est un exercice, pas un produit.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8BFC7-7F7F-6D66-5264-85D85C2B533F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7744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C4F30296-B3F2-6C93-52D7-F8AA788737C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D5EA2EBD-2AD1-A010-92A7-5F166943AF9B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2.  Les données réelles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C4329D-E991-A30B-4F49-C2F443D6AEA5}"/>
              </a:ext>
            </a:extLst>
          </p:cNvPr>
          <p:cNvSpPr txBox="1"/>
          <p:nvPr/>
        </p:nvSpPr>
        <p:spPr>
          <a:xfrm>
            <a:off x="457200" y="838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300" b="1">
                <a:solidFill>
                  <a:srgbClr val="55575A"/>
                </a:solidFill>
                <a:latin typeface="Manrope" panose="020B0604020202020204" charset="0"/>
              </a:rPr>
              <a:t>API publique des avis Steam — plus de 9 000 lignes brutes, 3 jeux, anglais et français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B4536993-3EDF-CB5A-D2AA-178F34030886}"/>
              </a:ext>
            </a:extLst>
          </p:cNvPr>
          <p:cNvSpPr/>
          <p:nvPr/>
        </p:nvSpPr>
        <p:spPr>
          <a:xfrm>
            <a:off x="457200" y="1219200"/>
            <a:ext cx="15494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Autofit/>
          </a:bodyPr>
          <a:lstStyle/>
          <a:p>
            <a:pPr algn="ctr"/>
            <a:r>
              <a:rPr lang="fr-FR" sz="1000" b="1">
                <a:solidFill>
                  <a:srgbClr val="0E3449"/>
                </a:solidFill>
                <a:latin typeface="Manrope" panose="020B0604020202020204" charset="0"/>
              </a:rPr>
              <a:t>1. Zone brute inchangée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C658A97-EF29-B0FC-AF7A-B4BBE3F30E47}"/>
              </a:ext>
            </a:extLst>
          </p:cNvPr>
          <p:cNvSpPr/>
          <p:nvPr/>
        </p:nvSpPr>
        <p:spPr>
          <a:xfrm>
            <a:off x="2120900" y="1219200"/>
            <a:ext cx="15494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Autofit/>
          </a:bodyPr>
          <a:lstStyle/>
          <a:p>
            <a:pPr algn="ctr"/>
            <a:r>
              <a:rPr lang="fr-FR" sz="1000" b="1">
                <a:solidFill>
                  <a:srgbClr val="0E3449"/>
                </a:solidFill>
                <a:latin typeface="Manrope" panose="020B0604020202020204" charset="0"/>
              </a:rPr>
              <a:t>2. Dédoublonnage, nettoyage du BBCode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59629E16-631D-3BB3-D533-ED4D67639BAB}"/>
              </a:ext>
            </a:extLst>
          </p:cNvPr>
          <p:cNvSpPr/>
          <p:nvPr/>
        </p:nvSpPr>
        <p:spPr>
          <a:xfrm>
            <a:off x="3784600" y="1219200"/>
            <a:ext cx="15494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Autofit/>
          </a:bodyPr>
          <a:lstStyle/>
          <a:p>
            <a:pPr algn="ctr"/>
            <a:r>
              <a:rPr lang="fr-FR" sz="1000" b="1">
                <a:solidFill>
                  <a:srgbClr val="0E3449"/>
                </a:solidFill>
                <a:latin typeface="Manrope" panose="020B0604020202020204" charset="0"/>
              </a:rPr>
              <a:t>3. Pseudonymisation HMAC salée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70FEA43-9B99-9D5F-1875-2895AC762BB8}"/>
              </a:ext>
            </a:extLst>
          </p:cNvPr>
          <p:cNvSpPr/>
          <p:nvPr/>
        </p:nvSpPr>
        <p:spPr>
          <a:xfrm>
            <a:off x="5448300" y="1219200"/>
            <a:ext cx="15494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Autofit/>
          </a:bodyPr>
          <a:lstStyle/>
          <a:p>
            <a:pPr algn="ctr"/>
            <a:r>
              <a:rPr lang="fr-FR" sz="1000" b="1">
                <a:solidFill>
                  <a:srgbClr val="0E3449"/>
                </a:solidFill>
                <a:latin typeface="Manrope" panose="020B0604020202020204" charset="0"/>
              </a:rPr>
              <a:t>4. Contrôles bloquants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A2402CE-BD40-0658-E576-59CB21094A48}"/>
              </a:ext>
            </a:extLst>
          </p:cNvPr>
          <p:cNvSpPr/>
          <p:nvPr/>
        </p:nvSpPr>
        <p:spPr>
          <a:xfrm>
            <a:off x="7112000" y="1219200"/>
            <a:ext cx="15494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Autofit/>
          </a:bodyPr>
          <a:lstStyle/>
          <a:p>
            <a:pPr algn="ctr"/>
            <a:r>
              <a:rPr lang="fr-FR" sz="1000" b="1">
                <a:solidFill>
                  <a:srgbClr val="0E3449"/>
                </a:solidFill>
                <a:latin typeface="Manrope" panose="020B0604020202020204" charset="0"/>
              </a:rPr>
              <a:t>5. Great Expectations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83FA084-8CC9-018E-137E-4CFECE3961E1}"/>
              </a:ext>
            </a:extLst>
          </p:cNvPr>
          <p:cNvSpPr txBox="1"/>
          <p:nvPr/>
        </p:nvSpPr>
        <p:spPr>
          <a:xfrm>
            <a:off x="457200" y="1981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Confidentialité, dès la zone propre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A311E86-C176-58CF-0CAC-4CCE102EC92A}"/>
              </a:ext>
            </a:extLst>
          </p:cNvPr>
          <p:cNvSpPr txBox="1"/>
          <p:nvPr/>
        </p:nvSpPr>
        <p:spPr>
          <a:xfrm>
            <a:off x="457200" y="22606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steamid → pseudonymisé par HMAC-SHA256 salé : un identifiant court se casse par dictionnaire, le sel est un secret obligatoire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personaname, profile_url, avatar → supprimés : aucun identifiant direct ne sort de la zone propre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Flux complémentaire d'avis négatifs → entraînement seulement, jamais au test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Idempotence : un second passage n'écrit aucun doublon (manifeste d'identifiants)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Zone silver Iceberg : un instantané par écriture, chacun restaurable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3F2D14-4AFD-D6FD-B75C-D59DF6DF4CA1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1028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F44BA1AA-25A9-6922-B300-4865409334D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4BFC35B-199B-075A-16FD-551E5E0AE047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3.  La chaîne de bout en bout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6F1FB3-99C7-665A-BA57-4382AD285576}"/>
              </a:ext>
            </a:extLst>
          </p:cNvPr>
          <p:cNvSpPr txBox="1"/>
          <p:nvPr/>
        </p:nvSpPr>
        <p:spPr>
          <a:xfrm>
            <a:off x="457200" y="838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300" b="1">
                <a:solidFill>
                  <a:srgbClr val="55575A"/>
                </a:solidFill>
                <a:latin typeface="Manrope" panose="020B0604020202020204" charset="0"/>
              </a:rPr>
              <a:t>Un DAG Airflow quotidien, neuf tâches — exécuté en réel, puis lancé seul par le planificateur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2CD7C64-DBE1-835D-C5BD-619035324289}"/>
              </a:ext>
            </a:extLst>
          </p:cNvPr>
          <p:cNvSpPr/>
          <p:nvPr/>
        </p:nvSpPr>
        <p:spPr>
          <a:xfrm>
            <a:off x="4572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Ingestion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idempotente, API Steam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38CBCA27-823A-CE2F-23D5-24FD0F119203}"/>
              </a:ext>
            </a:extLst>
          </p:cNvPr>
          <p:cNvCxnSpPr/>
          <p:nvPr/>
        </p:nvCxnSpPr>
        <p:spPr>
          <a:xfrm>
            <a:off x="15494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15F6E56-0A21-3B8A-EA2B-AAF15702A526}"/>
              </a:ext>
            </a:extLst>
          </p:cNvPr>
          <p:cNvSpPr/>
          <p:nvPr/>
        </p:nvSpPr>
        <p:spPr>
          <a:xfrm>
            <a:off x="16383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Silver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PySpark + Iceberg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0CA2D59-4BA0-8578-13E0-6CD853FA8414}"/>
              </a:ext>
            </a:extLst>
          </p:cNvPr>
          <p:cNvCxnSpPr/>
          <p:nvPr/>
        </p:nvCxnSpPr>
        <p:spPr>
          <a:xfrm>
            <a:off x="27305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09F6B01-BFE7-5781-0DA7-CEA8FED2AB2C}"/>
              </a:ext>
            </a:extLst>
          </p:cNvPr>
          <p:cNvSpPr/>
          <p:nvPr/>
        </p:nvSpPr>
        <p:spPr>
          <a:xfrm>
            <a:off x="28194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Porte de qualité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Great Expectations, bloquante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AB226C9-3911-64A4-C3F7-038C8D4A9A46}"/>
              </a:ext>
            </a:extLst>
          </p:cNvPr>
          <p:cNvCxnSpPr/>
          <p:nvPr/>
        </p:nvCxnSpPr>
        <p:spPr>
          <a:xfrm>
            <a:off x="39116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429CED-AFC5-C764-582D-1E091187D706}"/>
              </a:ext>
            </a:extLst>
          </p:cNvPr>
          <p:cNvSpPr/>
          <p:nvPr/>
        </p:nvSpPr>
        <p:spPr>
          <a:xfrm>
            <a:off x="40005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Score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champion MLflow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4C512577-F5DE-A55B-B86B-49BA1948581A}"/>
              </a:ext>
            </a:extLst>
          </p:cNvPr>
          <p:cNvCxnSpPr/>
          <p:nvPr/>
        </p:nvCxnSpPr>
        <p:spPr>
          <a:xfrm>
            <a:off x="50927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99B8B079-34B2-AD1F-E5F5-FFF1EAFBC675}"/>
              </a:ext>
            </a:extLst>
          </p:cNvPr>
          <p:cNvSpPr/>
          <p:nvPr/>
        </p:nvSpPr>
        <p:spPr>
          <a:xfrm>
            <a:off x="51816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Dérive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PSI, alerte hors journal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FEF4C6B4-7D47-1DA9-AE08-D3FE6C12ED9E}"/>
              </a:ext>
            </a:extLst>
          </p:cNvPr>
          <p:cNvCxnSpPr/>
          <p:nvPr/>
        </p:nvCxnSpPr>
        <p:spPr>
          <a:xfrm>
            <a:off x="62738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C2B095B-6241-1047-F893-D74C52E1640A}"/>
              </a:ext>
            </a:extLst>
          </p:cNvPr>
          <p:cNvSpPr/>
          <p:nvPr/>
        </p:nvSpPr>
        <p:spPr>
          <a:xfrm>
            <a:off x="63627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en-US" sz="950" b="1">
                <a:solidFill>
                  <a:srgbClr val="0E3449"/>
                </a:solidFill>
                <a:latin typeface="Manrope" panose="020B0604020202020204" charset="0"/>
              </a:rPr>
              <a:t>Gold</a:t>
            </a:r>
          </a:p>
          <a:p>
            <a:pPr algn="ctr"/>
            <a:r>
              <a:rPr lang="en-US" sz="800">
                <a:solidFill>
                  <a:srgbClr val="55575A"/>
                </a:solidFill>
                <a:latin typeface="Manrope" panose="020B0604020202020204" charset="0"/>
              </a:rPr>
              <a:t>dbt + DuckDB, 30 tests</a:t>
            </a:r>
            <a:endParaRPr lang="fr-FR" sz="800">
              <a:solidFill>
                <a:srgbClr val="55575A"/>
              </a:solidFill>
              <a:latin typeface="Manrope" panose="020B0604020202020204" charset="0"/>
            </a:endParaRP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FFA54858-AF2F-05DE-46AD-89A380223D06}"/>
              </a:ext>
            </a:extLst>
          </p:cNvPr>
          <p:cNvCxnSpPr/>
          <p:nvPr/>
        </p:nvCxnSpPr>
        <p:spPr>
          <a:xfrm>
            <a:off x="7454900" y="1689100"/>
            <a:ext cx="88900" cy="0"/>
          </a:xfrm>
          <a:prstGeom prst="line">
            <a:avLst/>
          </a:prstGeom>
          <a:ln w="15875">
            <a:solidFill>
              <a:srgbClr val="FF70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389EFC14-1FF1-7CAE-BC58-A5EB3B9ABA01}"/>
              </a:ext>
            </a:extLst>
          </p:cNvPr>
          <p:cNvSpPr/>
          <p:nvPr/>
        </p:nvSpPr>
        <p:spPr>
          <a:xfrm>
            <a:off x="7543800" y="1320800"/>
            <a:ext cx="1092200" cy="736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0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>
            <a:noAutofit/>
          </a:bodyPr>
          <a:lstStyle/>
          <a:p>
            <a:pPr algn="ctr"/>
            <a:r>
              <a:rPr lang="fr-FR" sz="950" b="1">
                <a:solidFill>
                  <a:srgbClr val="0E3449"/>
                </a:solidFill>
                <a:latin typeface="Manrope" panose="020B0604020202020204" charset="0"/>
              </a:rPr>
              <a:t>Porte silver / gold</a:t>
            </a:r>
          </a:p>
          <a:p>
            <a:pPr algn="ctr"/>
            <a:r>
              <a:rPr lang="fr-FR" sz="800">
                <a:solidFill>
                  <a:srgbClr val="55575A"/>
                </a:solidFill>
                <a:latin typeface="Manrope" panose="020B0604020202020204" charset="0"/>
              </a:rPr>
              <a:t>4 suites, 29 attentes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2CDBF99-A040-F13F-66FA-41D6A3397523}"/>
              </a:ext>
            </a:extLst>
          </p:cNvPr>
          <p:cNvSpPr txBox="1"/>
          <p:nvPr/>
        </p:nvSpPr>
        <p:spPr>
          <a:xfrm>
            <a:off x="457200" y="21590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Puis la branche de réentraînement, qui ne se déclenche que si la dérive dépasse le seuil — sautée par conception le 21/09.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708FF8D-6588-95B5-23C9-C3A0E3E99C73}"/>
              </a:ext>
            </a:extLst>
          </p:cNvPr>
          <p:cNvSpPr txBox="1"/>
          <p:nvPr/>
        </p:nvSpPr>
        <p:spPr>
          <a:xfrm>
            <a:off x="457200" y="25146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Pourquoi ces choix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55D2946-B930-6A5C-38A8-D11CAB7F55EA}"/>
              </a:ext>
            </a:extLst>
          </p:cNvPr>
          <p:cNvSpPr txBox="1"/>
          <p:nvPr/>
        </p:nvSpPr>
        <p:spPr>
          <a:xfrm>
            <a:off x="457200" y="27940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Spark pour la zone silver : la brique du programme, et pandas reste la référence de comparaison dans les tests — ADR 0014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dbt pour la zone gold : le seul endroit où le travail est de la modélisation SQL, où un contrat compte plus que du code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DuckDB plutôt qu'un entrepôt géré : la démonstration ne dépend d'aucun compte externe — ADR 0013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Chaque décision est écrite dans un ADR, avec la mesure qui l'a motivée et l'alternative écartée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99028C-7A09-B9D5-7DDB-0EDADE773EF4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2602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7268E3AF-810A-1DF1-BB80-62DFA058AB5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4E0B480-A693-A7D2-7648-0723169B660C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4.  Le modèle — et pourquoi pas un autre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52ED2CC-CB0C-7755-1E2B-C76C04E96236}"/>
              </a:ext>
            </a:extLst>
          </p:cNvPr>
          <p:cNvSpPr txBox="1"/>
          <p:nvPr/>
        </p:nvSpPr>
        <p:spPr>
          <a:xfrm>
            <a:off x="457200" y="838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Classer un avis en positif ou négatif est un tri supervisé sur un texte court, déjà étiqueté par la plateforme : un classifieur linéaire le résout, s'explique terme par terme, se réentraîne en secondes. Un LLM ajouterait latence, coût et approximation.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BCF4EFF-525C-D775-4358-8046B62C1BDC}"/>
              </a:ext>
            </a:extLst>
          </p:cNvPr>
          <p:cNvSpPr txBox="1"/>
          <p:nvPr/>
        </p:nvSpPr>
        <p:spPr>
          <a:xfrm>
            <a:off x="457200" y="13462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Variantes mesurées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7B5A59-B363-B793-BB57-846F54D8B446}"/>
              </a:ext>
            </a:extLst>
          </p:cNvPr>
          <p:cNvSpPr txBox="1"/>
          <p:nvPr/>
        </p:nvSpPr>
        <p:spPr>
          <a:xfrm>
            <a:off x="457200" y="16256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Mots, 1 à 2 grammes : F1 macro 0,735 — refusé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Régularisation ajustée : 0,756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Caractères, 2 à 5 grammes : 0,759, puis 0,797 avec le flux négatif, puis 0,803 après réglage → retenu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Seuil appris par validation croisée : 0,775, pas 0,5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73F9ADD-42B2-D9FF-2B7D-E42223A14B3E}"/>
              </a:ext>
            </a:extLst>
          </p:cNvPr>
          <p:cNvSpPr txBox="1"/>
          <p:nvPr/>
        </p:nvSpPr>
        <p:spPr>
          <a:xfrm>
            <a:off x="4622800" y="13462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Un autre modèle ferait-il mieux ? Mesuré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35E2251A-ABF3-DDD5-1425-71A06C72D3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773455"/>
              </p:ext>
            </p:extLst>
          </p:nvPr>
        </p:nvGraphicFramePr>
        <p:xfrm>
          <a:off x="4622800" y="1651000"/>
          <a:ext cx="4064000" cy="1498600"/>
        </p:xfrm>
        <a:graphic>
          <a:graphicData uri="http://schemas.openxmlformats.org/drawingml/2006/table">
            <a:tbl>
              <a:tblPr firstRow="1" bandRow="1">
                <a:tableStyleId>{133F6B79-F5F2-4B6F-ACAE-D93EBFE36144}</a:tableStyleId>
              </a:tblPr>
              <a:tblGrid>
                <a:gridCol w="2235200">
                  <a:extLst>
                    <a:ext uri="{9D8B030D-6E8A-4147-A177-3AD203B41FA5}">
                      <a16:colId xmlns:a16="http://schemas.microsoft.com/office/drawing/2014/main" val="23327352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5607147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3439311288"/>
                    </a:ext>
                  </a:extLst>
                </a:gridCol>
              </a:tblGrid>
              <a:tr h="249767"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FFFFFF"/>
                          </a:solidFill>
                          <a:latin typeface="Manrope" panose="020B0604020202020204" charset="0"/>
                        </a:rPr>
                        <a:t>Candidat</a:t>
                      </a:r>
                    </a:p>
                  </a:txBody>
                  <a:tcPr marT="12700" marB="12700">
                    <a:solidFill>
                      <a:srgbClr val="0E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FFFFFF"/>
                          </a:solidFill>
                          <a:latin typeface="Manrope" panose="020B0604020202020204" charset="0"/>
                        </a:rPr>
                        <a:t>F1 macro</a:t>
                      </a:r>
                    </a:p>
                  </a:txBody>
                  <a:tcPr marT="12700" marB="12700">
                    <a:solidFill>
                      <a:srgbClr val="0E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FFFFFF"/>
                          </a:solidFill>
                          <a:latin typeface="Manrope" panose="020B0604020202020204" charset="0"/>
                        </a:rPr>
                        <a:t>Explication</a:t>
                      </a:r>
                    </a:p>
                  </a:txBody>
                  <a:tcPr marT="12700" marB="12700">
                    <a:solidFill>
                      <a:srgbClr val="0E34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423898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Régression logistique (en service)</a:t>
                      </a:r>
                    </a:p>
                  </a:txBody>
                  <a:tcPr marT="12700" marB="12700">
                    <a:solidFill>
                      <a:srgbClr val="C3FF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0,812</a:t>
                      </a:r>
                    </a:p>
                  </a:txBody>
                  <a:tcPr marT="12700" marB="12700">
                    <a:solidFill>
                      <a:srgbClr val="C3FF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1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exacte</a:t>
                      </a:r>
                    </a:p>
                  </a:txBody>
                  <a:tcPr marT="12700" marB="12700">
                    <a:solidFill>
                      <a:srgbClr val="C3F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8370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SVM linéaire calibrée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0,807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perdue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81548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XGBoost — coût × 23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0,735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perdue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666379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Forêt aléatoire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0,719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perdue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982499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Bayes naïf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0,668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b="0">
                          <a:solidFill>
                            <a:srgbClr val="55575A"/>
                          </a:solidFill>
                          <a:latin typeface="Manrope" panose="020B0604020202020204" charset="0"/>
                        </a:rPr>
                        <a:t>exacte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9586"/>
                  </a:ext>
                </a:extLst>
              </a:tr>
            </a:tbl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FF7D5859-65AD-4218-AC95-746847CA00FB}"/>
              </a:ext>
            </a:extLst>
          </p:cNvPr>
          <p:cNvSpPr txBox="1"/>
          <p:nvPr/>
        </p:nvSpPr>
        <p:spPr>
          <a:xfrm>
            <a:off x="457200" y="32766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Neuf candidats, les mêmes plis, le flux complémentaire à l'entraînement seulement ; règle de décision écrite avant de lire les résultats. L'écart avec la SVM (0,004) est sous l'écart-type des plis (0,017) : à gain égal, le modèle explicable l'emporte. Les arbres sont à quatre écarts-types. Aucun transformeur mesuré — c'est dit, avec son prix. ADR 0006, 0007, 0030.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1222D1-20F1-880F-3709-5CE4292D0C4E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3543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FBC354DB-E430-2F0A-DF9C-BC1E14F62B9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78AFF28-27AC-3E91-33A4-DE69E7EDC14A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5.  Résultats et preuves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6BACCF5-CD17-D4BA-3CBE-12B44F8741C4}"/>
              </a:ext>
            </a:extLst>
          </p:cNvPr>
          <p:cNvSpPr txBox="1"/>
          <p:nvPr/>
        </p:nvSpPr>
        <p:spPr>
          <a:xfrm>
            <a:off x="457200" y="8382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300" b="1">
                <a:solidFill>
                  <a:srgbClr val="55575A"/>
                </a:solidFill>
                <a:latin typeface="Manrope" panose="020B0604020202020204" charset="0"/>
              </a:rPr>
              <a:t>TF-IDF caractères (2, 5) + régression logistique — sur un test 100 % naturel tenu à l'écart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E9179FC-5FC1-D968-E283-5653E3A4802A}"/>
              </a:ext>
            </a:extLst>
          </p:cNvPr>
          <p:cNvSpPr/>
          <p:nvPr/>
        </p:nvSpPr>
        <p:spPr>
          <a:xfrm>
            <a:off x="457200" y="1219200"/>
            <a:ext cx="1498600" cy="787400"/>
          </a:xfrm>
          <a:prstGeom prst="roundRect">
            <a:avLst>
              <a:gd name="adj" fmla="val 10000"/>
            </a:avLst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8100" bIns="38100" rtlCol="0" anchor="ctr"/>
          <a:lstStyle/>
          <a:p>
            <a:pPr algn="ctr"/>
            <a:r>
              <a:rPr lang="fr-FR" sz="2000" b="1">
                <a:solidFill>
                  <a:srgbClr val="0E3449"/>
                </a:solidFill>
                <a:latin typeface="Inter SemiBold" panose="020B0604020202020204" charset="0"/>
              </a:rPr>
              <a:t>0,803</a:t>
            </a:r>
          </a:p>
          <a:p>
            <a:pPr algn="ctr"/>
            <a:r>
              <a:rPr lang="fr-FR" sz="950">
                <a:solidFill>
                  <a:srgbClr val="55575A"/>
                </a:solidFill>
                <a:latin typeface="Manrope" panose="020B0604020202020204" charset="0"/>
              </a:rPr>
              <a:t>F1 macro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ED52BF55-3A11-9B70-F098-0356F8A5369F}"/>
              </a:ext>
            </a:extLst>
          </p:cNvPr>
          <p:cNvSpPr/>
          <p:nvPr/>
        </p:nvSpPr>
        <p:spPr>
          <a:xfrm>
            <a:off x="2108200" y="1219200"/>
            <a:ext cx="1498600" cy="787400"/>
          </a:xfrm>
          <a:prstGeom prst="roundRect">
            <a:avLst>
              <a:gd name="adj" fmla="val 10000"/>
            </a:avLst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8100" bIns="38100" rtlCol="0" anchor="ctr"/>
          <a:lstStyle/>
          <a:p>
            <a:pPr algn="ctr"/>
            <a:r>
              <a:rPr lang="fr-FR" sz="2000" b="1">
                <a:solidFill>
                  <a:srgbClr val="0E3449"/>
                </a:solidFill>
                <a:latin typeface="Inter SemiBold" panose="020B0604020202020204" charset="0"/>
              </a:rPr>
              <a:t>0,940</a:t>
            </a:r>
          </a:p>
          <a:p>
            <a:pPr algn="ctr"/>
            <a:r>
              <a:rPr lang="fr-FR" sz="950">
                <a:solidFill>
                  <a:srgbClr val="55575A"/>
                </a:solidFill>
                <a:latin typeface="Manrope" panose="020B0604020202020204" charset="0"/>
              </a:rPr>
              <a:t>AUC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3C8DEB1F-8C04-67E6-D0A5-AADCF529B80F}"/>
              </a:ext>
            </a:extLst>
          </p:cNvPr>
          <p:cNvSpPr/>
          <p:nvPr/>
        </p:nvSpPr>
        <p:spPr>
          <a:xfrm>
            <a:off x="3759200" y="1219200"/>
            <a:ext cx="1498600" cy="787400"/>
          </a:xfrm>
          <a:prstGeom prst="roundRect">
            <a:avLst>
              <a:gd name="adj" fmla="val 10000"/>
            </a:avLst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8100" bIns="38100" rtlCol="0" anchor="ctr"/>
          <a:lstStyle/>
          <a:p>
            <a:pPr algn="ctr"/>
            <a:r>
              <a:rPr lang="fr-FR" sz="2000" b="1">
                <a:solidFill>
                  <a:srgbClr val="0E3449"/>
                </a:solidFill>
                <a:latin typeface="Inter SemiBold" panose="020B0604020202020204" charset="0"/>
              </a:rPr>
              <a:t>0,650</a:t>
            </a:r>
          </a:p>
          <a:p>
            <a:pPr algn="ctr"/>
            <a:r>
              <a:rPr lang="fr-FR" sz="950">
                <a:solidFill>
                  <a:srgbClr val="55575A"/>
                </a:solidFill>
                <a:latin typeface="Manrope" panose="020B0604020202020204" charset="0"/>
              </a:rPr>
              <a:t>rappel des négatifs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DB8CC9D-87DD-A3DF-2F9F-16D16BACF9B7}"/>
              </a:ext>
            </a:extLst>
          </p:cNvPr>
          <p:cNvSpPr/>
          <p:nvPr/>
        </p:nvSpPr>
        <p:spPr>
          <a:xfrm>
            <a:off x="5410200" y="1219200"/>
            <a:ext cx="1498600" cy="787400"/>
          </a:xfrm>
          <a:prstGeom prst="roundRect">
            <a:avLst>
              <a:gd name="adj" fmla="val 10000"/>
            </a:avLst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8100" bIns="38100" rtlCol="0" anchor="ctr"/>
          <a:lstStyle/>
          <a:p>
            <a:pPr algn="ctr"/>
            <a:r>
              <a:rPr lang="fr-FR" sz="2000" b="1">
                <a:solidFill>
                  <a:srgbClr val="0E3449"/>
                </a:solidFill>
                <a:latin typeface="Inter SemiBold" panose="020B0604020202020204" charset="0"/>
              </a:rPr>
              <a:t>0,775</a:t>
            </a:r>
          </a:p>
          <a:p>
            <a:pPr algn="ctr"/>
            <a:r>
              <a:rPr lang="fr-FR" sz="950">
                <a:solidFill>
                  <a:srgbClr val="55575A"/>
                </a:solidFill>
                <a:latin typeface="Manrope" panose="020B0604020202020204" charset="0"/>
              </a:rPr>
              <a:t>seuil appris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5F4911F-2CAE-7078-1164-4BF43C5C1D62}"/>
              </a:ext>
            </a:extLst>
          </p:cNvPr>
          <p:cNvSpPr/>
          <p:nvPr/>
        </p:nvSpPr>
        <p:spPr>
          <a:xfrm>
            <a:off x="7061200" y="1219200"/>
            <a:ext cx="1625600" cy="787400"/>
          </a:xfrm>
          <a:prstGeom prst="roundRect">
            <a:avLst>
              <a:gd name="adj" fmla="val 10000"/>
            </a:avLst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8100" bIns="38100" rtlCol="0" anchor="ctr"/>
          <a:lstStyle/>
          <a:p>
            <a:pPr algn="ctr"/>
            <a:r>
              <a:rPr lang="fr-FR" sz="2000" b="1">
                <a:solidFill>
                  <a:srgbClr val="0E3449"/>
                </a:solidFill>
                <a:latin typeface="Inter SemiBold" panose="020B0604020202020204" charset="0"/>
              </a:rPr>
              <a:t>≥ 0,75</a:t>
            </a:r>
          </a:p>
          <a:p>
            <a:pPr algn="ctr"/>
            <a:r>
              <a:rPr lang="fr-FR" sz="950">
                <a:solidFill>
                  <a:srgbClr val="55575A"/>
                </a:solidFill>
                <a:latin typeface="Manrope" panose="020B0604020202020204" charset="0"/>
              </a:rPr>
              <a:t>barrière de promotion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6CF66C0-63AB-9D80-C850-3480E7154919}"/>
              </a:ext>
            </a:extLst>
          </p:cNvPr>
          <p:cNvSpPr txBox="1"/>
          <p:nvPr/>
        </p:nvSpPr>
        <p:spPr>
          <a:xfrm>
            <a:off x="457200" y="21590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Comment je sais que ça marche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1DE2C07-706B-3A77-879B-EC6CE911F5AE}"/>
              </a:ext>
            </a:extLst>
          </p:cNvPr>
          <p:cNvSpPr txBox="1"/>
          <p:nvPr/>
        </p:nvSpPr>
        <p:spPr>
          <a:xfrm>
            <a:off x="457200" y="24384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149 tests automatisés verts, en intégration continue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28 tests inverses : un défaut volontaire est injecté, un test nommé doit le détecter — 28 sur 28, en un seul passage, sur un runner GitHub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16 contrôles sur 16 sur la pile déployée ; DAG quotidien exécuté en réel, 9 tâches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Deux entraînements successifs donnent le même F1 à la seizième décimale : le code est déterministe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La barrière de promotion a été éprouvée dans les deux sens : elle a promu un modèle meilleur et refusé un modèle moins bon — ADR 0008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00943B-FC4E-099F-F6DE-B9086EF9F8C6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780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3;p15">
            <a:extLst>
              <a:ext uri="{FF2B5EF4-FFF2-40B4-BE49-F238E27FC236}">
                <a16:creationId xmlns:a16="http://schemas.microsoft.com/office/drawing/2014/main" id="{CFE7D2DA-2022-7819-DFF6-30892103E32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7200" y="330200"/>
            <a:ext cx="5715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88C8808-1752-29E1-6B8E-64205014E0DB}"/>
              </a:ext>
            </a:extLst>
          </p:cNvPr>
          <p:cNvSpPr txBox="1"/>
          <p:nvPr/>
        </p:nvSpPr>
        <p:spPr>
          <a:xfrm>
            <a:off x="1143000" y="279400"/>
            <a:ext cx="75438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 b="1">
                <a:solidFill>
                  <a:srgbClr val="0E3449"/>
                </a:solidFill>
                <a:latin typeface="Inter SemiBold" panose="020B0604020202020204" charset="0"/>
              </a:rPr>
              <a:t>6.  Industrialisation, et la suite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56FA97C-D9D4-4772-1872-4F755476EEA5}"/>
              </a:ext>
            </a:extLst>
          </p:cNvPr>
          <p:cNvSpPr txBox="1"/>
          <p:nvPr/>
        </p:nvSpPr>
        <p:spPr>
          <a:xfrm>
            <a:off x="457200" y="8382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Ce qui tourne sans moi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EC8A66-4CFF-5A81-813B-93456238B0AA}"/>
              </a:ext>
            </a:extLst>
          </p:cNvPr>
          <p:cNvSpPr txBox="1"/>
          <p:nvPr/>
        </p:nvSpPr>
        <p:spPr>
          <a:xfrm>
            <a:off x="457200" y="11176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DAG Airflow quotidien, 9 tâches, PostgreSQL ; l'exécution planifiée s'est lancée seule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Dépôt public, CI verte : tests, portes, 28 mutations à chaque envoi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Dérive mesurée à chaque passage, alerte écrite hors du journal, réentraînement déclenché sur seuil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Retour arrière outillé : alias MLflow pour le modèle, instantané Iceberg pour les données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Essai de charge : 300 requêtes, 0 % d'erreur, p99 925 ms à chaud — 5,9 s au premier appel à froid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2335CF-96B1-BBEE-11EA-E7992B214F12}"/>
              </a:ext>
            </a:extLst>
          </p:cNvPr>
          <p:cNvSpPr txBox="1"/>
          <p:nvPr/>
        </p:nvSpPr>
        <p:spPr>
          <a:xfrm>
            <a:off x="4622800" y="8382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FF7047"/>
                </a:solidFill>
                <a:latin typeface="Manrope" panose="020B0604020202020204" charset="0"/>
              </a:rPr>
              <a:t>Ce qui manque — dit comme un manque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488E816-C8C6-A7BB-33BB-018D73593D43}"/>
              </a:ext>
            </a:extLst>
          </p:cNvPr>
          <p:cNvSpPr txBox="1"/>
          <p:nvPr/>
        </p:nvSpPr>
        <p:spPr>
          <a:xfrm>
            <a:off x="4622800" y="1117600"/>
            <a:ext cx="40640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La mesure de biais par langue et par jeu : l'AI Act la demande, je ne l'ai pas — ADR 0021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Kafka pour le temps réel, stockage objet S3, Terraform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Kubernetes : écarté pour la démonstration, décrit comme cible — ADR 0012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Un transformeur, non mesuré : des centaines de Mo dans l'image et une explication approchée</a:t>
            </a:r>
          </a:p>
          <a:p>
            <a:pPr marL="177800" indent="-177800">
              <a:lnSpc>
                <a:spcPct val="105000"/>
              </a:lnSpc>
              <a:spcBef>
                <a:spcPts val="400"/>
              </a:spcBef>
              <a:buClr>
                <a:srgbClr val="FF7047"/>
              </a:buClr>
              <a:buFont typeface="+mj-lt"/>
              <a:buChar char="•"/>
            </a:pPr>
            <a:r>
              <a:rPr lang="fr-FR" sz="1000">
                <a:solidFill>
                  <a:srgbClr val="55575A"/>
                </a:solidFill>
                <a:latin typeface="Manrope" panose="020B0604020202020204" charset="0"/>
              </a:rPr>
              <a:t>Chaque manque est écrit dans un ADR, avec sa condition de révision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654CC10-1CEE-ED3F-2E73-771DDE17A79F}"/>
              </a:ext>
            </a:extLst>
          </p:cNvPr>
          <p:cNvSpPr txBox="1"/>
          <p:nvPr/>
        </p:nvSpPr>
        <p:spPr>
          <a:xfrm>
            <a:off x="457200" y="31750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250" b="1">
                <a:solidFill>
                  <a:srgbClr val="0E3449"/>
                </a:solidFill>
                <a:latin typeface="Manrope" panose="020B0604020202020204" charset="0"/>
              </a:rPr>
              <a:t>Ce que le projet sert au-delà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CEF0356-8A59-0A70-8804-4C22DB68D471}"/>
              </a:ext>
            </a:extLst>
          </p:cNvPr>
          <p:cNvSpPr txBox="1"/>
          <p:nvPr/>
        </p:nvSpPr>
        <p:spPr>
          <a:xfrm>
            <a:off x="457200" y="3454400"/>
            <a:ext cx="8229600" cy="30777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050">
                <a:solidFill>
                  <a:srgbClr val="55575A"/>
                </a:solidFill>
                <a:latin typeface="Manrope" panose="020B0604020202020204" charset="0"/>
              </a:rPr>
              <a:t>Ce projet couvre un bloc de certification, le quatrième de l'Architecte IA. Pour les autres, ce sont les briques qui circulent — orchestration, porte de qualité, registre de modèles, réversibilité — et chaque bloc garde son projet imposé. 31 décisions écrites, ADR 0001 à 0031. Le piège serait de prétendre qu'un projet couvre tout : il n'en couvre qu'un, et il outille les autres.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69B334-C9EB-CE6E-6E15-347739C13A5F}"/>
              </a:ext>
            </a:extLst>
          </p:cNvPr>
          <p:cNvSpPr/>
          <p:nvPr/>
        </p:nvSpPr>
        <p:spPr>
          <a:xfrm>
            <a:off x="0" y="4889500"/>
            <a:ext cx="9144000" cy="254000"/>
          </a:xfrm>
          <a:prstGeom prst="rect">
            <a:avLst/>
          </a:prstGeom>
          <a:solidFill>
            <a:srgbClr val="C3FFF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53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sz="520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1167</Words>
  <Application>Microsoft Office PowerPoint</Application>
  <PresentationFormat>Affichage à l'écran (16:9)</PresentationFormat>
  <Paragraphs>125</Paragraphs>
  <Slides>9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Manrope</vt:lpstr>
      <vt:lpstr>Inter</vt:lpstr>
      <vt:lpstr>Inter SemiBold</vt:lpstr>
      <vt:lpstr>Arial</vt:lpstr>
      <vt:lpstr>Simple Light</vt:lpstr>
      <vt:lpstr>Bootcamp Data Lead — Demo Day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Enzo Di Bacco</cp:lastModifiedBy>
  <cp:revision>1</cp:revision>
  <dcterms:modified xsi:type="dcterms:W3CDTF">2026-09-21T23:31:09Z</dcterms:modified>
</cp:coreProperties>
</file>