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61" r:id="rId11"/>
    <p:sldId id="268" r:id="rId18"/>
    <p:sldId id="269" r:id="rId19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Bootcamp Data Lead — Demo Day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les avis Steam négatifs triés chaque matin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Projet individuel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Enzo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Problème métier et décision servie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Les données réelles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La chaîne de bout en bout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modèle et sa preuve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 xml:space="preserve">Démonstration </a:t>
            </a:r>
            <a:r>
              <a:rPr lang="fr" sz="1800">
                <a:solidFill>
                  <a:schemeClr val="dk2"/>
                </a:solidFill>
              </a:rPr>
              <a:t>en direct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Industrialisation et suite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70" name="Shape 70"/><p:cNvGrpSpPr/><p:nvPr/></p:nvGrpSpPr><p:grpSpPr><a:xfrm><a:off x="0" y="0"/><a:ext cx="0" cy="0"/><a:chOff x="0" y="0"/><a:chExt cx="0" cy="0"/></a:xfrm></p:grpSpPr><p:sp><p:nvSpPr><p:cNvPr id="71" name="Google Shape;71;p1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-387350" lvl="0" marL="457200" marR="0" rtl="0" algn="l"><a:lnSpc><a:spcPct val="100000"/></a:lnSpc><a:spcBef><a:spcPts val="0"/></a:spcBef><a:spcAft><a:spcPts val="0"/></a:spcAft><a:buClr><a:srgbClr val="0E3449"/></a:buClr><a:buSzPts val="2500"/><a:buFont typeface="Inter SemiBold"/><a:buAutoNum type="arabicPeriod"/></a:pPr><a:r><a:rPr lang="fr" sz="2500"><a:solidFill><a:srgbClr val="0E3449"/></a:solidFill><a:latin typeface="Inter SemiBold"/><a:ea typeface="Inter SemiBold"/><a:cs typeface="Inter SemiBold"/><a:sym typeface="Inter SemiBold"/></a:rPr><a:t>Problématique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72" name="Google Shape;72;p1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73" name="Google Shape;73;p1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74" name="Google Shape;74;p15"/><p:cNvSpPr/><p:nvPr/></p:nvSpPr><p:spPr><a:xfrm><a:off x="463375" y="1366330"/><a:ext cx="35154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Problème métier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Des centaines d'avis chaque jour, lus à la main ou pas du tout.</a:t></a:r><a:endParaRPr/></a:p></p:txBody></p:sp><p:sp><p:nvSpPr><p:cNvPr id="75" name="Google Shape;75;p15"/><p:cNvSpPr/><p:nvPr/></p:nvSpPr><p:spPr><a:xfrm><a:off x="4853225" y="12477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Objectif métier :</a:t></a:r><a:r><a:rPr lang="fr" sz="1650"><a:solidFill><a:srgbClr val="55575A"/></a:solidFill><a:latin typeface="Manrope"/><a:ea typeface="Manrope"/><a:cs typeface="Manrope"/><a:sym typeface="Manrope"/></a:rPr><a:t>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Remonter chaque matin les avis négatifs qui comptent, par jeu et par langue</a:t></a:r><a:endParaRPr/></a:p></p:txBody></p:sp><p:sp><p:nvSpPr><p:cNvPr id="76" name="Google Shape;76;p15"/><p:cNvSpPr/><p:nvPr/></p:nvSpPr><p:spPr><a:xfrm><a:off x="463375" y="3193374"/><a:ext cx="3515400" cy="14730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Cible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Responsable community et live-ops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Équipe de développement</a:t></a:r><a:endParaRPr b="1" sz="1650"><a:solidFill><a:srgbClr val="55575A"/></a:solidFill><a:latin typeface="Manrope"/><a:ea typeface="Manrope"/><a:cs typeface="Manrope"/><a:sym typeface="Manrope"/></a:endParaRPr></a:p></p:txBody></p:sp><p:sp><p:nvSpPr><p:cNvPr id="77" name="Google Shape;77;p15"/><p:cNvSpPr/><p:nvPr/></p:nvSpPr><p:spPr><a:xfrm><a:off x="4853225" y="3134900"/><a:ext cx="3515400" cy="15759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Besoin</a:t></a:r><a:endParaRPr b="1" sz="1650"><a:solidFill><a:srgbClr val="55575A"/></a:solidFill><a:latin typeface="Manrope"/><a:ea typeface="Manrope"/><a:cs typeface="Manrope"/><a:sym typeface="Manrope"/></a:endParaRPr></a:p><a:p><a:pPr indent="0" lvl="0" marL="0" rtl="0" algn="l"><a:lnSpc><a:spcPct val="157575"/></a:lnSpc><a:spcBef><a:spcPts val="0"/></a:spcBef><a:spcAft><a:spcPts val="0"/></a:spcAft><a:buNone/></a:pPr><a:r><a:rPr lang="fr" sz="1650"><a:solidFill><a:srgbClr val="55575A"/></a:solidFill><a:latin typeface="Manrope"/><a:ea typeface="Manrope"/><a:cs typeface="Manrope"/><a:sym typeface="Manrope"/></a:rPr><a:t xml:space="preserve">Repérer une régression avant que la note Steam ne baisse </a:t></a:r><a:br><a:rPr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ex. : part négative prédite par jeu, avis à lire en premier</a:t></a:r><a:endParaRPr sz="1650"><a:solidFill><a:srgbClr val="55575A"/></a:solidFill><a:latin typeface="Manrope"/><a:ea typeface="Manrope"/><a:cs typeface="Manrope"/><a:sym typeface="Manrope"/></a:endParaRPr></a:p></p:txBody></p:sp></p:spTree></p:cSld><p:clrMapOvr><a:masterClrMapping/></p:clrMapOvr>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2.   Les données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API publique des avis Steam</a:t></a:r><a:br><a:rPr lang="fr" sz="1800"><a:solidFill><a:schemeClr val="dk2"/></a:solidFill></a:rPr></a:br><a:r><a:rPr lang="fr" sz="1800"><a:solidFill><a:schemeClr val="dk2"/></a:solidFill></a:rPr><a:t>Plus de 9 000 lignes brutes — 3 jeux, anglais et français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Traitement en 5 étapes, testé à chaque passage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inchangée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Dédoublonnage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et nettoyage du BBCode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Great Expectations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Confidentialité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steamid</a:t></a:r><a:r><a:rPr lang="fr"><a:solidFill><a:schemeClr val="dk2"/></a:solidFill></a:rPr><a:t xml:space="preserve"> </a:t></a:r><a:r><a:rPr b="1" lang="fr"><a:solidFill><a:schemeClr val="dk2"/></a:solidFill></a:rPr><a:t>→ pseudonymisé (HMAC salé)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personaname, profile_url, avatar : identifiants directs</a:t></a:r><a:r><a:rPr lang="fr"><a:solidFill><a:schemeClr val="dk2"/></a:solidFill></a:rPr><a:t xml:space="preserve"> → </a:t></a:r><a:r><a:rPr b="1" lang="fr"><a:solidFill><a:schemeClr val="dk2"/></a:solidFill></a:rPr><a:t xml:space="preserve">supprimés dès la zone propre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Flux complémentaire</a:t></a:r><a:r><a:rPr lang="fr"><a:solidFill><a:schemeClr val="dk2"/></a:solidFill></a:rPr><a:t xml:space="preserve"> d'avis négatifs </a:t></a:r><a:r><a:rPr b="1" lang="fr"><a:solidFill><a:schemeClr val="dk2"/></a:solidFill></a:rPr><a:t>→ entraînement seulement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Idempotence : un second passage n'écrit aucun doublon </a:t></a:r><a:r><a:rPr b="1" lang="fr"><a:solidFill><a:schemeClr val="dk2"/></a:solidFill></a:rPr><a:t>(manifeste)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Zone silver Iceberg </a:t></a:r><a:r><a:rPr b="1" lang="fr"><a:solidFill><a:schemeClr val="dk2"/></a:solidFill></a:rPr><a:t xml:space="preserve">→ un instantané par écriture, chacun restaurable 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La chaîne de bout en bout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Six étapes, une seule chaîne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Ingestion idempotente depuis l'API Steam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et Iceberg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et DuckDB, 30 tests déclarés dans les contrats — ADR 0013, 0014</a:t></a:r><a:endParaRPr/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4. Le modèle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4 v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ariantes mesurées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1 à 2 grammes : F1 macro 0,735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Mots, régularisation ajustée : 0,756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Caractères, 2 à 5 grammes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(0,759 puis 0,797 puis 0,803) 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→ retenu : robuste aux fautes, explicable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Un autre modèle ferait-il mieux ? 9 candidats, mêmes plis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Régression logistique 0,812 · SVM 0,807 : égalité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XGBoost 0,735 · forêt aléatoire 0,719 · coût × 23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Règle écrite avant les résultats — ADR 0006, 0007, 0030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5. Résultats mesurés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retenu : </a:t>
            </a:r>
            <a:r>
              <a:rPr b="1" lang="fr" sz="2400">
                <a:solidFill>
                  <a:schemeClr val="dk2"/>
                </a:solidFill>
              </a:rPr>
              <a:t xml:space="preserve">TF-IDF sur caractères et régression logistique, 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class_weight='balanced'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Seuil appris par validation croisée : </a:t>
            </a:r>
            <a:r>
              <a:rPr b="1" lang="fr" sz="2400">
                <a:solidFill>
                  <a:schemeClr val="dk2"/>
                </a:solidFill>
              </a:rPr>
              <a:t>0,775</a:t>
            </a:r>
            <a:r>
              <a:rPr lang="fr" sz="2400">
                <a:solidFill>
                  <a:schemeClr val="dk2"/>
                </a:solidFill>
              </a:rPr>
              <a:t xml:space="preserve"> — barrière de promotion F1 macro ≥ 0,75.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Sur un test 100 % naturel tenu à l'écart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F1 macro : </a:t>
            </a:r>
            <a:r>
              <a:rPr b="1" lang="fr" sz="2400">
                <a:solidFill>
                  <a:schemeClr val="dk2"/>
                </a:solidFill>
              </a:rPr>
              <a:t>0,803</a:t>
            </a:r>
            <a:r>
              <a:rPr lang="fr" sz="2400">
                <a:solidFill>
                  <a:schemeClr val="dk2"/>
                </a:solidFill>
              </a:rPr>
              <a:t xml:space="preserve"> (0,807 le 16/09, sur un jeu plus petit)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AUC : </a:t>
            </a:r>
            <a:r>
              <a:rPr b="1" lang="fr" sz="2400">
                <a:solidFill>
                  <a:schemeClr val="dk2"/>
                </a:solidFill>
              </a:rPr>
              <a:t>0,940</a:t>
            </a:r>
            <a:r>
              <a:rPr lang="fr" sz="2400">
                <a:solidFill>
                  <a:schemeClr val="dk2"/>
                </a:solidFill>
              </a:rPr>
              <a:t xml:space="preserve"> ; rappel des négatifs 0,650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Tests : </a:t>
            </a:r>
            <a:r>
              <a:rPr b="1" lang="fr" sz="2400">
                <a:solidFill>
                  <a:schemeClr val="dk2"/>
                </a:solidFill>
              </a:rPr>
              <a:t>148 verts</a:t>
            </a:r>
            <a:r>
              <a:rPr lang="fr" sz="2400">
                <a:solidFill>
                  <a:schemeClr val="dk2"/>
                </a:solidFill>
              </a:rPr>
              <a:t xml:space="preserve"> ; 27 mutations sur 27 détectées, en un seul passage en intégration continue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Deux entraînements successifs donnent </a:t>
            </a:r>
            <a:r>
              <a:rPr b="1" lang="fr" sz="2400">
                <a:solidFill>
                  <a:schemeClr val="dk2"/>
                </a:solidFill>
              </a:rPr>
              <a:t>le même F1</a:t>
            </a:r>
            <a:r>
              <a:rPr lang="fr" sz="2400">
                <a:solidFill>
                  <a:schemeClr val="dk2"/>
                </a:solidFill>
              </a:rPr>
              <a:t xml:space="preserve"> à la seizième décimale.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modèle à métriques égales n'est pas promu : la barrière l'a refusé en conditions réelles. ADR 0008.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>ésultats et p</a:t>
            </a:r>
            <a:r>
              <a:rPr lang="fr" sz="1800">
                <a:solidFill>
                  <a:schemeClr val="dk2"/>
                </a:solidFill>
              </a:rPr>
              <a:t xml:space="preserve">reuves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6. Industrialisation et suite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tourne sans intervention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DAG Airflow quotidien : 9 tâches, base PostgreSQL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Test de la stack déployée : 16 contrôles sur 16 · Essai de charge : 300 requêtes, 0 % d'erreur, 29,3 req/s, p99 925 ms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journal, réentraînement déclenché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Retour arrière outillé sur le modèle et sur les données : alias MLflow, instantanés Iceberg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Prochaines étapes — annoncées comme telles, rien n'en est fait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Publication du dépôt et chaîne d'intégration verte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Mesure de biais par langue et par jeu : l'AI Act la demande, nous ne l'avons pas — ADR 0021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Kafka pour le temps réel, stockage objet compatible S3, infrastructure en Terraform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Cible Kubernetes, déjà documentée : une image par rôle, `KubernetesPodOperator`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le projet sert au-delà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Socle de briques réemployables — 31 décisions écrites, ADR 0001 à 0031. Chaque bloc garde son projet imposé : ce sont les briques qui circulent, pas le projet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