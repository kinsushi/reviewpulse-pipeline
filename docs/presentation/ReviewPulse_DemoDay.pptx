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13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61" r:id="rId11"/>
    <p:sldId id="268" r:id="rId18"/>
    <p:sldId id="269" r:id="rId19"/>
    <p:sldId id="270" r:id="rId20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11" Type="http://schemas.openxmlformats.org/officeDocument/2006/relationships/slide" Target="slides/slide6.xml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Bootcamp Data Lead — Demo Day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ReviewPulse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les avis Steam négatifs triés chaque matin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>
            <p:ph type="title"/>
          </p:nvPr>
        </p:nvSpPr>
        <p:spPr>
          <a:xfrm>
            <a:off x="390600" y="1138675"/>
            <a:ext cx="2727600" cy="3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Projet individuel :</a:t>
            </a:r>
            <a:endParaRPr b="1"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463375" y="1880400"/>
            <a:ext cx="22386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>Enzo</a:t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952025" y="826200"/>
            <a:ext cx="44334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rgbClr val="015955"/>
                </a:solidFill>
              </a:rPr>
              <a:t>Sommaire</a:t>
            </a:r>
            <a:endParaRPr b="1" sz="2400">
              <a:solidFill>
                <a:srgbClr val="015955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Problème métier et décision servie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Les données réelles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La chaîne de bout en bout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 modèle et sa preuve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 xml:space="preserve">Démonstration </a:t>
            </a:r>
            <a:r>
              <a:rPr lang="fr" sz="1800">
                <a:solidFill>
                  <a:schemeClr val="dk2"/>
                </a:solidFill>
              </a:rPr>
              <a:t>en direct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Industrialisation et suite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70" name="Shape 70"/><p:cNvGrpSpPr/><p:nvPr/></p:nvGrpSpPr><p:grpSpPr><a:xfrm><a:off x="0" y="0"/><a:ext cx="0" cy="0"/><a:chOff x="0" y="0"/><a:chExt cx="0" cy="0"/></a:xfrm></p:grpSpPr><p:sp><p:nvSpPr><p:cNvPr id="71" name="Google Shape;71;p1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-387350" lvl="0" marL="457200" marR="0" rtl="0" algn="l"><a:lnSpc><a:spcPct val="100000"/></a:lnSpc><a:spcBef><a:spcPts val="0"/></a:spcBef><a:spcAft><a:spcPts val="0"/></a:spcAft><a:buClr><a:srgbClr val="0E3449"/></a:buClr><a:buSzPts val="2500"/><a:buFont typeface="Inter SemiBold"/><a:buAutoNum type="arabicPeriod"/></a:pPr><a:r><a:rPr lang="fr" sz="2500"><a:solidFill><a:srgbClr val="0E3449"/></a:solidFill><a:latin typeface="Inter SemiBold"/><a:ea typeface="Inter SemiBold"/><a:cs typeface="Inter SemiBold"/><a:sym typeface="Inter SemiBold"/></a:rPr><a:t>Problématique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72" name="Google Shape;72;p1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73" name="Google Shape;73;p1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74" name="Google Shape;74;p15"/><p:cNvSpPr/><p:nvPr/></p:nvSpPr><p:spPr><a:xfrm><a:off x="463375" y="1366330"/><a:ext cx="35154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Problème métier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Des centaines d'avis chaque jour, lus à la main ou pas du tout.</a:t></a:r><a:endParaRPr/></a:p></p:txBody></p:sp><p:sp><p:nvSpPr><p:cNvPr id="75" name="Google Shape;75;p15"/><p:cNvSpPr/><p:nvPr/></p:nvSpPr><p:spPr><a:xfrm><a:off x="4853225" y="12477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Objectif métier :</a:t></a:r><a:r><a:rPr lang="fr" sz="1650"><a:solidFill><a:srgbClr val="55575A"/></a:solidFill><a:latin typeface="Manrope"/><a:ea typeface="Manrope"/><a:cs typeface="Manrope"/><a:sym typeface="Manrope"/></a:rPr><a:t>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Remonter chaque matin les avis négatifs qui comptent, par jeu et par langue</a:t></a:r><a:endParaRPr/></a:p></p:txBody></p:sp><p:sp><p:nvSpPr><p:cNvPr id="76" name="Google Shape;76;p15"/><p:cNvSpPr/><p:nvPr/></p:nvSpPr><p:spPr><a:xfrm><a:off x="463375" y="3193374"/><a:ext cx="3515400" cy="14730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Cible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Responsable community et live-ops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Équipe de développement</a:t></a:r><a:endParaRPr b="1" sz="1650"><a:solidFill><a:srgbClr val="55575A"/></a:solidFill><a:latin typeface="Manrope"/><a:ea typeface="Manrope"/><a:cs typeface="Manrope"/><a:sym typeface="Manrope"/></a:endParaRPr></a:p></p:txBody></p:sp><p:sp><p:nvSpPr><p:cNvPr id="77" name="Google Shape;77;p15"/><p:cNvSpPr/><p:nvPr/></p:nvSpPr><p:spPr><a:xfrm><a:off x="4853225" y="31349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Besoin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Repérer une régression avant que la note Steam ne baisse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ex. : part négative prédite par jeu, avis à lire en premier</a:t></a:r><a:endParaRPr sz="1650"><a:solidFill><a:srgbClr val="55575A"/></a:solidFill><a:latin typeface="Manrope"/><a:ea typeface="Manrope"/><a:cs typeface="Manrope"/><a:sym typeface="Manrope"/></a:endParaRPr></a:p></p:txBody></p:sp></p:spTree></p:cSld><p:clrMapOvr><a:masterClrMapping/></p:clrMapOvr></p:sld>
</file>

<file path=ppt/slides/slide6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01" name="Shape 101"/><p:cNvGrpSpPr/><p:nvPr/></p:nvGrpSpPr><p:grpSpPr><a:xfrm><a:off x="0" y="0"/><a:ext cx="0" cy="0"/><a:chOff x="0" y="0"/><a:chExt cx="0" cy="0"/></a:xfrm></p:grpSpPr><p:sp><p:nvSpPr><p:cNvPr id="102" name="Google Shape;102;p18"/><p:cNvSpPr txBox="1"/><p:nvPr><p:ph idx="4294967295" type="ctrTitle"/></p:nvPr></p:nvSpPr><p:spPr><a:xfrm><a:off x="1073814" y="409334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None/></a:pPr><a:r><a:rPr lang="fr" sz="2500"><a:solidFill><a:srgbClr val="0E3449"/></a:solidFill><a:latin typeface="Inter SemiBold"/><a:ea typeface="Inter SemiBold"/><a:cs typeface="Inter SemiBold"/><a:sym typeface="Inter SemiBold"/></a:rPr><a:t>2.   Les données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03" name="Google Shape;103;p18"/><p:cNvSpPr/><p:nvPr/></p:nvSpPr><p:spPr><a:xfrm><a:off x="43775" y="4892100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04" name="Google Shape;104;p18"/><p:cNvPicPr preferRelativeResize="0"/><p:nvPr/></p:nvPicPr><p:blipFill rotWithShape="1"><a:blip r:embed="rId3"><a:alphaModFix/></a:blip><a:srcRect b="0" l="0" r="0" t="0"/><a:stretch/></p:blipFill><p:spPr><a:xfrm><a:off x="496925" y="482927"/><a:ext cx="576900" cy="385904"/></a:xfrm><a:prstGeom prst="rect"><a:avLst/></a:prstGeom><a:noFill/><a:ln><a:noFill/></a:ln></p:spPr></p:pic><p:sp><p:nvSpPr><p:cNvPr id="105" name="Google Shape;105;p18"/><p:cNvSpPr txBox="1"/><p:nvPr/></p:nvSpPr><p:spPr><a:xfrm><a:off x="3518399" y="329500"/><a:ext cx="5163600" cy="7389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API publique des avis Steam</a:t></a:r><a:br><a:rPr lang="fr" sz="1800"><a:solidFill><a:schemeClr val="dk2"/></a:solidFill></a:rPr></a:br><a:r><a:rPr lang="fr" sz="1800"><a:solidFill><a:schemeClr val="dk2"/></a:solidFill></a:rPr><a:t>9 271 lignes brutes — 3 jeux, anglais et français</a:t></a:r><a:endParaRPr sz="1800"><a:solidFill><a:schemeClr val="dk2"/></a:solidFill></a:endParaRPr></a:p></p:txBody></p:sp><p:sp><p:nvSpPr><p:cNvPr id="106" name="Google Shape;106;p18"/><p:cNvSpPr/><p:nvPr/></p:nvSpPr><p:spPr><a:xfrm><a:off x="402939" y="1156461"/><a:ext cx="3615000" cy="193800"/></a:xfrm><a:prstGeom prst="rect"><a:avLst/></a:prstGeom><a:noFill/><a:ln><a:noFill/></a:ln></p:spPr><p:txBody><a:bodyPr anchorCtr="0" anchor="t" bIns="0" lIns="0" spcFirstLastPara="1" rIns="0" wrap="square" tIns="0"><a:noAutofit/></a:bodyPr><a:lstStyle/><a:p><a:pPr indent="0" lvl="0" marL="0" marR="0" rtl="0" algn="l"><a:lnSpc><a:spcPct val="125000"/></a:lnSpc><a:spcBef><a:spcPts val="0"/></a:spcBef><a:spcAft><a:spcPts val="0"/></a:spcAft><a:buClr><a:srgbClr val="0C0D0F"/></a:buClr><a:buSzPts val="1217"/><a:buFont typeface="Inter"/><a:buNone/></a:pPr><a:r><a:rPr lang="fr" sz="1217"><a:solidFill><a:srgbClr val="0C0D0F"/></a:solidFill><a:latin typeface="Inter"/><a:ea typeface="Inter"/><a:cs typeface="Inter"/><a:sym typeface="Inter"/></a:rPr><a:t>Traitement en 5 étapes, testé à chaque passage</a:t></a:r><a:endParaRPr b="0" i="0" sz="1217" u="none" cap="none" strike="noStrike"/></a:p></p:txBody></p:sp><p:sp><p:nvSpPr><p:cNvPr id="107" name="Google Shape;107;p18"/><p:cNvSpPr/><p:nvPr/></p:nvSpPr><p:spPr><a:xfrm><a:off x="402961" y="1448759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 1. </a:t></a:r><a:r><a:rPr b="1" lang="fr" sz="1054"><a:solidFill><a:srgbClr val="55575A"/></a:solidFill><a:latin typeface="Manrope"/><a:ea typeface="Manrope"/><a:cs typeface="Manrope"/><a:sym typeface="Manrope"/></a:rPr><a:t>Zone brute inchangée</a:t></a:r><a:endParaRPr b="1" sz="1054"><a:solidFill><a:srgbClr val="55575A"/></a:solidFill><a:latin typeface="Manrope"/><a:ea typeface="Manrope"/><a:cs typeface="Manrope"/><a:sym typeface="Manrope"/></a:endParaRPr></a:p></p:txBody></p:sp><p:sp><p:nvSpPr><p:cNvPr id="108" name="Google Shape;108;p18"/><p:cNvSpPr/><p:nvPr/></p:nvSpPr><p:spPr><a:xfrm><a:off x="2194798" y="1438311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2. Dédoublonnage </a:t></a:r><a:br><a:rPr b="1" lang="fr" sz="1000"><a:solidFill><a:srgbClr val="55575A"/></a:solidFill><a:latin typeface="Manrope"/><a:ea typeface="Manrope"/><a:cs typeface="Manrope"/><a:sym typeface="Manrope"/></a:rPr></a:br><a:r><a:rPr b="1" lang="fr" sz="1000"><a:solidFill><a:srgbClr val="55575A"/></a:solidFill><a:latin typeface="Manrope"/><a:ea typeface="Manrope"/><a:cs typeface="Manrope"/><a:sym typeface="Manrope"/></a:rPr><a:t>et nettoyage du BBCode</a:t></a:r><a:endParaRPr b="1" sz="1000"><a:solidFill><a:srgbClr val="55575A"/></a:solidFill><a:latin typeface="Manrope"/><a:ea typeface="Manrope"/><a:cs typeface="Manrope"/><a:sym typeface="Manrope"/></a:endParaRPr></a:p></p:txBody></p:sp><p:sp><p:nvSpPr><p:cNvPr id="109" name="Google Shape;109;p18"/><p:cNvSpPr/><p:nvPr/></p:nvSpPr><p:spPr><a:xfrm><a:off x="3764412" y="1449638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3. Pseudonymisation HMAC</a:t></a:r><a:endParaRPr b="1" sz="1200"><a:solidFill><a:srgbClr val="55575A"/></a:solidFill><a:latin typeface="Manrope"/><a:ea typeface="Manrope"/><a:cs typeface="Manrope"/><a:sym typeface="Manrope"/></a:endParaRPr></a:p></p:txBody></p:sp><p:sp><p:nvSpPr><p:cNvPr id="110" name="Google Shape;110;p18"/><p:cNvSpPr/><p:nvPr/></p:nvSpPr><p:spPr><a:xfrm><a:off x="5351099" y="144965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4. Contrôles bloquants</a:t></a:r><a:endParaRPr b="1" sz="1200"><a:solidFill><a:srgbClr val="55575A"/></a:solidFill><a:latin typeface="Manrope"/><a:ea typeface="Manrope"/><a:cs typeface="Manrope"/><a:sym typeface="Manrope"/></a:endParaRPr></a:p></p:txBody></p:sp><p:sp><p:nvSpPr><p:cNvPr id="111" name="Google Shape;111;p18"/><p:cNvSpPr/><p:nvPr/></p:nvSpPr><p:spPr><a:xfrm><a:off x="6937799" y="146010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5. Great Expectations</a:t></a:r><a:endParaRPr b="1" sz="1200"><a:solidFill><a:srgbClr val="55575A"/></a:solidFill><a:latin typeface="Manrope"/><a:ea typeface="Manrope"/><a:cs typeface="Manrope"/><a:sym typeface="Manrope"/></a:endParaRPr></a:p></p:txBody></p:sp><p:sp><p:nvSpPr><p:cNvPr id="112" name="Google Shape;112;p18"/><p:cNvSpPr txBox="1"/><p:nvPr/></p:nvSpPr><p:spPr><a:xfrm><a:off x="402950" y="2701550"/><a:ext cx="8033100" cy="16392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lnSpc><a:spcPct val="115000"/></a:lnSpc><a:spcBef><a:spcPts val="0"/></a:spcBef><a:spcAft><a:spcPts val="0"/></a:spcAft><a:buNone/></a:pPr><a:r><a:rPr b="1" lang="fr"><a:solidFill><a:srgbClr val="015955"/></a:solidFill><a:highlight><a:schemeClr val="lt1"/></a:highlight></a:rPr><a:t>Confidentialité :</a:t></a:r><a:r><a:rPr lang="fr"><a:solidFill><a:srgbClr val="27251E"/></a:solidFill><a:highlight><a:schemeClr val="lt1"/></a:highlight></a:rPr><a:t> </a:t></a:r><a:endParaRPr><a:solidFill><a:srgbClr val="27251E"/></a:solidFill><a:highlight><a:schemeClr val="lt1"/></a:highlight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steamid</a:t></a:r><a:r><a:rPr lang="fr"><a:solidFill><a:schemeClr val="dk2"/></a:solidFill></a:rPr><a:t xml:space="preserve"> </a:t></a:r><a:r><a:rPr b="1" lang="fr"><a:solidFill><a:schemeClr val="dk2"/></a:solidFill></a:rPr><a:t>→ pseudonymisé (HMAC salé)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personaname, profile_url, avatar : identifiants directs</a:t></a:r><a:r><a:rPr lang="fr"><a:solidFill><a:schemeClr val="dk2"/></a:solidFill></a:rPr><a:t xml:space="preserve"> → </a:t></a:r><a:r><a:rPr b="1" lang="fr"><a:solidFill><a:schemeClr val="dk2"/></a:solidFill></a:rPr><a:t xml:space="preserve">supprimés dès la zone propre 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Flux complémentaire</a:t></a:r><a:r><a:rPr lang="fr"><a:solidFill><a:schemeClr val="dk2"/></a:solidFill></a:rPr><a:t xml:space="preserve"> d'avis négatifs </a:t></a:r><a:r><a:rPr b="1" lang="fr"><a:solidFill><a:schemeClr val="dk2"/></a:solidFill></a:rPr><a:t>→ entraînement seulement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Idempotence : un second passage n'écrit aucun doublon </a:t></a:r><a:r><a:rPr b="1" lang="fr"><a:solidFill><a:schemeClr val="dk2"/></a:solidFill></a:rPr><a:t>(manifeste)</a:t></a:r><a:endParaRPr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Zone silver Iceberg </a:t></a:r><a:r><a:rPr b="1" lang="fr"><a:solidFill><a:schemeClr val="dk2"/></a:solidFill></a:rPr><a:t xml:space="preserve">→ 19 instantanés versionnés </a:t></a:r><a:r><a:rPr lang="fr"><a:solidFill><a:schemeClr val="dk2"/></a:solidFill></a:rPr><a:t></a:t></a:r><a:endParaRPr sz="1800"><a:solidFill><a:schemeClr val="dk2"/></a:solidFill></a:endParaRPr></a:p></p:txBody></p:sp></p:spTree></p:cSld><p:clrMapOvr><a:masterClrMapping/></p:clrMapOvr></p:sld>
</file>

<file path=ppt/slides/slide1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78" name="Shape 178"/><p:cNvGrpSpPr/><p:nvPr/></p:nvGrpSpPr><p:grpSpPr><a:xfrm><a:off x="0" y="0"/><a:ext cx="0" cy="0"/><a:chOff x="0" y="0"/><a:chExt cx="0" cy="0"/></a:xfrm></p:grpSpPr><p:sp><p:nvSpPr><p:cNvPr id="179" name="Google Shape;179;p2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chemeClr val="dk1"/></a:buClr><a:buSzPts val="2800"/><a:buFont typeface="Arial"/><a:buNone/></a:pPr><a:r><a:rPr lang="fr" sz="2500"><a:solidFill><a:srgbClr val="0E3449"/></a:solidFill><a:latin typeface="Inter SemiBold"/><a:ea typeface="Inter SemiBold"/><a:cs typeface="Inter SemiBold"/><a:sym typeface="Inter SemiBold"/></a:rPr><a:t>La chaîne de bout en bout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80" name="Google Shape;180;p2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81" name="Google Shape;181;p2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182" name="Google Shape;182;p25"/><p:cNvSpPr txBox="1"/><p:nvPr/></p:nvSpPr><p:spPr><a:xfrm><a:off x="1261450" y="1017575"/><a:ext cx="1902900" cy="4617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Six étapes, une seule chaîne</a:t></a:r><a:endParaRPr sz="1800"><a:solidFill><a:schemeClr val="dk2"/></a:solidFill></a:endParaRPr></a:p></p:txBody></p:sp><p:sp><p:nvSpPr><p:cNvPr id="183" name="Google Shape;183;p25"/><p:cNvSpPr/><p:nvPr/></p:nvSpPr><p:spPr><a:xfrm><a:off x="650300" y="1861675"/><a:ext cx="23826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Ingestion idempotente depuis l'API Steam</a:t></a:r><a:endParaRPr/></a:p></p:txBody></p:sp><p:sp><p:nvSpPr><p:cNvPr id="184" name="Google Shape;184;p25"/><p:cNvSpPr/><p:nvPr/></p:nvSpPr><p:spPr><a:xfrm><a:off x="3264775" y="1861675"/><a:ext cx="18561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silver : </a:t></a:r><a:r><a:rPr lang="fr" sz="1650"><a:solidFill><a:srgbClr val="55575A"/></a:solidFill><a:latin typeface="Manrope"/><a:ea typeface="Manrope"/><a:cs typeface="Manrope"/><a:sym typeface="Manrope"/></a:rPr><a:t>PySpark et Iceberg</a:t></a:r><a:endParaRPr/></a:p></p:txBody></p:sp><p:sp><p:nvSpPr><p:cNvPr id="185" name="Google Shape;185;p25"/><p:cNvSpPr/><p:nvPr/></p:nvSpPr><p:spPr><a:xfrm><a:off x="5352750" y="1861675"/><a:ext cx="28773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gold : </a:t></a:r><a:br><a:rPr b="1"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dbt et DuckDB, 43 tests verts — ADR 0013, 0014</a:t></a:r><a:endParaRPr/></a:p></p:txBody></p:sp></p:spTree></p:cSld><p:clrMapOvr><a:masterClrMapping/></p:clrMapOvr>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4. Le modèle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91" name="Google Shape;191;p26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 txBox="1"/>
          <p:nvPr/>
        </p:nvSpPr>
        <p:spPr>
          <a:xfrm>
            <a:off x="562125" y="868738"/>
            <a:ext cx="6933300" cy="28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4 v</a:t>
            </a: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ariantes mesurées</a:t>
            </a:r>
            <a:endParaRPr sz="18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1 à 2 grammes : F1 macro 0,735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régularisation ajustée : 0,756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Caractères, 2 à 5 grammes </a:t>
            </a: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(0,759 puis 0,797 puis 0,803) </a:t>
            </a: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→ retenu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Pourquoi les n-grammes de caractères ?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Robustes aux fautes et aux variantes d'écriture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Entraînement en quelques secondes, explicable terme par terme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Seuil de décision appris, et non fixé à 0,5 — ADR 0006, 0007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7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  <p:pic>
        <p:nvPicPr>
          <p:cNvPr id="194" name="Google Shape;19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2675" y="3541363"/>
            <a:ext cx="5791200" cy="122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5. Résultats mesurés 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Modèle retenu : </a:t>
            </a:r>
            <a:r>
              <a:rPr b="1" lang="fr" sz="2400">
                <a:solidFill>
                  <a:schemeClr val="dk2"/>
                </a:solidFill>
              </a:rPr>
              <a:t xml:space="preserve">TF-IDF sur caractères et régression logistique, 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class_weight='balanced'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Seuil appris par validation croisée : </a:t>
            </a:r>
            <a:r>
              <a:rPr b="1" lang="fr" sz="2400">
                <a:solidFill>
                  <a:schemeClr val="dk2"/>
                </a:solidFill>
              </a:rPr>
              <a:t>0,75</a:t>
            </a:r>
            <a:r>
              <a:rPr lang="fr" sz="2400">
                <a:solidFill>
                  <a:schemeClr val="dk2"/>
                </a:solidFill>
              </a:rPr>
              <a:t xml:space="preserve"> — barrière de promotion F1 macro ≥ 0,75.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Sur un test 100 % naturel tenu à l'écart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F1 macro : </a:t>
            </a:r>
            <a:r>
              <a:rPr b="1" lang="fr" sz="2400">
                <a:solidFill>
                  <a:schemeClr val="dk2"/>
                </a:solidFill>
              </a:rPr>
              <a:t>0,803</a:t>
            </a:r>
            <a:r>
              <a:rPr lang="fr" sz="2400">
                <a:solidFill>
                  <a:schemeClr val="dk2"/>
                </a:solidFill>
              </a:rPr>
              <a:t xml:space="preserve"> (0,807 le 16/09, sur un jeu plus petit)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AUC : </a:t>
            </a:r>
            <a:r>
              <a:rPr b="1" lang="fr" sz="2400">
                <a:solidFill>
                  <a:schemeClr val="dk2"/>
                </a:solidFill>
              </a:rPr>
              <a:t>0,940</a:t>
            </a:r>
            <a:r>
              <a:rPr lang="fr" sz="2400">
                <a:solidFill>
                  <a:schemeClr val="dk2"/>
                </a:solidFill>
              </a:rPr>
              <a:t xml:space="preserve"> ; rappel des négatifs 0,634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Tests : </a:t>
            </a:r>
            <a:r>
              <a:rPr b="1" lang="fr" sz="2400">
                <a:solidFill>
                  <a:schemeClr val="dk2"/>
                </a:solidFill>
              </a:rPr>
              <a:t>131 verts</a:t>
            </a:r>
            <a:r>
              <a:rPr lang="fr" sz="2400">
                <a:solidFill>
                  <a:schemeClr val="dk2"/>
                </a:solidFill>
              </a:rPr>
              <a:t xml:space="preserve"> ; 26 mutations sur 26 détectées, en deux passages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Deux entraînements successifs donnent </a:t>
            </a:r>
            <a:r>
              <a:rPr b="1" lang="fr" sz="2400">
                <a:solidFill>
                  <a:schemeClr val="dk2"/>
                </a:solidFill>
              </a:rPr>
              <a:t>le même F1</a:t>
            </a:r>
            <a:r>
              <a:rPr lang="fr" sz="2400">
                <a:solidFill>
                  <a:schemeClr val="dk2"/>
                </a:solidFill>
              </a:rPr>
              <a:t xml:space="preserve"> à la seizième décimale.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Un modèle à métriques égales n'est pas promu : la barrière l'a refusé en conditions réelles. ADR 0008.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R</a:t>
            </a:r>
            <a:r>
              <a:rPr lang="fr" sz="1800">
                <a:solidFill>
                  <a:schemeClr val="dk2"/>
                </a:solidFill>
              </a:rPr>
              <a:t>ésultats et p</a:t>
            </a:r>
            <a:r>
              <a:rPr lang="fr" sz="1800">
                <a:solidFill>
                  <a:schemeClr val="dk2"/>
                </a:solidFill>
              </a:rPr>
              <a:t xml:space="preserve">reuves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6. Industrialisation et suite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tourne sans intervention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DAG Airflow quotidien : 9 tâches, base PostgreSQL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Test de la stack déployée : 16 contrôles sur 16 · Essai de charge : 300 requêtes, 0 % d'erreur, 29,3 req/s, p99 925 ms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Dérive mesurée à chaque passage, alerte écrite hors du journal, réentraînement déclenché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Retour arrière outillé sur le modèle et sur les données : alias MLflow, instantanés Iceberg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Prochaines étapes — annoncées comme telles, rien n'en est fait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Publication du dépôt et chaîne d'intégration verte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Mesure de biais par langue et par jeu : l'AI Act la demande, nous ne l'avons pas — ADR 0021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Kafka pour le temps réel, stockage objet compatible S3, infrastructure en Terraform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Cible Kubernetes, déjà documentée : une image par rôle, `KubernetesPodOperator` (ADR 0012, 0013)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le projet sert au-delà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Socle de briques réemployables — 29 décisions écrites, ADR 0001 à 0029. Chaque bloc garde son projet imposé : ce sont les briques qui circulent, pas le projet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