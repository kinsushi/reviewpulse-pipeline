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8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15.xml"/>
  <Override ContentType="application/vnd.openxmlformats-officedocument.presentationml.slide+xml" PartName="/ppt/slides/slide17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61" r:id="rId11"/>
    <p:sldId id="268" r:id="rId18"/>
    <p:sldId id="269" r:id="rId19"/>
    <p:sldId id="270" r:id="rId20"/>
    <p:sldId id="272" r:id="rId22"/>
    <p:sldId id="273" r:id="rId23"/>
  </p:sldIdLst>
  <p:sldSz cy="5143500" cx="9144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anrope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3F6B79-F5F2-4B6F-ACAE-D93EBFE36144}">
  <a:tblStyle styleId="{133F6B79-F5F2-4B6F-ACAE-D93EBFE361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Manrope-regular.fntdata"/><Relationship Id="rId32" Type="http://schemas.openxmlformats.org/officeDocument/2006/relationships/font" Target="fonts/Inter-boldItalic.fntdata"/><Relationship Id="rId35" Type="http://schemas.openxmlformats.org/officeDocument/2006/relationships/font" Target="fonts/RobotoMono-regular.fntdata"/><Relationship Id="rId34" Type="http://schemas.openxmlformats.org/officeDocument/2006/relationships/font" Target="fonts/Manrope-bold.fntdata"/><Relationship Id="rId37" Type="http://schemas.openxmlformats.org/officeDocument/2006/relationships/font" Target="fonts/RobotoMono-italic.fntdata"/><Relationship Id="rId36" Type="http://schemas.openxmlformats.org/officeDocument/2006/relationships/font" Target="fonts/RobotoMono-bold.fntdata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178bf3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a5178bf3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7fec24e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1c7fec24e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a2e014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8a2e014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a2e0143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a2e0143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a2e0143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8a2e0143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a2e014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8a2e014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5178bf3d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a5178bf3d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d940bdc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8d940bdc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8e05a984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8e05a984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8d940bdc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8d940bdc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8d940bdca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8d940bdca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e05a98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8e05a98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e05a984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8e05a984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e05a984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8e05a984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prend les données nettoyées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entraîne 3 modèles sans chercher les meilleurs paramètres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prédit avec le seuil standard 0.5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mesure les résultats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c7feb7f4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1c7feb7f4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e05a98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8e05a98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e05a98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8e05a98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a5178bf3d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a5178bf3d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8a2e014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8a2e014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718100" y="866768"/>
            <a:ext cx="6478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2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Bootcamp Data Lead — Demo Day</a:t>
            </a:r>
            <a:endParaRPr sz="21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00" y="795925"/>
            <a:ext cx="721025" cy="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586150" y="1974329"/>
            <a:ext cx="4096800" cy="24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fr" sz="37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ReviewPulse</a:t>
            </a:r>
            <a: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 : les avis Steam négatifs triés chaque matin</a:t>
            </a:r>
            <a:endParaRPr sz="3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7" name="Google Shape;57;p13" title="Capture d’écran 2026-04-23 à 15.59.59.png"/>
          <p:cNvPicPr preferRelativeResize="0"/>
          <p:nvPr/>
        </p:nvPicPr>
        <p:blipFill rotWithShape="1">
          <a:blip r:embed="rId4">
            <a:alphaModFix/>
          </a:blip>
          <a:srcRect b="0" l="6428" r="0" t="8156"/>
          <a:stretch/>
        </p:blipFill>
        <p:spPr>
          <a:xfrm>
            <a:off x="4939763" y="1811825"/>
            <a:ext cx="3992275" cy="28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90600" y="1138675"/>
            <a:ext cx="27276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Projet individuel :</a:t>
            </a:r>
            <a:endParaRPr b="1"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463375" y="1880400"/>
            <a:ext cx="2238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>Enzo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500">
                <a:solidFill>
                  <a:schemeClr val="dk2"/>
                </a:solidFill>
              </a:rP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952025" y="826200"/>
            <a:ext cx="44334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015955"/>
                </a:solidFill>
              </a:rPr>
              <a:t>Sommaire</a:t>
            </a:r>
            <a:endParaRPr b="1" sz="2400">
              <a:solidFill>
                <a:srgbClr val="0159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Problème métier et décision servie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Les données réelles</a:t>
            </a:r>
            <a:br>
              <a:rPr lang="fr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La chaîne de bout en bout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Le modèle et sa preuve</a:t>
            </a:r>
            <a:br>
              <a:rPr lang="fr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 xml:space="preserve">Démonstration </a:t>
            </a:r>
            <a:r>
              <a:rPr lang="fr" sz="1800">
                <a:solidFill>
                  <a:schemeClr val="dk2"/>
                </a:solidFill>
              </a:rPr>
              <a:t>en direct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Industrialisation et suite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70" name="Shape 70"/><p:cNvGrpSpPr/><p:nvPr/></p:nvGrpSpPr><p:grpSpPr><a:xfrm><a:off x="0" y="0"/><a:ext cx="0" cy="0"/><a:chOff x="0" y="0"/><a:chExt cx="0" cy="0"/></a:xfrm></p:grpSpPr><p:sp><p:nvSpPr><p:cNvPr id="71" name="Google Shape;71;p15"/><p:cNvSpPr txBox="1"/><p:nvPr><p:ph idx="4294967295" type="ctrTitle"/></p:nvPr></p:nvSpPr><p:spPr><a:xfrm><a:off x="1192664" y="403309"/><a:ext cx="5315100" cy="533100"/></a:xfrm><a:prstGeom prst="rect"><a:avLst/></a:prstGeom><a:noFill/><a:ln><a:noFill/></a:ln></p:spPr><p:txBody><a:bodyPr anchorCtr="0" anchor="t" bIns="91425" lIns="91425" spcFirstLastPara="1" rIns="91425" wrap="square" tIns="91425"><a:noAutofit/></a:bodyPr><a:lstStyle/><a:p><a:pPr indent="-387350" lvl="0" marL="457200" marR="0" rtl="0" algn="l"><a:lnSpc><a:spcPct val="100000"/></a:lnSpc><a:spcBef><a:spcPts val="0"/></a:spcBef><a:spcAft><a:spcPts val="0"/></a:spcAft><a:buClr><a:srgbClr val="0E3449"/></a:buClr><a:buSzPts val="2500"/><a:buFont typeface="Inter SemiBold"/><a:buAutoNum type="arabicPeriod"/></a:pPr><a:r><a:rPr lang="fr" sz="2500"><a:solidFill><a:srgbClr val="0E3449"/></a:solidFill><a:latin typeface="Inter SemiBold"/><a:ea typeface="Inter SemiBold"/><a:cs typeface="Inter SemiBold"/><a:sym typeface="Inter SemiBold"/></a:rPr><a:t>Problématique</a:t></a:r><a:endParaRPr i="0" sz="2500" u="none" cap="none" strike="noStrike"><a:solidFill><a:srgbClr val="0E3449"/></a:solidFill><a:latin typeface="Inter SemiBold"/><a:ea typeface="Inter SemiBold"/><a:cs typeface="Inter SemiBold"/><a:sym typeface="Inter SemiBold"/></a:endParaRPr></a:p></p:txBody></p:sp><p:sp><p:nvSpPr><p:cNvPr id="72" name="Google Shape;72;p15"/><p:cNvSpPr/><p:nvPr/></p:nvSpPr><p:spPr><a:xfrm><a:off x="10225" y="4892025"/><a:ext cx="9144000" cy="251400"/></a:xfrm><a:prstGeom prst="rect"><a:avLst/></a:prstGeom><a:solidFill><a:srgbClr val="C3FFFC"/></a:solidFill><a:ln><a:noFill/></a:ln></p:spPr><p:txBody><a:bodyPr anchorCtr="0" anchor="ctr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rgbClr val="000000"/></a:solidFill><a:latin typeface="Arial"/><a:ea typeface="Arial"/><a:cs typeface="Arial"/><a:sym typeface="Arial"/></a:endParaRPr></a:p></p:txBody></p:sp><p:pic><p:nvPicPr><p:cNvPr id="73" name="Google Shape;73;p15"/><p:cNvPicPr preferRelativeResize="0"/><p:nvPr/></p:nvPicPr><p:blipFill rotWithShape="1"><a:blip r:embed="rId3"><a:alphaModFix/></a:blip><a:srcRect b="0" l="0" r="0" t="0"/><a:stretch/></p:blipFill><p:spPr><a:xfrm><a:off x="463375" y="482852"/><a:ext cx="576900" cy="385904"/></a:xfrm><a:prstGeom prst="rect"><a:avLst/></a:prstGeom><a:noFill/><a:ln><a:noFill/></a:ln></p:spPr></p:pic><p:sp><p:nvSpPr><p:cNvPr id="74" name="Google Shape;74;p15"/><p:cNvSpPr/><p:nvPr/></p:nvSpPr><p:spPr><a:xfrm><a:off x="463375" y="1366330"/><a:ext cx="35154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Problème métier</a:t></a:r><a:br><a:rPr lang="fr" sz="1650"><a:solidFill><a:srgbClr val="55575A"/></a:solidFill><a:latin typeface="Manrope"/><a:ea typeface="Manrope"/><a:cs typeface="Manrope"/><a:sym typeface="Manrope"/></a:rPr></a:br><a:r><a:rPr lang="fr" sz="1650"><a:solidFill><a:srgbClr val="55575A"/></a:solidFill><a:latin typeface="Manrope"/><a:ea typeface="Manrope"/><a:cs typeface="Manrope"/><a:sym typeface="Manrope"/></a:rPr><a:t>Des centaines d'avis chaque jour, lus à la main ou pas du tout.</a:t></a:r><a:endParaRPr/></a:p></p:txBody></p:sp><p:sp><p:nvSpPr><p:cNvPr id="75" name="Google Shape;75;p15"/><p:cNvSpPr/><p:nvPr/></p:nvSpPr><p:spPr><a:xfrm><a:off x="4853225" y="1247700"/><a:ext cx="3515400" cy="15759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Objectif métier :</a:t></a:r><a:r><a:rPr lang="fr" sz="1650"><a:solidFill><a:srgbClr val="55575A"/></a:solidFill><a:latin typeface="Manrope"/><a:ea typeface="Manrope"/><a:cs typeface="Manrope"/><a:sym typeface="Manrope"/></a:rPr><a:t> </a:t></a:r><a:br><a:rPr lang="fr" sz="1650"><a:solidFill><a:srgbClr val="55575A"/></a:solidFill><a:latin typeface="Manrope"/><a:ea typeface="Manrope"/><a:cs typeface="Manrope"/><a:sym typeface="Manrope"/></a:rPr></a:br><a:r><a:rPr lang="fr" sz="1650"><a:solidFill><a:srgbClr val="55575A"/></a:solidFill><a:latin typeface="Manrope"/><a:ea typeface="Manrope"/><a:cs typeface="Manrope"/><a:sym typeface="Manrope"/></a:rPr><a:t>Remonter chaque matin les avis négatifs qui comptent, par jeu et par langue</a:t></a:r><a:endParaRPr/></a:p></p:txBody></p:sp><p:sp><p:nvSpPr><p:cNvPr id="76" name="Google Shape;76;p15"/><p:cNvSpPr/><p:nvPr/></p:nvSpPr><p:spPr><a:xfrm><a:off x="463375" y="3193374"/><a:ext cx="3515400" cy="14730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Cible</a:t></a:r><a:endParaRPr b="1" sz="1650"><a:solidFill><a:srgbClr val="55575A"/></a:solidFill><a:latin typeface="Manrope"/><a:ea typeface="Manrope"/><a:cs typeface="Manrope"/><a:sym typeface="Manrope"/></a:endParaRPr></a:p><a:p><a:pPr indent="0" lvl="0" marL="0" rtl="0" algn="l"><a:lnSpc><a:spcPct val="157575"/></a:lnSpc><a:spcBef><a:spcPts val="0"/></a:spcBef><a:spcAft><a:spcPts val="0"/></a:spcAft><a:buNone/></a:pPr><a:r><a:rPr lang="fr" sz="1650"><a:solidFill><a:srgbClr val="55575A"/></a:solidFill><a:latin typeface="Manrope"/><a:ea typeface="Manrope"/><a:cs typeface="Manrope"/><a:sym typeface="Manrope"/></a:rPr><a:t xml:space="preserve">Responsable community et live-ops </a:t></a:r><a:br><a:rPr lang="fr" sz="1650"><a:solidFill><a:srgbClr val="55575A"/></a:solidFill><a:latin typeface="Manrope"/><a:ea typeface="Manrope"/><a:cs typeface="Manrope"/><a:sym typeface="Manrope"/></a:rPr></a:br><a:r><a:rPr lang="fr" sz="1650"><a:solidFill><a:srgbClr val="55575A"/></a:solidFill><a:latin typeface="Manrope"/><a:ea typeface="Manrope"/><a:cs typeface="Manrope"/><a:sym typeface="Manrope"/></a:rPr><a:t>Équipe de développement</a:t></a:r><a:endParaRPr b="1" sz="1650"><a:solidFill><a:srgbClr val="55575A"/></a:solidFill><a:latin typeface="Manrope"/><a:ea typeface="Manrope"/><a:cs typeface="Manrope"/><a:sym typeface="Manrope"/></a:endParaRPr></a:p></p:txBody></p:sp><p:sp><p:nvSpPr><p:cNvPr id="77" name="Google Shape;77;p15"/><p:cNvSpPr/><p:nvPr/></p:nvSpPr><p:spPr><a:xfrm><a:off x="4853225" y="3134900"/><a:ext cx="3515400" cy="15759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Besoin</a:t></a:r><a:endParaRPr b="1" sz="1650"><a:solidFill><a:srgbClr val="55575A"/></a:solidFill><a:latin typeface="Manrope"/><a:ea typeface="Manrope"/><a:cs typeface="Manrope"/><a:sym typeface="Manrope"/></a:endParaRPr></a:p><a:p><a:pPr indent="0" lvl="0" marL="0" rtl="0" algn="l"><a:lnSpc><a:spcPct val="157575"/></a:lnSpc><a:spcBef><a:spcPts val="0"/></a:spcBef><a:spcAft><a:spcPts val="0"/></a:spcAft><a:buNone/></a:pPr><a:r><a:rPr lang="fr" sz="1650"><a:solidFill><a:srgbClr val="55575A"/></a:solidFill><a:latin typeface="Manrope"/><a:ea typeface="Manrope"/><a:cs typeface="Manrope"/><a:sym typeface="Manrope"/></a:rPr><a:t xml:space="preserve">Repérer une régression avant que la note Steam ne baisse </a:t></a:r><a:br><a:rPr lang="fr" sz="1650"><a:solidFill><a:srgbClr val="55575A"/></a:solidFill><a:latin typeface="Manrope"/><a:ea typeface="Manrope"/><a:cs typeface="Manrope"/><a:sym typeface="Manrope"/></a:rPr></a:br><a:r><a:rPr lang="fr" sz="1650"><a:solidFill><a:srgbClr val="55575A"/></a:solidFill><a:latin typeface="Manrope"/><a:ea typeface="Manrope"/><a:cs typeface="Manrope"/><a:sym typeface="Manrope"/></a:rPr><a:t>ex. : part négative prédite par jeu, avis à lire en premier</a:t></a:r><a:endParaRPr sz="1650"><a:solidFill><a:srgbClr val="55575A"/></a:solidFill><a:latin typeface="Manrope"/><a:ea typeface="Manrope"/><a:cs typeface="Manrope"/><a:sym typeface="Manrope"/></a:endParaRPr></a:p></p:txBody></p:sp></p:spTree></p:cSld><p:clrMapOvr><a:masterClrMapping/></p:clrMapOvr></p:sld>
</file>

<file path=ppt/slides/slide6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101" name="Shape 101"/><p:cNvGrpSpPr/><p:nvPr/></p:nvGrpSpPr><p:grpSpPr><a:xfrm><a:off x="0" y="0"/><a:ext cx="0" cy="0"/><a:chOff x="0" y="0"/><a:chExt cx="0" cy="0"/></a:xfrm></p:grpSpPr><p:sp><p:nvSpPr><p:cNvPr id="102" name="Google Shape;102;p18"/><p:cNvSpPr txBox="1"/><p:nvPr><p:ph idx="4294967295" type="ctrTitle"/></p:nvPr></p:nvSpPr><p:spPr><a:xfrm><a:off x="1073814" y="409334"/><a:ext cx="5315100" cy="533100"/></a:xfrm><a:prstGeom prst="rect"><a:avLst/></a:prstGeom><a:noFill/><a:ln><a:noFill/></a:ln></p:spPr><p:txBody><a:bodyPr anchorCtr="0" anchor="t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None/></a:pPr><a:r><a:rPr lang="fr" sz="2500"><a:solidFill><a:srgbClr val="0E3449"/></a:solidFill><a:latin typeface="Inter SemiBold"/><a:ea typeface="Inter SemiBold"/><a:cs typeface="Inter SemiBold"/><a:sym typeface="Inter SemiBold"/></a:rPr><a:t>2.   Les données</a:t></a:r><a:endParaRPr i="0" sz="2500" u="none" cap="none" strike="noStrike"><a:solidFill><a:srgbClr val="0E3449"/></a:solidFill><a:latin typeface="Inter SemiBold"/><a:ea typeface="Inter SemiBold"/><a:cs typeface="Inter SemiBold"/><a:sym typeface="Inter SemiBold"/></a:endParaRPr></a:p></p:txBody></p:sp><p:sp><p:nvSpPr><p:cNvPr id="103" name="Google Shape;103;p18"/><p:cNvSpPr/><p:nvPr/></p:nvSpPr><p:spPr><a:xfrm><a:off x="43775" y="4892100"/><a:ext cx="9144000" cy="251400"/></a:xfrm><a:prstGeom prst="rect"><a:avLst/></a:prstGeom><a:solidFill><a:srgbClr val="C3FFFC"/></a:solidFill><a:ln><a:noFill/></a:ln></p:spPr><p:txBody><a:bodyPr anchorCtr="0" anchor="ctr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rgbClr val="000000"/></a:solidFill><a:latin typeface="Arial"/><a:ea typeface="Arial"/><a:cs typeface="Arial"/><a:sym typeface="Arial"/></a:endParaRPr></a:p></p:txBody></p:sp><p:pic><p:nvPicPr><p:cNvPr id="104" name="Google Shape;104;p18"/><p:cNvPicPr preferRelativeResize="0"/><p:nvPr/></p:nvPicPr><p:blipFill rotWithShape="1"><a:blip r:embed="rId3"><a:alphaModFix/></a:blip><a:srcRect b="0" l="0" r="0" t="0"/><a:stretch/></p:blipFill><p:spPr><a:xfrm><a:off x="496925" y="482927"/><a:ext cx="576900" cy="385904"/></a:xfrm><a:prstGeom prst="rect"><a:avLst/></a:prstGeom><a:noFill/><a:ln><a:noFill/></a:ln></p:spPr></p:pic><p:sp><p:nvSpPr><p:cNvPr id="105" name="Google Shape;105;p18"/><p:cNvSpPr txBox="1"/><p:nvPr/></p:nvSpPr><p:spPr><a:xfrm><a:off x="3518399" y="329500"/><a:ext cx="5163600" cy="738900"/></a:xfrm><a:prstGeom prst="rect"><a:avLst/></a:prstGeom><a:noFill/><a:ln><a:noFill/></a:ln></p:spPr><p:txBody><a:bodyPr anchorCtr="0" anchor="t" bIns="91425" lIns="91425" spcFirstLastPara="1" rIns="91425" wrap="square" tIns="91425"><a:spAutoFit/></a:bodyPr><a:lstStyle/><a:p><a:pPr indent="0" lvl="0" marL="0" rtl="0" algn="l"><a:spcBef><a:spcPts val="0"/></a:spcBef><a:spcAft><a:spcPts val="0"/></a:spcAft><a:buNone/></a:pPr><a:r><a:rPr lang="fr" sz="1800"><a:solidFill><a:schemeClr val="dk2"/></a:solidFill></a:rPr><a:t>API publique des avis Steam</a:t></a:r><a:br><a:rPr lang="fr" sz="1800"><a:solidFill><a:schemeClr val="dk2"/></a:solidFill></a:rPr></a:br><a:r><a:rPr lang="fr" sz="1800"><a:solidFill><a:schemeClr val="dk2"/></a:solidFill></a:rPr><a:t>Plus de 9 000 lignes brutes — 3 jeux, anglais et français</a:t></a:r><a:endParaRPr sz="1800"><a:solidFill><a:schemeClr val="dk2"/></a:solidFill></a:endParaRPr></a:p></p:txBody></p:sp><p:sp><p:nvSpPr><p:cNvPr id="106" name="Google Shape;106;p18"/><p:cNvSpPr/><p:nvPr/></p:nvSpPr><p:spPr><a:xfrm><a:off x="402939" y="1156461"/><a:ext cx="3615000" cy="193800"/></a:xfrm><a:prstGeom prst="rect"><a:avLst/></a:prstGeom><a:noFill/><a:ln><a:noFill/></a:ln></p:spPr><p:txBody><a:bodyPr anchorCtr="0" anchor="t" bIns="0" lIns="0" spcFirstLastPara="1" rIns="0" wrap="square" tIns="0"><a:noAutofit/></a:bodyPr><a:lstStyle/><a:p><a:pPr indent="0" lvl="0" marL="0" marR="0" rtl="0" algn="l"><a:lnSpc><a:spcPct val="125000"/></a:lnSpc><a:spcBef><a:spcPts val="0"/></a:spcBef><a:spcAft><a:spcPts val="0"/></a:spcAft><a:buClr><a:srgbClr val="0C0D0F"/></a:buClr><a:buSzPts val="1217"/><a:buFont typeface="Inter"/><a:buNone/></a:pPr><a:r><a:rPr lang="fr" sz="1217"><a:solidFill><a:srgbClr val="0C0D0F"/></a:solidFill><a:latin typeface="Inter"/><a:ea typeface="Inter"/><a:cs typeface="Inter"/><a:sym typeface="Inter"/></a:rPr><a:t>Traitement en 5 étapes, testé à chaque passage</a:t></a:r><a:endParaRPr b="0" i="0" sz="1217" u="none" cap="none" strike="noStrike"/></a:p></p:txBody></p:sp><p:sp><p:nvSpPr><p:cNvPr id="107" name="Google Shape;107;p18"/><p:cNvSpPr/><p:nvPr/></p:nvSpPr><p:spPr><a:xfrm><a:off x="402961" y="1448759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 xml:space="preserve"> 1. </a:t></a:r><a:r><a:rPr b="1" lang="fr" sz="1054"><a:solidFill><a:srgbClr val="55575A"/></a:solidFill><a:latin typeface="Manrope"/><a:ea typeface="Manrope"/><a:cs typeface="Manrope"/><a:sym typeface="Manrope"/></a:rPr><a:t>Zone brute inchangée</a:t></a:r><a:endParaRPr b="1" sz="1054"><a:solidFill><a:srgbClr val="55575A"/></a:solidFill><a:latin typeface="Manrope"/><a:ea typeface="Manrope"/><a:cs typeface="Manrope"/><a:sym typeface="Manrope"/></a:endParaRPr></a:p></p:txBody></p:sp><p:sp><p:nvSpPr><p:cNvPr id="108" name="Google Shape;108;p18"/><p:cNvSpPr/><p:nvPr/></p:nvSpPr><p:spPr><a:xfrm><a:off x="2194798" y="1438311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 xml:space="preserve">2. Dédoublonnage </a:t></a:r><a:br><a:rPr b="1" lang="fr" sz="1000"><a:solidFill><a:srgbClr val="55575A"/></a:solidFill><a:latin typeface="Manrope"/><a:ea typeface="Manrope"/><a:cs typeface="Manrope"/><a:sym typeface="Manrope"/></a:rPr></a:br><a:r><a:rPr b="1" lang="fr" sz="1000"><a:solidFill><a:srgbClr val="55575A"/></a:solidFill><a:latin typeface="Manrope"/><a:ea typeface="Manrope"/><a:cs typeface="Manrope"/><a:sym typeface="Manrope"/></a:rPr><a:t>et nettoyage du BBCode</a:t></a:r><a:endParaRPr b="1" sz="1000"><a:solidFill><a:srgbClr val="55575A"/></a:solidFill><a:latin typeface="Manrope"/><a:ea typeface="Manrope"/><a:cs typeface="Manrope"/><a:sym typeface="Manrope"/></a:endParaRPr></a:p></p:txBody></p:sp><p:sp><p:nvSpPr><p:cNvPr id="109" name="Google Shape;109;p18"/><p:cNvSpPr/><p:nvPr/></p:nvSpPr><p:spPr><a:xfrm><a:off x="3764412" y="1449638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>3. Pseudonymisation HMAC</a:t></a:r><a:endParaRPr b="1" sz="1200"><a:solidFill><a:srgbClr val="55575A"/></a:solidFill><a:latin typeface="Manrope"/><a:ea typeface="Manrope"/><a:cs typeface="Manrope"/><a:sym typeface="Manrope"/></a:endParaRPr></a:p></p:txBody></p:sp><p:sp><p:nvSpPr><p:cNvPr id="110" name="Google Shape;110;p18"/><p:cNvSpPr/><p:nvPr/></p:nvSpPr><p:spPr><a:xfrm><a:off x="5351099" y="1449650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>4. Contrôles bloquants</a:t></a:r><a:endParaRPr b="1" sz="1200"><a:solidFill><a:srgbClr val="55575A"/></a:solidFill><a:latin typeface="Manrope"/><a:ea typeface="Manrope"/><a:cs typeface="Manrope"/><a:sym typeface="Manrope"/></a:endParaRPr></a:p></p:txBody></p:sp><p:sp><p:nvSpPr><p:cNvPr id="111" name="Google Shape;111;p18"/><p:cNvSpPr/><p:nvPr/></p:nvSpPr><p:spPr><a:xfrm><a:off x="6937799" y="1460100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>5. Great Expectations</a:t></a:r><a:endParaRPr b="1" sz="1200"><a:solidFill><a:srgbClr val="55575A"/></a:solidFill><a:latin typeface="Manrope"/><a:ea typeface="Manrope"/><a:cs typeface="Manrope"/><a:sym typeface="Manrope"/></a:endParaRPr></a:p></p:txBody></p:sp><p:sp><p:nvSpPr><p:cNvPr id="112" name="Google Shape;112;p18"/><p:cNvSpPr txBox="1"/><p:nvPr/></p:nvSpPr><p:spPr><a:xfrm><a:off x="402950" y="2701550"/><a:ext cx="8033100" cy="1639200"/></a:xfrm><a:prstGeom prst="rect"><a:avLst/></a:prstGeom><a:noFill/><a:ln><a:noFill/></a:ln></p:spPr><p:txBody><a:bodyPr anchorCtr="0" anchor="t" bIns="91425" lIns="91425" spcFirstLastPara="1" rIns="91425" wrap="square" tIns="91425"><a:spAutoFit/></a:bodyPr><a:lstStyle/><a:p><a:pPr indent="0" lvl="0" marL="0" rtl="0" algn="l"><a:lnSpc><a:spcPct val="115000"/></a:lnSpc><a:spcBef><a:spcPts val="0"/></a:spcBef><a:spcAft><a:spcPts val="0"/></a:spcAft><a:buNone/></a:pPr><a:r><a:rPr b="1" lang="fr"><a:solidFill><a:srgbClr val="015955"/></a:solidFill><a:highlight><a:schemeClr val="lt1"/></a:highlight></a:rPr><a:t>Confidentialité :</a:t></a:r><a:r><a:rPr lang="fr"><a:solidFill><a:srgbClr val="27251E"/></a:solidFill><a:highlight><a:schemeClr val="lt1"/></a:highlight></a:rPr><a:t> </a:t></a:r><a:endParaRPr><a:solidFill><a:srgbClr val="27251E"/></a:solidFill><a:highlight><a:schemeClr val="lt1"/></a:highlight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a:highlight><a:schemeClr val="lt1"/></a:highlight></a:rPr><a:t>steamid</a:t></a:r><a:r><a:rPr lang="fr"><a:solidFill><a:schemeClr val="dk2"/></a:solidFill></a:rPr><a:t xml:space="preserve"> </a:t></a:r><a:r><a:rPr b="1" lang="fr"><a:solidFill><a:schemeClr val="dk2"/></a:solidFill></a:rPr><a:t>→ pseudonymisé (HMAC salé)</a:t></a:r><a:endParaRPr b="1"><a:solidFill><a:schemeClr val="dk2"/></a:solidFill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a:highlight><a:schemeClr val="lt1"/></a:highlight></a:rPr><a:t>personaname, profile_url, avatar : identifiants directs</a:t></a:r><a:r><a:rPr lang="fr"><a:solidFill><a:schemeClr val="dk2"/></a:solidFill></a:rPr><a:t xml:space="preserve"> → </a:t></a:r><a:r><a:rPr b="1" lang="fr"><a:solidFill><a:schemeClr val="dk2"/></a:solidFill></a:rPr><a:t xml:space="preserve">supprimés dès la zone propre </a:t></a:r><a:endParaRPr b="1"><a:solidFill><a:schemeClr val="dk2"/></a:solidFill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a:highlight><a:schemeClr val="lt1"/></a:highlight></a:rPr><a:t>Flux complémentaire</a:t></a:r><a:r><a:rPr lang="fr"><a:solidFill><a:schemeClr val="dk2"/></a:solidFill></a:rPr><a:t xml:space="preserve"> d'avis négatifs </a:t></a:r><a:r><a:rPr b="1" lang="fr"><a:solidFill><a:schemeClr val="dk2"/></a:solidFill></a:rPr><a:t>→ entraînement seulement</a:t></a:r><a:endParaRPr b="1"><a:solidFill><a:schemeClr val="dk2"/></a:solidFill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/a:rPr><a:t xml:space="preserve">Idempotence : un second passage n'écrit aucun doublon </a:t></a:r><a:r><a:rPr b="1" lang="fr"><a:solidFill><a:schemeClr val="dk2"/></a:solidFill></a:rPr><a:t>(manifeste)</a:t></a:r><a:endParaRPr><a:solidFill><a:schemeClr val="dk2"/></a:solidFill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/a:rPr><a:t xml:space="preserve">Zone silver Iceberg </a:t></a:r><a:r><a:rPr b="1" lang="fr"><a:solidFill><a:schemeClr val="dk2"/></a:solidFill></a:rPr><a:t xml:space="preserve">→ un instantané par écriture, chacun restaurable </a:t></a:r><a:r><a:rPr lang="fr"><a:solidFill><a:schemeClr val="dk2"/></a:solidFill></a:rPr><a:t></a:t></a:r><a:endParaRPr sz="1800"><a:solidFill><a:schemeClr val="dk2"/></a:solidFill></a:endParaRPr></a:p></p:txBody></p:sp></p:spTree></p:cSld><p:clrMapOvr><a:masterClrMapping/></p:clrMapOvr></p:sld>
</file>

<file path=ppt/slides/slide13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178" name="Shape 178"/><p:cNvGrpSpPr/><p:nvPr/></p:nvGrpSpPr><p:grpSpPr><a:xfrm><a:off x="0" y="0"/><a:ext cx="0" cy="0"/><a:chOff x="0" y="0"/><a:chExt cx="0" cy="0"/></a:xfrm></p:grpSpPr><p:sp><p:nvSpPr><p:cNvPr id="179" name="Google Shape;179;p25"/><p:cNvSpPr txBox="1"/><p:nvPr><p:ph idx="4294967295" type="ctrTitle"/></p:nvPr></p:nvSpPr><p:spPr><a:xfrm><a:off x="1192664" y="403309"/><a:ext cx="5315100" cy="533100"/></a:xfrm><a:prstGeom prst="rect"><a:avLst/></a:prstGeom><a:noFill/><a:ln><a:noFill/></a:ln></p:spPr><p:txBody><a:bodyPr anchorCtr="0" anchor="t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chemeClr val="dk1"/></a:buClr><a:buSzPts val="2800"/><a:buFont typeface="Arial"/><a:buNone/></a:pPr><a:r><a:rPr lang="fr" sz="2500"><a:solidFill><a:srgbClr val="0E3449"/></a:solidFill><a:latin typeface="Inter SemiBold"/><a:ea typeface="Inter SemiBold"/><a:cs typeface="Inter SemiBold"/><a:sym typeface="Inter SemiBold"/></a:rPr><a:t>La chaîne de bout en bout</a:t></a:r><a:endParaRPr i="0" sz="2500" u="none" cap="none" strike="noStrike"><a:solidFill><a:srgbClr val="0E3449"/></a:solidFill><a:latin typeface="Inter SemiBold"/><a:ea typeface="Inter SemiBold"/><a:cs typeface="Inter SemiBold"/><a:sym typeface="Inter SemiBold"/></a:endParaRPr></a:p></p:txBody></p:sp><p:sp><p:nvSpPr><p:cNvPr id="180" name="Google Shape;180;p25"/><p:cNvSpPr/><p:nvPr/></p:nvSpPr><p:spPr><a:xfrm><a:off x="10225" y="4892025"/><a:ext cx="9144000" cy="251400"/></a:xfrm><a:prstGeom prst="rect"><a:avLst/></a:prstGeom><a:solidFill><a:srgbClr val="C3FFFC"/></a:solidFill><a:ln><a:noFill/></a:ln></p:spPr><p:txBody><a:bodyPr anchorCtr="0" anchor="ctr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rgbClr val="000000"/></a:solidFill><a:latin typeface="Arial"/><a:ea typeface="Arial"/><a:cs typeface="Arial"/><a:sym typeface="Arial"/></a:endParaRPr></a:p></p:txBody></p:sp><p:pic><p:nvPicPr><p:cNvPr id="181" name="Google Shape;181;p25"/><p:cNvPicPr preferRelativeResize="0"/><p:nvPr/></p:nvPicPr><p:blipFill rotWithShape="1"><a:blip r:embed="rId3"><a:alphaModFix/></a:blip><a:srcRect b="0" l="0" r="0" t="0"/><a:stretch/></p:blipFill><p:spPr><a:xfrm><a:off x="463375" y="482852"/><a:ext cx="576900" cy="385904"/></a:xfrm><a:prstGeom prst="rect"><a:avLst/></a:prstGeom><a:noFill/><a:ln><a:noFill/></a:ln></p:spPr></p:pic><p:sp><p:nvSpPr><p:cNvPr id="182" name="Google Shape;182;p25"/><p:cNvSpPr txBox="1"/><p:nvPr/></p:nvSpPr><p:spPr><a:xfrm><a:off x="1261450" y="1017575"/><a:ext cx="1902900" cy="461700"/></a:xfrm><a:prstGeom prst="rect"><a:avLst/></a:prstGeom><a:noFill/><a:ln><a:noFill/></a:ln></p:spPr><p:txBody><a:bodyPr anchorCtr="0" anchor="t" bIns="91425" lIns="91425" spcFirstLastPara="1" rIns="91425" wrap="square" tIns="91425"><a:spAutoFit/></a:bodyPr><a:lstStyle/><a:p><a:pPr indent="0" lvl="0" marL="0" rtl="0" algn="l"><a:spcBef><a:spcPts val="0"/></a:spcBef><a:spcAft><a:spcPts val="0"/></a:spcAft><a:buNone/></a:pPr><a:r><a:rPr lang="fr" sz="1800"><a:solidFill><a:schemeClr val="dk2"/></a:solidFill></a:rPr><a:t>Six étapes, une seule chaîne</a:t></a:r><a:endParaRPr sz="1800"><a:solidFill><a:schemeClr val="dk2"/></a:solidFill></a:endParaRPr></a:p></p:txBody></p:sp><p:sp><p:nvSpPr><p:cNvPr id="183" name="Google Shape;183;p25"/><p:cNvSpPr/><p:nvPr/></p:nvSpPr><p:spPr><a:xfrm><a:off x="650300" y="1861675"/><a:ext cx="23826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Ingestion idempotente depuis l'API Steam</a:t></a:r><a:endParaRPr/></a:p></p:txBody></p:sp><p:sp><p:nvSpPr><p:cNvPr id="184" name="Google Shape;184;p25"/><p:cNvSpPr/><p:nvPr/></p:nvSpPr><p:spPr><a:xfrm><a:off x="3264775" y="1861675"/><a:ext cx="18561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 xml:space="preserve">Zone silver : </a:t></a:r><a:r><a:rPr lang="fr" sz="1650"><a:solidFill><a:srgbClr val="55575A"/></a:solidFill><a:latin typeface="Manrope"/><a:ea typeface="Manrope"/><a:cs typeface="Manrope"/><a:sym typeface="Manrope"/></a:rPr><a:t>PySpark et Iceberg</a:t></a:r><a:endParaRPr/></a:p></p:txBody></p:sp><p:sp><p:nvSpPr><p:cNvPr id="185" name="Google Shape;185;p25"/><p:cNvSpPr/><p:nvPr/></p:nvSpPr><p:spPr><a:xfrm><a:off x="5352750" y="1861675"/><a:ext cx="28773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 xml:space="preserve">Zone gold : </a:t></a:r><a:br><a:rPr b="1" lang="fr" sz="1650"><a:solidFill><a:srgbClr val="55575A"/></a:solidFill><a:latin typeface="Manrope"/><a:ea typeface="Manrope"/><a:cs typeface="Manrope"/><a:sym typeface="Manrope"/></a:rPr></a:br><a:r><a:rPr lang="fr" sz="1650"><a:solidFill><a:srgbClr val="55575A"/></a:solidFill><a:latin typeface="Manrope"/><a:ea typeface="Manrope"/><a:cs typeface="Manrope"/><a:sym typeface="Manrope"/></a:rPr><a:t>dbt et DuckDB, 30 tests déclarés dans les contrats — ADR 0013, 0014</a:t></a:r><a:endParaRPr/></a:p></p:txBody></p:sp></p:spTree></p:cSld><p:clrMapOvr><a:masterClrMapping/></p:clrMapOvr>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Le modèle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/>
        </p:nvSpPr>
        <p:spPr>
          <a:xfrm>
            <a:off x="562125" y="868738"/>
            <a:ext cx="6933300" cy="28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highlight>
                  <a:srgbClr val="FFFFFF"/>
                </a:highlight>
              </a:rPr>
              <a:t>4 v</a:t>
            </a:r>
            <a:r>
              <a:rPr lang="fr" sz="1800">
                <a:solidFill>
                  <a:schemeClr val="dk2"/>
                </a:solidFill>
                <a:highlight>
                  <a:srgbClr val="FFFFFF"/>
                </a:highlight>
              </a:rPr>
              <a:t>ariantes mesurées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Mots, 1 à 2 grammes : F1 macro 0,735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Mots, régularisation ajustée : 0,756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fr" sz="1200">
                <a:solidFill>
                  <a:schemeClr val="dk2"/>
                </a:solidFill>
                <a:highlight>
                  <a:srgbClr val="FFFFFF"/>
                </a:highlight>
              </a:rPr>
              <a:t xml:space="preserve">Caractères, 2 à 5 grammes </a:t>
            </a: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 xml:space="preserve">(0,759 puis 0,797 puis 0,803) </a:t>
            </a:r>
            <a:r>
              <a:rPr b="1" lang="fr" sz="1200">
                <a:solidFill>
                  <a:schemeClr val="dk2"/>
                </a:solidFill>
                <a:highlight>
                  <a:srgbClr val="FFFFFF"/>
                </a:highlight>
              </a:rPr>
              <a:t>→ retenu : robuste aux fautes, explicable</a:t>
            </a:r>
            <a:endParaRPr b="1"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highlight>
                  <a:srgbClr val="FFFFFF"/>
                </a:highlight>
              </a:rPr>
              <a:t>Un autre modèle ferait-il mieux ? 9 candidats, mêmes plis</a:t>
            </a:r>
            <a:endParaRPr b="1"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Régression logistique 0,812 · SVM 0,807 : égalité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XGBoost 0,735 · forêt aléatoire 0,719 · coût × 23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Règle écrite avant les résultats — ADR 0006, 0007, 0030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675" y="3541363"/>
            <a:ext cx="57912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4294967295" type="ctrTitle"/>
          </p:nvPr>
        </p:nvSpPr>
        <p:spPr>
          <a:xfrm>
            <a:off x="1192687" y="403300"/>
            <a:ext cx="7317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5. Résultats mesurés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463375" y="1398100"/>
            <a:ext cx="8046300" cy="3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Modèle retenu : </a:t>
            </a:r>
            <a:r>
              <a:rPr b="1" lang="fr" sz="2400">
                <a:solidFill>
                  <a:schemeClr val="dk2"/>
                </a:solidFill>
              </a:rPr>
              <a:t xml:space="preserve">TF-IDF sur caractères et régression logistique, </a:t>
            </a:r>
            <a:r>
              <a:rPr lang="f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class_weight='balanced'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Seuil appris par validation croisée : </a:t>
            </a:r>
            <a:r>
              <a:rPr b="1" lang="fr" sz="2400">
                <a:solidFill>
                  <a:schemeClr val="dk2"/>
                </a:solidFill>
              </a:rPr>
              <a:t>0,775</a:t>
            </a:r>
            <a:r>
              <a:rPr lang="fr" sz="2400">
                <a:solidFill>
                  <a:schemeClr val="dk2"/>
                </a:solidFill>
              </a:rPr>
              <a:t xml:space="preserve"> — barrière de promotion F1 macro ≥ 0,75.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Sur un test 100 % naturel tenu à l'écart :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F1 macro : </a:t>
            </a:r>
            <a:r>
              <a:rPr b="1" lang="fr" sz="2400">
                <a:solidFill>
                  <a:schemeClr val="dk2"/>
                </a:solidFill>
              </a:rPr>
              <a:t>0,803</a:t>
            </a:r>
            <a:r>
              <a:rPr lang="fr" sz="2400">
                <a:solidFill>
                  <a:schemeClr val="dk2"/>
                </a:solidFill>
              </a:rPr>
              <a:t xml:space="preserve"> (0,807 le 16/09, sur un jeu plus petit)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AUC : </a:t>
            </a:r>
            <a:r>
              <a:rPr b="1" lang="fr" sz="2400">
                <a:solidFill>
                  <a:schemeClr val="dk2"/>
                </a:solidFill>
              </a:rPr>
              <a:t>0,940</a:t>
            </a:r>
            <a:r>
              <a:rPr lang="fr" sz="2400">
                <a:solidFill>
                  <a:schemeClr val="dk2"/>
                </a:solidFill>
              </a:rPr>
              <a:t xml:space="preserve"> ; rappel des négatifs 0,650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Tests : </a:t>
            </a:r>
            <a:r>
              <a:rPr b="1" lang="fr" sz="2400">
                <a:solidFill>
                  <a:schemeClr val="dk2"/>
                </a:solidFill>
              </a:rPr>
              <a:t>149 verts</a:t>
            </a:r>
            <a:r>
              <a:rPr lang="fr" sz="2400">
                <a:solidFill>
                  <a:schemeClr val="dk2"/>
                </a:solidFill>
              </a:rPr>
              <a:t xml:space="preserve"> ; 28 mutations sur 28 détectées, en un seul passage en intégration continue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Deux entraînements successifs donnent </a:t>
            </a:r>
            <a:r>
              <a:rPr b="1" lang="fr" sz="2400">
                <a:solidFill>
                  <a:schemeClr val="dk2"/>
                </a:solidFill>
              </a:rPr>
              <a:t>le même F1</a:t>
            </a:r>
            <a:r>
              <a:rPr lang="fr" sz="2400">
                <a:solidFill>
                  <a:schemeClr val="dk2"/>
                </a:solidFill>
              </a:rPr>
              <a:t xml:space="preserve"> à la seizième décimale.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Un modèle à métriques égales n'est pas promu : la barrière l'a refusé en conditions réelles. ADR 0008.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463375" y="936400"/>
            <a:ext cx="32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</a:t>
            </a:r>
            <a:r>
              <a:rPr lang="fr" sz="1800">
                <a:solidFill>
                  <a:schemeClr val="dk2"/>
                </a:solidFill>
              </a:rPr>
              <a:t>ésultats et p</a:t>
            </a:r>
            <a:r>
              <a:rPr lang="fr" sz="1800">
                <a:solidFill>
                  <a:schemeClr val="dk2"/>
                </a:solidFill>
              </a:rPr>
              <a:t xml:space="preserve">reuves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 Industrialisation et suite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514300" y="1142625"/>
            <a:ext cx="78357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qui tourne sans intervention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DAG Airflow quotidien : 9 tâches, base PostgreSQL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Test de la stack déployée : 16 contrôles sur 16 · Essai de charge : 300 requêtes, 0 % d'erreur, 29,3 req/s, p99 925 ms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Dérive mesurée à chaque passage, alerte écrite hors du journal, réentraînement déclenché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Retour arrière outillé sur le modèle et sur les données : alias MLflow, instantanés Iceberg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Prochaines étapes — annoncées comme telles, rien n'en est fait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Publication du dépôt et chaîne d'intégration verte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Mesure de biais par langue et par jeu : l'AI Act la demande, nous ne l'avons pas — ADR 0021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Kafka pour le temps réel, stockage objet compatible S3, infrastructure en Terraform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Cible Kubernetes, déjà documentée : une image par rôle, `KubernetesPodOperator` (ADR 0012, 0013)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que le projet sert au-delà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Socle de briques réemployables — 31 décisions écrites, ADR 0001 à 0031. Chaque bloc garde son projet imposé : ce sont les briques qui circulent, pas le projet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 ?</a:t>
            </a:r>
            <a:endParaRPr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